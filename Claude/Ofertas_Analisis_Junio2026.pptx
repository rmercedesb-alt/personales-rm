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822960" y="1920240"/>
            <a:ext cx="10515600" cy="1280160"/>
          </a:xfrm>
          <a:prstGeom prst="rect">
            <a:avLst/>
          </a:prstGeom>
          <a:noFill/>
        </p:spPr>
        <p:txBody>
          <a:bodyPr wrap="square" anchor="t" lIns="0" rIns="0" tIns="0" bIns="0">
            <a:spAutoFit/>
          </a:bodyPr>
          <a:lstStyle/>
          <a:p>
            <a:pPr algn="l"/>
            <a:r>
              <a:rPr sz="5000" b="1" i="0">
                <a:solidFill>
                  <a:srgbClr val="FFFFFF"/>
                </a:solidFill>
                <a:latin typeface="Georgia"/>
              </a:rPr>
              <a:t>Análisis de Ofertas Vigentes</a:t>
            </a:r>
          </a:p>
        </p:txBody>
      </p:sp>
      <p:sp>
        <p:nvSpPr>
          <p:cNvPr id="3" name="TextBox 2"/>
          <p:cNvSpPr txBox="1"/>
          <p:nvPr/>
        </p:nvSpPr>
        <p:spPr>
          <a:xfrm>
            <a:off x="822960" y="3108960"/>
            <a:ext cx="10515600" cy="822960"/>
          </a:xfrm>
          <a:prstGeom prst="rect">
            <a:avLst/>
          </a:prstGeom>
          <a:noFill/>
        </p:spPr>
        <p:txBody>
          <a:bodyPr wrap="square" anchor="t" lIns="0" rIns="0" tIns="0" bIns="0">
            <a:spAutoFit/>
          </a:bodyPr>
          <a:lstStyle/>
          <a:p>
            <a:pPr algn="l"/>
            <a:r>
              <a:rPr sz="2400" b="0" i="0">
                <a:solidFill>
                  <a:srgbClr val="5B6FB8"/>
                </a:solidFill>
                <a:latin typeface="Calibri"/>
              </a:rPr>
              <a:t>Clientes alcanzados por supervisor, vendedor y oferta</a:t>
            </a:r>
          </a:p>
        </p:txBody>
      </p:sp>
      <p:sp>
        <p:nvSpPr>
          <p:cNvPr id="4" name="TextBox 3"/>
          <p:cNvSpPr txBox="1"/>
          <p:nvPr/>
        </p:nvSpPr>
        <p:spPr>
          <a:xfrm>
            <a:off x="822960" y="5120640"/>
            <a:ext cx="10515600" cy="548640"/>
          </a:xfrm>
          <a:prstGeom prst="rect">
            <a:avLst/>
          </a:prstGeom>
          <a:noFill/>
        </p:spPr>
        <p:txBody>
          <a:bodyPr wrap="square" anchor="t" lIns="0" rIns="0" tIns="0" bIns="0">
            <a:spAutoFit/>
          </a:bodyPr>
          <a:lstStyle/>
          <a:p>
            <a:pPr algn="l"/>
            <a:r>
              <a:rPr sz="1500" b="0" i="0">
                <a:solidFill>
                  <a:srgbClr val="AAB4E0"/>
                </a:solidFill>
                <a:latin typeface="Calibri"/>
              </a:rPr>
              <a:t>Junio 2026  ·  AM Comercial  ·  Fuente: Ofertas × VWpedidosResumenMesactual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0972800" cy="731520"/>
          </a:xfrm>
          <a:prstGeom prst="rect">
            <a:avLst/>
          </a:prstGeom>
          <a:noFill/>
        </p:spPr>
        <p:txBody>
          <a:bodyPr wrap="square" anchor="t" lIns="0" rIns="0" tIns="0" bIns="0">
            <a:spAutoFit/>
          </a:bodyPr>
          <a:lstStyle/>
          <a:p>
            <a:pPr algn="l"/>
            <a:r>
              <a:rPr sz="3400" b="1" i="0">
                <a:solidFill>
                  <a:srgbClr val="1E2761"/>
                </a:solidFill>
                <a:latin typeface="Georgia"/>
              </a:rPr>
              <a:t>Resumen ejecutivo</a:t>
            </a:r>
          </a:p>
        </p:txBody>
      </p:sp>
      <p:sp>
        <p:nvSpPr>
          <p:cNvPr id="3" name="Rounded Rectangle 2"/>
          <p:cNvSpPr/>
          <p:nvPr/>
        </p:nvSpPr>
        <p:spPr>
          <a:xfrm>
            <a:off x="548640" y="1554480"/>
            <a:ext cx="2697480" cy="1828800"/>
          </a:xfrm>
          <a:prstGeom prst="roundRect">
            <a:avLst/>
          </a:prstGeom>
          <a:solidFill>
            <a:srgbClr val="F2F4FB"/>
          </a:solidFill>
          <a:ln w="9525">
            <a:solidFill>
              <a:srgbClr val="E0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74520"/>
            <a:ext cx="2331720" cy="914400"/>
          </a:xfrm>
          <a:prstGeom prst="rect">
            <a:avLst/>
          </a:prstGeom>
          <a:noFill/>
        </p:spPr>
        <p:txBody>
          <a:bodyPr wrap="square" anchor="ctr" lIns="0" rIns="0" tIns="0" bIns="0">
            <a:spAutoFit/>
          </a:bodyPr>
          <a:lstStyle/>
          <a:p>
            <a:pPr algn="ctr"/>
            <a:r>
              <a:rPr sz="4000" b="1" i="0">
                <a:solidFill>
                  <a:srgbClr val="1E2761"/>
                </a:solidFill>
                <a:latin typeface="Georgia"/>
              </a:rPr>
              <a:t>36</a:t>
            </a:r>
          </a:p>
        </p:txBody>
      </p:sp>
      <p:sp>
        <p:nvSpPr>
          <p:cNvPr id="5" name="TextBox 4"/>
          <p:cNvSpPr txBox="1"/>
          <p:nvPr/>
        </p:nvSpPr>
        <p:spPr>
          <a:xfrm>
            <a:off x="731520" y="2834640"/>
            <a:ext cx="2331720" cy="457200"/>
          </a:xfrm>
          <a:prstGeom prst="rect">
            <a:avLst/>
          </a:prstGeom>
          <a:noFill/>
        </p:spPr>
        <p:txBody>
          <a:bodyPr wrap="square" anchor="t" lIns="0" rIns="0" tIns="0" bIns="0">
            <a:spAutoFit/>
          </a:bodyPr>
          <a:lstStyle/>
          <a:p>
            <a:pPr algn="ctr"/>
            <a:r>
              <a:rPr sz="1300" b="0" i="0">
                <a:solidFill>
                  <a:srgbClr val="6B7280"/>
                </a:solidFill>
                <a:latin typeface="Calibri"/>
              </a:rPr>
              <a:t>Ofertas con actividad</a:t>
            </a:r>
          </a:p>
        </p:txBody>
      </p:sp>
      <p:sp>
        <p:nvSpPr>
          <p:cNvPr id="6" name="Rounded Rectangle 5"/>
          <p:cNvSpPr/>
          <p:nvPr/>
        </p:nvSpPr>
        <p:spPr>
          <a:xfrm>
            <a:off x="3410712" y="1554480"/>
            <a:ext cx="2697480" cy="1828800"/>
          </a:xfrm>
          <a:prstGeom prst="roundRect">
            <a:avLst/>
          </a:prstGeom>
          <a:solidFill>
            <a:srgbClr val="F2F4FB"/>
          </a:solidFill>
          <a:ln w="9525">
            <a:solidFill>
              <a:srgbClr val="E0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93592" y="1874520"/>
            <a:ext cx="2331720" cy="914400"/>
          </a:xfrm>
          <a:prstGeom prst="rect">
            <a:avLst/>
          </a:prstGeom>
          <a:noFill/>
        </p:spPr>
        <p:txBody>
          <a:bodyPr wrap="square" anchor="ctr" lIns="0" rIns="0" tIns="0" bIns="0">
            <a:spAutoFit/>
          </a:bodyPr>
          <a:lstStyle/>
          <a:p>
            <a:pPr algn="ctr"/>
            <a:r>
              <a:rPr sz="4000" b="1" i="0">
                <a:solidFill>
                  <a:srgbClr val="F2A341"/>
                </a:solidFill>
                <a:latin typeface="Georgia"/>
              </a:rPr>
              <a:t>7,953</a:t>
            </a:r>
          </a:p>
        </p:txBody>
      </p:sp>
      <p:sp>
        <p:nvSpPr>
          <p:cNvPr id="8" name="TextBox 7"/>
          <p:cNvSpPr txBox="1"/>
          <p:nvPr/>
        </p:nvSpPr>
        <p:spPr>
          <a:xfrm>
            <a:off x="3593592" y="2834640"/>
            <a:ext cx="2331720" cy="457200"/>
          </a:xfrm>
          <a:prstGeom prst="rect">
            <a:avLst/>
          </a:prstGeom>
          <a:noFill/>
        </p:spPr>
        <p:txBody>
          <a:bodyPr wrap="square" anchor="t" lIns="0" rIns="0" tIns="0" bIns="0">
            <a:spAutoFit/>
          </a:bodyPr>
          <a:lstStyle/>
          <a:p>
            <a:pPr algn="ctr"/>
            <a:r>
              <a:rPr sz="1300" b="0" i="0">
                <a:solidFill>
                  <a:srgbClr val="6B7280"/>
                </a:solidFill>
                <a:latin typeface="Calibri"/>
              </a:rPr>
              <a:t>Clientes (suma por oferta)</a:t>
            </a:r>
          </a:p>
        </p:txBody>
      </p:sp>
      <p:sp>
        <p:nvSpPr>
          <p:cNvPr id="9" name="Rounded Rectangle 8"/>
          <p:cNvSpPr/>
          <p:nvPr/>
        </p:nvSpPr>
        <p:spPr>
          <a:xfrm>
            <a:off x="6272784" y="1554480"/>
            <a:ext cx="2697480" cy="1828800"/>
          </a:xfrm>
          <a:prstGeom prst="roundRect">
            <a:avLst/>
          </a:prstGeom>
          <a:solidFill>
            <a:srgbClr val="F2F4FB"/>
          </a:solidFill>
          <a:ln w="9525">
            <a:solidFill>
              <a:srgbClr val="E0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5664" y="1874520"/>
            <a:ext cx="2331720" cy="914400"/>
          </a:xfrm>
          <a:prstGeom prst="rect">
            <a:avLst/>
          </a:prstGeom>
          <a:noFill/>
        </p:spPr>
        <p:txBody>
          <a:bodyPr wrap="square" anchor="ctr" lIns="0" rIns="0" tIns="0" bIns="0">
            <a:spAutoFit/>
          </a:bodyPr>
          <a:lstStyle/>
          <a:p>
            <a:pPr algn="ctr"/>
            <a:r>
              <a:rPr sz="4000" b="1" i="0">
                <a:solidFill>
                  <a:srgbClr val="5B6FB8"/>
                </a:solidFill>
                <a:latin typeface="Georgia"/>
              </a:rPr>
              <a:t>8,495</a:t>
            </a:r>
          </a:p>
        </p:txBody>
      </p:sp>
      <p:sp>
        <p:nvSpPr>
          <p:cNvPr id="11" name="TextBox 10"/>
          <p:cNvSpPr txBox="1"/>
          <p:nvPr/>
        </p:nvSpPr>
        <p:spPr>
          <a:xfrm>
            <a:off x="6455664" y="2834640"/>
            <a:ext cx="2331720" cy="457200"/>
          </a:xfrm>
          <a:prstGeom prst="rect">
            <a:avLst/>
          </a:prstGeom>
          <a:noFill/>
        </p:spPr>
        <p:txBody>
          <a:bodyPr wrap="square" anchor="t" lIns="0" rIns="0" tIns="0" bIns="0">
            <a:spAutoFit/>
          </a:bodyPr>
          <a:lstStyle/>
          <a:p>
            <a:pPr algn="ctr"/>
            <a:r>
              <a:rPr sz="1300" b="0" i="0">
                <a:solidFill>
                  <a:srgbClr val="6B7280"/>
                </a:solidFill>
                <a:latin typeface="Calibri"/>
              </a:rPr>
              <a:t>Pedidos con oferta</a:t>
            </a:r>
          </a:p>
        </p:txBody>
      </p:sp>
      <p:sp>
        <p:nvSpPr>
          <p:cNvPr id="12" name="Rounded Rectangle 11"/>
          <p:cNvSpPr/>
          <p:nvPr/>
        </p:nvSpPr>
        <p:spPr>
          <a:xfrm>
            <a:off x="9134856" y="1554480"/>
            <a:ext cx="2697480" cy="1828800"/>
          </a:xfrm>
          <a:prstGeom prst="roundRect">
            <a:avLst/>
          </a:prstGeom>
          <a:solidFill>
            <a:srgbClr val="F2F4FB"/>
          </a:solidFill>
          <a:ln w="9525">
            <a:solidFill>
              <a:srgbClr val="E0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17736" y="1874520"/>
            <a:ext cx="2331720" cy="914400"/>
          </a:xfrm>
          <a:prstGeom prst="rect">
            <a:avLst/>
          </a:prstGeom>
          <a:noFill/>
        </p:spPr>
        <p:txBody>
          <a:bodyPr wrap="square" anchor="ctr" lIns="0" rIns="0" tIns="0" bIns="0">
            <a:spAutoFit/>
          </a:bodyPr>
          <a:lstStyle/>
          <a:p>
            <a:pPr algn="ctr"/>
            <a:r>
              <a:rPr sz="4000" b="1" i="0">
                <a:solidFill>
                  <a:srgbClr val="1E2761"/>
                </a:solidFill>
                <a:latin typeface="Georgia"/>
              </a:rPr>
              <a:t>54 / 8</a:t>
            </a:r>
          </a:p>
        </p:txBody>
      </p:sp>
      <p:sp>
        <p:nvSpPr>
          <p:cNvPr id="14" name="TextBox 13"/>
          <p:cNvSpPr txBox="1"/>
          <p:nvPr/>
        </p:nvSpPr>
        <p:spPr>
          <a:xfrm>
            <a:off x="9317736" y="2834640"/>
            <a:ext cx="2331720" cy="457200"/>
          </a:xfrm>
          <a:prstGeom prst="rect">
            <a:avLst/>
          </a:prstGeom>
          <a:noFill/>
        </p:spPr>
        <p:txBody>
          <a:bodyPr wrap="square" anchor="t" lIns="0" rIns="0" tIns="0" bIns="0">
            <a:spAutoFit/>
          </a:bodyPr>
          <a:lstStyle/>
          <a:p>
            <a:pPr algn="ctr"/>
            <a:r>
              <a:rPr sz="1300" b="0" i="0">
                <a:solidFill>
                  <a:srgbClr val="6B7280"/>
                </a:solidFill>
                <a:latin typeface="Calibri"/>
              </a:rPr>
              <a:t>Vendedores / Supervisores</a:t>
            </a:r>
          </a:p>
        </p:txBody>
      </p:sp>
      <p:sp>
        <p:nvSpPr>
          <p:cNvPr id="15" name="TextBox 14"/>
          <p:cNvSpPr txBox="1"/>
          <p:nvPr/>
        </p:nvSpPr>
        <p:spPr>
          <a:xfrm>
            <a:off x="548640" y="3931920"/>
            <a:ext cx="11064240" cy="2377440"/>
          </a:xfrm>
          <a:prstGeom prst="rect">
            <a:avLst/>
          </a:prstGeom>
          <a:noFill/>
        </p:spPr>
        <p:txBody>
          <a:bodyPr wrap="square" anchor="t" lIns="0" rIns="0" tIns="0" bIns="0">
            <a:spAutoFit/>
          </a:bodyPr>
          <a:lstStyle/>
          <a:p>
            <a:pPr algn="l"/>
            <a:r>
              <a:rPr sz="1500" b="0" i="0">
                <a:solidFill>
                  <a:srgbClr val="1F2433"/>
                </a:solidFill>
                <a:latin typeface="Calibri"/>
              </a:rPr>
              <a:t>Las ofertas analizadas son las vigentes en la tabla Ofertas con fecha fin posterior al 01/06/2026. La cantidad reportada corresponde a clientes distintos que tomaron cada oferta durante junio 2026, según los pedidos marcados con indicador de oferta en VWpedidosResumenMesactual. Un mismo cliente puede figurar en varias ofertas, por lo que el total general es la suma por oferta, no clientes únicos.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anchor="t" lIns="0" rIns="0" tIns="0" bIns="0">
            <a:spAutoFit/>
          </a:bodyPr>
          <a:lstStyle/>
          <a:p>
            <a:pPr algn="l"/>
            <a:r>
              <a:rPr sz="2800" b="1" i="0">
                <a:solidFill>
                  <a:srgbClr val="1E2761"/>
                </a:solidFill>
                <a:latin typeface="Georgia"/>
              </a:rPr>
              <a:t>Ranking de ofertas por clientes</a:t>
            </a:r>
          </a:p>
        </p:txBody>
      </p:sp>
      <p:sp>
        <p:nvSpPr>
          <p:cNvPr id="3" name="TextBox 2"/>
          <p:cNvSpPr txBox="1"/>
          <p:nvPr/>
        </p:nvSpPr>
        <p:spPr>
          <a:xfrm>
            <a:off x="548640" y="1051560"/>
            <a:ext cx="11064240" cy="457200"/>
          </a:xfrm>
          <a:prstGeom prst="rect">
            <a:avLst/>
          </a:prstGeom>
          <a:noFill/>
        </p:spPr>
        <p:txBody>
          <a:bodyPr wrap="square" anchor="t" lIns="0" rIns="0" tIns="0" bIns="0">
            <a:spAutoFit/>
          </a:bodyPr>
          <a:lstStyle/>
          <a:p>
            <a:pPr algn="l"/>
            <a:r>
              <a:rPr sz="1400" b="0" i="1">
                <a:solidFill>
                  <a:srgbClr val="6B7280"/>
                </a:solidFill>
                <a:latin typeface="Calibri"/>
              </a:rPr>
              <a:t>Top 20 ofertas según clientes distintos alcanzados en junio 2026</a:t>
            </a:r>
          </a:p>
        </p:txBody>
      </p:sp>
      <p:pic>
        <p:nvPicPr>
          <p:cNvPr id="4" name="Picture 3" descr="resumen_ofertas.png"/>
          <p:cNvPicPr>
            <a:picLocks noChangeAspect="1"/>
          </p:cNvPicPr>
          <p:nvPr/>
        </p:nvPicPr>
        <p:blipFill>
          <a:blip r:embed="rId2"/>
          <a:stretch>
            <a:fillRect/>
          </a:stretch>
        </p:blipFill>
        <p:spPr>
          <a:xfrm>
            <a:off x="3881156" y="1463040"/>
            <a:ext cx="4399207" cy="5029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anchor="t" lIns="0" rIns="0" tIns="0" bIns="0">
            <a:spAutoFit/>
          </a:bodyPr>
          <a:lstStyle/>
          <a:p>
            <a:pPr algn="l"/>
            <a:r>
              <a:rPr sz="2800" b="1" i="0">
                <a:solidFill>
                  <a:srgbClr val="1E2761"/>
                </a:solidFill>
                <a:latin typeface="Georgia"/>
              </a:rPr>
              <a:t>Clientes por supervisor</a:t>
            </a:r>
          </a:p>
        </p:txBody>
      </p:sp>
      <p:sp>
        <p:nvSpPr>
          <p:cNvPr id="3" name="TextBox 2"/>
          <p:cNvSpPr txBox="1"/>
          <p:nvPr/>
        </p:nvSpPr>
        <p:spPr>
          <a:xfrm>
            <a:off x="548640" y="1051560"/>
            <a:ext cx="11064240" cy="457200"/>
          </a:xfrm>
          <a:prstGeom prst="rect">
            <a:avLst/>
          </a:prstGeom>
          <a:noFill/>
        </p:spPr>
        <p:txBody>
          <a:bodyPr wrap="square" anchor="t" lIns="0" rIns="0" tIns="0" bIns="0">
            <a:spAutoFit/>
          </a:bodyPr>
          <a:lstStyle/>
          <a:p>
            <a:pPr algn="l"/>
            <a:r>
              <a:rPr sz="1400" b="0" i="1">
                <a:solidFill>
                  <a:srgbClr val="6B7280"/>
                </a:solidFill>
                <a:latin typeface="Calibri"/>
              </a:rPr>
              <a:t>Suma de clientes alcanzados en el conjunto de ofertas vigentes</a:t>
            </a:r>
          </a:p>
        </p:txBody>
      </p:sp>
      <p:pic>
        <p:nvPicPr>
          <p:cNvPr id="4" name="Picture 3" descr="resumen_supervisores.png"/>
          <p:cNvPicPr>
            <a:picLocks noChangeAspect="1"/>
          </p:cNvPicPr>
          <p:nvPr/>
        </p:nvPicPr>
        <p:blipFill>
          <a:blip r:embed="rId2"/>
          <a:stretch>
            <a:fillRect/>
          </a:stretch>
        </p:blipFill>
        <p:spPr>
          <a:xfrm>
            <a:off x="2512275" y="1463040"/>
            <a:ext cx="7136969" cy="5029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anchor="t" lIns="0" rIns="0" tIns="0" bIns="0">
            <a:spAutoFit/>
          </a:bodyPr>
          <a:lstStyle/>
          <a:p>
            <a:pPr algn="l"/>
            <a:r>
              <a:rPr sz="2800" b="1" i="0">
                <a:solidFill>
                  <a:srgbClr val="1E2761"/>
                </a:solidFill>
                <a:latin typeface="Georgia"/>
              </a:rPr>
              <a:t>Clientes por vendedor</a:t>
            </a:r>
          </a:p>
        </p:txBody>
      </p:sp>
      <p:sp>
        <p:nvSpPr>
          <p:cNvPr id="3" name="TextBox 2"/>
          <p:cNvSpPr txBox="1"/>
          <p:nvPr/>
        </p:nvSpPr>
        <p:spPr>
          <a:xfrm>
            <a:off x="548640" y="1051560"/>
            <a:ext cx="11064240" cy="457200"/>
          </a:xfrm>
          <a:prstGeom prst="rect">
            <a:avLst/>
          </a:prstGeom>
          <a:noFill/>
        </p:spPr>
        <p:txBody>
          <a:bodyPr wrap="square" anchor="t" lIns="0" rIns="0" tIns="0" bIns="0">
            <a:spAutoFit/>
          </a:bodyPr>
          <a:lstStyle/>
          <a:p>
            <a:pPr algn="l"/>
            <a:r>
              <a:rPr sz="1400" b="0" i="1">
                <a:solidFill>
                  <a:srgbClr val="6B7280"/>
                </a:solidFill>
                <a:latin typeface="Calibri"/>
              </a:rPr>
              <a:t>Top 20 vendedores por clientes alcanzados en ofertas</a:t>
            </a:r>
          </a:p>
        </p:txBody>
      </p:sp>
      <p:pic>
        <p:nvPicPr>
          <p:cNvPr id="4" name="Picture 3" descr="resumen_vendedores.png"/>
          <p:cNvPicPr>
            <a:picLocks noChangeAspect="1"/>
          </p:cNvPicPr>
          <p:nvPr/>
        </p:nvPicPr>
        <p:blipFill>
          <a:blip r:embed="rId2"/>
          <a:stretch>
            <a:fillRect/>
          </a:stretch>
        </p:blipFill>
        <p:spPr>
          <a:xfrm>
            <a:off x="4158568" y="1463040"/>
            <a:ext cx="3844384" cy="5029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502920"/>
          </a:xfrm>
          <a:prstGeom prst="rect">
            <a:avLst/>
          </a:prstGeom>
          <a:noFill/>
        </p:spPr>
        <p:txBody>
          <a:bodyPr wrap="square" anchor="t" lIns="0" rIns="0" tIns="0" bIns="0">
            <a:spAutoFit/>
          </a:bodyPr>
          <a:lstStyle/>
          <a:p>
            <a:pPr algn="l"/>
            <a:r>
              <a:rPr sz="1600" b="1" i="0">
                <a:solidFill>
                  <a:srgbClr val="F2A341"/>
                </a:solidFill>
                <a:latin typeface="Calibri"/>
              </a:rPr>
              <a:t>Oferta #3647</a:t>
            </a:r>
          </a:p>
        </p:txBody>
      </p:sp>
      <p:sp>
        <p:nvSpPr>
          <p:cNvPr id="3" name="TextBox 2"/>
          <p:cNvSpPr txBox="1"/>
          <p:nvPr/>
        </p:nvSpPr>
        <p:spPr>
          <a:xfrm>
            <a:off x="548640" y="713232"/>
            <a:ext cx="9692640" cy="777240"/>
          </a:xfrm>
          <a:prstGeom prst="rect">
            <a:avLst/>
          </a:prstGeom>
          <a:noFill/>
        </p:spPr>
        <p:txBody>
          <a:bodyPr wrap="square" anchor="t" lIns="0" rIns="0" tIns="0" bIns="0">
            <a:spAutoFit/>
          </a:bodyPr>
          <a:lstStyle/>
          <a:p>
            <a:pPr algn="l"/>
            <a:r>
              <a:rPr sz="2300" b="1" i="0">
                <a:solidFill>
                  <a:srgbClr val="1E2761"/>
                </a:solidFill>
                <a:latin typeface="Georgia"/>
              </a:rPr>
              <a:t>4 BBB Jumbo Fresa/Cherry/Clear + 1 PQ Tipitin Besos</a:t>
            </a:r>
          </a:p>
        </p:txBody>
      </p:sp>
      <p:sp>
        <p:nvSpPr>
          <p:cNvPr id="4" name="TextBox 3"/>
          <p:cNvSpPr txBox="1"/>
          <p:nvPr/>
        </p:nvSpPr>
        <p:spPr>
          <a:xfrm>
            <a:off x="10058400" y="502920"/>
            <a:ext cx="1737360" cy="914400"/>
          </a:xfrm>
          <a:prstGeom prst="rect">
            <a:avLst/>
          </a:prstGeom>
          <a:noFill/>
        </p:spPr>
        <p:txBody>
          <a:bodyPr wrap="square" anchor="ctr" lIns="0" rIns="0" tIns="0" bIns="0">
            <a:spAutoFit/>
          </a:bodyPr>
          <a:lstStyle/>
          <a:p>
            <a:pPr algn="r"/>
            <a:r>
              <a:rPr sz="1600" b="1" i="0">
                <a:solidFill>
                  <a:srgbClr val="5B6FB8"/>
                </a:solidFill>
                <a:latin typeface="Calibri"/>
              </a:rPr>
              <a:t>1175 clientes</a:t>
            </a:r>
          </a:p>
        </p:txBody>
      </p:sp>
      <p:pic>
        <p:nvPicPr>
          <p:cNvPr id="5" name="Picture 4" descr="of3647_sup.png"/>
          <p:cNvPicPr>
            <a:picLocks noChangeAspect="1"/>
          </p:cNvPicPr>
          <p:nvPr/>
        </p:nvPicPr>
        <p:blipFill>
          <a:blip r:embed="rId2"/>
          <a:stretch>
            <a:fillRect/>
          </a:stretch>
        </p:blipFill>
        <p:spPr>
          <a:xfrm>
            <a:off x="457200" y="2348300"/>
            <a:ext cx="5486400" cy="3533000"/>
          </a:xfrm>
          <a:prstGeom prst="rect">
            <a:avLst/>
          </a:prstGeom>
        </p:spPr>
      </p:pic>
      <p:pic>
        <p:nvPicPr>
          <p:cNvPr id="6" name="Picture 5" descr="of3647_ven.png"/>
          <p:cNvPicPr>
            <a:picLocks noChangeAspect="1"/>
          </p:cNvPicPr>
          <p:nvPr/>
        </p:nvPicPr>
        <p:blipFill>
          <a:blip r:embed="rId3"/>
          <a:stretch>
            <a:fillRect/>
          </a:stretch>
        </p:blipFill>
        <p:spPr>
          <a:xfrm>
            <a:off x="6983835" y="1691640"/>
            <a:ext cx="4046010" cy="48463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502920"/>
          </a:xfrm>
          <a:prstGeom prst="rect">
            <a:avLst/>
          </a:prstGeom>
          <a:noFill/>
        </p:spPr>
        <p:txBody>
          <a:bodyPr wrap="square" anchor="t" lIns="0" rIns="0" tIns="0" bIns="0">
            <a:spAutoFit/>
          </a:bodyPr>
          <a:lstStyle/>
          <a:p>
            <a:pPr algn="l"/>
            <a:r>
              <a:rPr sz="1600" b="1" i="0">
                <a:solidFill>
                  <a:srgbClr val="F2A341"/>
                </a:solidFill>
                <a:latin typeface="Calibri"/>
              </a:rPr>
              <a:t>Oferta #3649</a:t>
            </a:r>
          </a:p>
        </p:txBody>
      </p:sp>
      <p:sp>
        <p:nvSpPr>
          <p:cNvPr id="3" name="TextBox 2"/>
          <p:cNvSpPr txBox="1"/>
          <p:nvPr/>
        </p:nvSpPr>
        <p:spPr>
          <a:xfrm>
            <a:off x="548640" y="713232"/>
            <a:ext cx="9692640" cy="777240"/>
          </a:xfrm>
          <a:prstGeom prst="rect">
            <a:avLst/>
          </a:prstGeom>
          <a:noFill/>
        </p:spPr>
        <p:txBody>
          <a:bodyPr wrap="square" anchor="t" lIns="0" rIns="0" tIns="0" bIns="0">
            <a:spAutoFit/>
          </a:bodyPr>
          <a:lstStyle/>
          <a:p>
            <a:pPr algn="l"/>
            <a:r>
              <a:rPr sz="2300" b="1" i="0">
                <a:solidFill>
                  <a:srgbClr val="1E2761"/>
                </a:solidFill>
                <a:latin typeface="Georgia"/>
              </a:rPr>
              <a:t>2 BBB Clear/Fresa + 1 Grissly Gamer</a:t>
            </a:r>
          </a:p>
        </p:txBody>
      </p:sp>
      <p:sp>
        <p:nvSpPr>
          <p:cNvPr id="4" name="TextBox 3"/>
          <p:cNvSpPr txBox="1"/>
          <p:nvPr/>
        </p:nvSpPr>
        <p:spPr>
          <a:xfrm>
            <a:off x="10058400" y="502920"/>
            <a:ext cx="1737360" cy="914400"/>
          </a:xfrm>
          <a:prstGeom prst="rect">
            <a:avLst/>
          </a:prstGeom>
          <a:noFill/>
        </p:spPr>
        <p:txBody>
          <a:bodyPr wrap="square" anchor="ctr" lIns="0" rIns="0" tIns="0" bIns="0">
            <a:spAutoFit/>
          </a:bodyPr>
          <a:lstStyle/>
          <a:p>
            <a:pPr algn="r"/>
            <a:r>
              <a:rPr sz="1600" b="1" i="0">
                <a:solidFill>
                  <a:srgbClr val="5B6FB8"/>
                </a:solidFill>
                <a:latin typeface="Calibri"/>
              </a:rPr>
              <a:t>1088 clientes</a:t>
            </a:r>
          </a:p>
        </p:txBody>
      </p:sp>
      <p:pic>
        <p:nvPicPr>
          <p:cNvPr id="5" name="Picture 4" descr="of3649_sup.png"/>
          <p:cNvPicPr>
            <a:picLocks noChangeAspect="1"/>
          </p:cNvPicPr>
          <p:nvPr/>
        </p:nvPicPr>
        <p:blipFill>
          <a:blip r:embed="rId2"/>
          <a:stretch>
            <a:fillRect/>
          </a:stretch>
        </p:blipFill>
        <p:spPr>
          <a:xfrm>
            <a:off x="457200" y="2538214"/>
            <a:ext cx="5486400" cy="3153172"/>
          </a:xfrm>
          <a:prstGeom prst="rect">
            <a:avLst/>
          </a:prstGeom>
        </p:spPr>
      </p:pic>
      <p:pic>
        <p:nvPicPr>
          <p:cNvPr id="6" name="Picture 5" descr="of3649_ven.png"/>
          <p:cNvPicPr>
            <a:picLocks noChangeAspect="1"/>
          </p:cNvPicPr>
          <p:nvPr/>
        </p:nvPicPr>
        <p:blipFill>
          <a:blip r:embed="rId3"/>
          <a:stretch>
            <a:fillRect/>
          </a:stretch>
        </p:blipFill>
        <p:spPr>
          <a:xfrm>
            <a:off x="6983835" y="1691640"/>
            <a:ext cx="4046010" cy="48463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502920"/>
          </a:xfrm>
          <a:prstGeom prst="rect">
            <a:avLst/>
          </a:prstGeom>
          <a:noFill/>
        </p:spPr>
        <p:txBody>
          <a:bodyPr wrap="square" anchor="t" lIns="0" rIns="0" tIns="0" bIns="0">
            <a:spAutoFit/>
          </a:bodyPr>
          <a:lstStyle/>
          <a:p>
            <a:pPr algn="l"/>
            <a:r>
              <a:rPr sz="1600" b="1" i="0">
                <a:solidFill>
                  <a:srgbClr val="F2A341"/>
                </a:solidFill>
                <a:latin typeface="Calibri"/>
              </a:rPr>
              <a:t>Oferta #3645</a:t>
            </a:r>
          </a:p>
        </p:txBody>
      </p:sp>
      <p:sp>
        <p:nvSpPr>
          <p:cNvPr id="3" name="TextBox 2"/>
          <p:cNvSpPr txBox="1"/>
          <p:nvPr/>
        </p:nvSpPr>
        <p:spPr>
          <a:xfrm>
            <a:off x="548640" y="713232"/>
            <a:ext cx="9692640" cy="777240"/>
          </a:xfrm>
          <a:prstGeom prst="rect">
            <a:avLst/>
          </a:prstGeom>
          <a:noFill/>
        </p:spPr>
        <p:txBody>
          <a:bodyPr wrap="square" anchor="t" lIns="0" rIns="0" tIns="0" bIns="0">
            <a:spAutoFit/>
          </a:bodyPr>
          <a:lstStyle/>
          <a:p>
            <a:pPr algn="l"/>
            <a:r>
              <a:rPr sz="2300" b="1" i="0">
                <a:solidFill>
                  <a:srgbClr val="1E2761"/>
                </a:solidFill>
                <a:latin typeface="Georgia"/>
              </a:rPr>
              <a:t>3 Baygon 285 + gratis 1 Vela de Mosquito Baygon</a:t>
            </a:r>
          </a:p>
        </p:txBody>
      </p:sp>
      <p:sp>
        <p:nvSpPr>
          <p:cNvPr id="4" name="TextBox 3"/>
          <p:cNvSpPr txBox="1"/>
          <p:nvPr/>
        </p:nvSpPr>
        <p:spPr>
          <a:xfrm>
            <a:off x="10058400" y="502920"/>
            <a:ext cx="1737360" cy="914400"/>
          </a:xfrm>
          <a:prstGeom prst="rect">
            <a:avLst/>
          </a:prstGeom>
          <a:noFill/>
        </p:spPr>
        <p:txBody>
          <a:bodyPr wrap="square" anchor="ctr" lIns="0" rIns="0" tIns="0" bIns="0">
            <a:spAutoFit/>
          </a:bodyPr>
          <a:lstStyle/>
          <a:p>
            <a:pPr algn="r"/>
            <a:r>
              <a:rPr sz="1600" b="1" i="0">
                <a:solidFill>
                  <a:srgbClr val="5B6FB8"/>
                </a:solidFill>
                <a:latin typeface="Calibri"/>
              </a:rPr>
              <a:t>1078 clientes</a:t>
            </a:r>
          </a:p>
        </p:txBody>
      </p:sp>
      <p:pic>
        <p:nvPicPr>
          <p:cNvPr id="5" name="Picture 4" descr="of3645_sup.png"/>
          <p:cNvPicPr>
            <a:picLocks noChangeAspect="1"/>
          </p:cNvPicPr>
          <p:nvPr/>
        </p:nvPicPr>
        <p:blipFill>
          <a:blip r:embed="rId2"/>
          <a:stretch>
            <a:fillRect/>
          </a:stretch>
        </p:blipFill>
        <p:spPr>
          <a:xfrm>
            <a:off x="457200" y="2357953"/>
            <a:ext cx="5486400" cy="3513694"/>
          </a:xfrm>
          <a:prstGeom prst="rect">
            <a:avLst/>
          </a:prstGeom>
        </p:spPr>
      </p:pic>
      <p:pic>
        <p:nvPicPr>
          <p:cNvPr id="6" name="Picture 5" descr="of3645_ven.png"/>
          <p:cNvPicPr>
            <a:picLocks noChangeAspect="1"/>
          </p:cNvPicPr>
          <p:nvPr/>
        </p:nvPicPr>
        <p:blipFill>
          <a:blip r:embed="rId3"/>
          <a:stretch>
            <a:fillRect/>
          </a:stretch>
        </p:blipFill>
        <p:spPr>
          <a:xfrm>
            <a:off x="6981612" y="1691640"/>
            <a:ext cx="4050456" cy="48463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502920"/>
          </a:xfrm>
          <a:prstGeom prst="rect">
            <a:avLst/>
          </a:prstGeom>
          <a:noFill/>
        </p:spPr>
        <p:txBody>
          <a:bodyPr wrap="square" anchor="t" lIns="0" rIns="0" tIns="0" bIns="0">
            <a:spAutoFit/>
          </a:bodyPr>
          <a:lstStyle/>
          <a:p>
            <a:pPr algn="l"/>
            <a:r>
              <a:rPr sz="1600" b="1" i="0">
                <a:solidFill>
                  <a:srgbClr val="F2A341"/>
                </a:solidFill>
                <a:latin typeface="Calibri"/>
              </a:rPr>
              <a:t>Oferta #3641</a:t>
            </a:r>
          </a:p>
        </p:txBody>
      </p:sp>
      <p:sp>
        <p:nvSpPr>
          <p:cNvPr id="3" name="TextBox 2"/>
          <p:cNvSpPr txBox="1"/>
          <p:nvPr/>
        </p:nvSpPr>
        <p:spPr>
          <a:xfrm>
            <a:off x="548640" y="713232"/>
            <a:ext cx="9692640" cy="777240"/>
          </a:xfrm>
          <a:prstGeom prst="rect">
            <a:avLst/>
          </a:prstGeom>
          <a:noFill/>
        </p:spPr>
        <p:txBody>
          <a:bodyPr wrap="square" anchor="t" lIns="0" rIns="0" tIns="0" bIns="0">
            <a:spAutoFit/>
          </a:bodyPr>
          <a:lstStyle/>
          <a:p>
            <a:pPr algn="l"/>
            <a:r>
              <a:rPr sz="2300" b="1" i="0">
                <a:solidFill>
                  <a:srgbClr val="1E2761"/>
                </a:solidFill>
                <a:latin typeface="Georgia"/>
              </a:rPr>
              <a:t>Agua Crystal 8+1/20+3/100+16/120+20/250+45</a:t>
            </a:r>
          </a:p>
        </p:txBody>
      </p:sp>
      <p:sp>
        <p:nvSpPr>
          <p:cNvPr id="4" name="TextBox 3"/>
          <p:cNvSpPr txBox="1"/>
          <p:nvPr/>
        </p:nvSpPr>
        <p:spPr>
          <a:xfrm>
            <a:off x="10058400" y="502920"/>
            <a:ext cx="1737360" cy="914400"/>
          </a:xfrm>
          <a:prstGeom prst="rect">
            <a:avLst/>
          </a:prstGeom>
          <a:noFill/>
        </p:spPr>
        <p:txBody>
          <a:bodyPr wrap="square" anchor="ctr" lIns="0" rIns="0" tIns="0" bIns="0">
            <a:spAutoFit/>
          </a:bodyPr>
          <a:lstStyle/>
          <a:p>
            <a:pPr algn="r"/>
            <a:r>
              <a:rPr sz="1600" b="1" i="0">
                <a:solidFill>
                  <a:srgbClr val="5B6FB8"/>
                </a:solidFill>
                <a:latin typeface="Calibri"/>
              </a:rPr>
              <a:t>776 clientes</a:t>
            </a:r>
          </a:p>
        </p:txBody>
      </p:sp>
      <p:pic>
        <p:nvPicPr>
          <p:cNvPr id="5" name="Picture 4" descr="of3641_sup.png"/>
          <p:cNvPicPr>
            <a:picLocks noChangeAspect="1"/>
          </p:cNvPicPr>
          <p:nvPr/>
        </p:nvPicPr>
        <p:blipFill>
          <a:blip r:embed="rId2"/>
          <a:stretch>
            <a:fillRect/>
          </a:stretch>
        </p:blipFill>
        <p:spPr>
          <a:xfrm>
            <a:off x="457200" y="2728127"/>
            <a:ext cx="5486400" cy="2773345"/>
          </a:xfrm>
          <a:prstGeom prst="rect">
            <a:avLst/>
          </a:prstGeom>
        </p:spPr>
      </p:pic>
      <p:pic>
        <p:nvPicPr>
          <p:cNvPr id="6" name="Picture 5" descr="of3641_ven.png"/>
          <p:cNvPicPr>
            <a:picLocks noChangeAspect="1"/>
          </p:cNvPicPr>
          <p:nvPr/>
        </p:nvPicPr>
        <p:blipFill>
          <a:blip r:embed="rId3"/>
          <a:stretch>
            <a:fillRect/>
          </a:stretch>
        </p:blipFill>
        <p:spPr>
          <a:xfrm>
            <a:off x="6983835" y="1691640"/>
            <a:ext cx="4046010" cy="48463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502920"/>
          </a:xfrm>
          <a:prstGeom prst="rect">
            <a:avLst/>
          </a:prstGeom>
          <a:noFill/>
        </p:spPr>
        <p:txBody>
          <a:bodyPr wrap="square" anchor="t" lIns="0" rIns="0" tIns="0" bIns="0">
            <a:spAutoFit/>
          </a:bodyPr>
          <a:lstStyle/>
          <a:p>
            <a:pPr algn="l"/>
            <a:r>
              <a:rPr sz="1600" b="1" i="0">
                <a:solidFill>
                  <a:srgbClr val="F2A341"/>
                </a:solidFill>
                <a:latin typeface="Calibri"/>
              </a:rPr>
              <a:t>Oferta #3651</a:t>
            </a:r>
          </a:p>
        </p:txBody>
      </p:sp>
      <p:sp>
        <p:nvSpPr>
          <p:cNvPr id="3" name="TextBox 2"/>
          <p:cNvSpPr txBox="1"/>
          <p:nvPr/>
        </p:nvSpPr>
        <p:spPr>
          <a:xfrm>
            <a:off x="548640" y="713232"/>
            <a:ext cx="9692640" cy="777240"/>
          </a:xfrm>
          <a:prstGeom prst="rect">
            <a:avLst/>
          </a:prstGeom>
          <a:noFill/>
        </p:spPr>
        <p:txBody>
          <a:bodyPr wrap="square" anchor="t" lIns="0" rIns="0" tIns="0" bIns="0">
            <a:spAutoFit/>
          </a:bodyPr>
          <a:lstStyle/>
          <a:p>
            <a:pPr algn="l"/>
            <a:r>
              <a:rPr sz="2300" b="1" i="0">
                <a:solidFill>
                  <a:srgbClr val="1E2761"/>
                </a:solidFill>
                <a:latin typeface="Georgia"/>
              </a:rPr>
              <a:t>Combo 2BBB cherry y STDO + BOMBONERA de oferta</a:t>
            </a:r>
          </a:p>
        </p:txBody>
      </p:sp>
      <p:sp>
        <p:nvSpPr>
          <p:cNvPr id="4" name="TextBox 3"/>
          <p:cNvSpPr txBox="1"/>
          <p:nvPr/>
        </p:nvSpPr>
        <p:spPr>
          <a:xfrm>
            <a:off x="10058400" y="502920"/>
            <a:ext cx="1737360" cy="914400"/>
          </a:xfrm>
          <a:prstGeom prst="rect">
            <a:avLst/>
          </a:prstGeom>
          <a:noFill/>
        </p:spPr>
        <p:txBody>
          <a:bodyPr wrap="square" anchor="ctr" lIns="0" rIns="0" tIns="0" bIns="0">
            <a:spAutoFit/>
          </a:bodyPr>
          <a:lstStyle/>
          <a:p>
            <a:pPr algn="r"/>
            <a:r>
              <a:rPr sz="1600" b="1" i="0">
                <a:solidFill>
                  <a:srgbClr val="5B6FB8"/>
                </a:solidFill>
                <a:latin typeface="Calibri"/>
              </a:rPr>
              <a:t>664 clientes</a:t>
            </a:r>
          </a:p>
        </p:txBody>
      </p:sp>
      <p:pic>
        <p:nvPicPr>
          <p:cNvPr id="5" name="Picture 4" descr="of3651_sup.png"/>
          <p:cNvPicPr>
            <a:picLocks noChangeAspect="1"/>
          </p:cNvPicPr>
          <p:nvPr/>
        </p:nvPicPr>
        <p:blipFill>
          <a:blip r:embed="rId2"/>
          <a:stretch>
            <a:fillRect/>
          </a:stretch>
        </p:blipFill>
        <p:spPr>
          <a:xfrm>
            <a:off x="457200" y="2545113"/>
            <a:ext cx="5486400" cy="3139373"/>
          </a:xfrm>
          <a:prstGeom prst="rect">
            <a:avLst/>
          </a:prstGeom>
        </p:spPr>
      </p:pic>
      <p:pic>
        <p:nvPicPr>
          <p:cNvPr id="6" name="Picture 5" descr="of3651_ven.png"/>
          <p:cNvPicPr>
            <a:picLocks noChangeAspect="1"/>
          </p:cNvPicPr>
          <p:nvPr/>
        </p:nvPicPr>
        <p:blipFill>
          <a:blip r:embed="rId3"/>
          <a:stretch>
            <a:fillRect/>
          </a:stretch>
        </p:blipFill>
        <p:spPr>
          <a:xfrm>
            <a:off x="6979389" y="1691640"/>
            <a:ext cx="4054902" cy="48463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502920"/>
          </a:xfrm>
          <a:prstGeom prst="rect">
            <a:avLst/>
          </a:prstGeom>
          <a:noFill/>
        </p:spPr>
        <p:txBody>
          <a:bodyPr wrap="square" anchor="t" lIns="0" rIns="0" tIns="0" bIns="0">
            <a:spAutoFit/>
          </a:bodyPr>
          <a:lstStyle/>
          <a:p>
            <a:pPr algn="l"/>
            <a:r>
              <a:rPr sz="1600" b="1" i="0">
                <a:solidFill>
                  <a:srgbClr val="F2A341"/>
                </a:solidFill>
                <a:latin typeface="Calibri"/>
              </a:rPr>
              <a:t>Oferta #3646</a:t>
            </a:r>
          </a:p>
        </p:txBody>
      </p:sp>
      <p:sp>
        <p:nvSpPr>
          <p:cNvPr id="3" name="TextBox 2"/>
          <p:cNvSpPr txBox="1"/>
          <p:nvPr/>
        </p:nvSpPr>
        <p:spPr>
          <a:xfrm>
            <a:off x="548640" y="713232"/>
            <a:ext cx="9692640" cy="777240"/>
          </a:xfrm>
          <a:prstGeom prst="rect">
            <a:avLst/>
          </a:prstGeom>
          <a:noFill/>
        </p:spPr>
        <p:txBody>
          <a:bodyPr wrap="square" anchor="t" lIns="0" rIns="0" tIns="0" bIns="0">
            <a:spAutoFit/>
          </a:bodyPr>
          <a:lstStyle/>
          <a:p>
            <a:pPr algn="l"/>
            <a:r>
              <a:rPr sz="2300" b="1" i="0">
                <a:solidFill>
                  <a:srgbClr val="1E2761"/>
                </a:solidFill>
                <a:latin typeface="Georgia"/>
              </a:rPr>
              <a:t>Goma Grissly  de 80gr 12 + 1Grissly Gamer</a:t>
            </a:r>
          </a:p>
        </p:txBody>
      </p:sp>
      <p:sp>
        <p:nvSpPr>
          <p:cNvPr id="4" name="TextBox 3"/>
          <p:cNvSpPr txBox="1"/>
          <p:nvPr/>
        </p:nvSpPr>
        <p:spPr>
          <a:xfrm>
            <a:off x="10058400" y="502920"/>
            <a:ext cx="1737360" cy="914400"/>
          </a:xfrm>
          <a:prstGeom prst="rect">
            <a:avLst/>
          </a:prstGeom>
          <a:noFill/>
        </p:spPr>
        <p:txBody>
          <a:bodyPr wrap="square" anchor="ctr" lIns="0" rIns="0" tIns="0" bIns="0">
            <a:spAutoFit/>
          </a:bodyPr>
          <a:lstStyle/>
          <a:p>
            <a:pPr algn="r"/>
            <a:r>
              <a:rPr sz="1600" b="1" i="0">
                <a:solidFill>
                  <a:srgbClr val="5B6FB8"/>
                </a:solidFill>
                <a:latin typeface="Calibri"/>
              </a:rPr>
              <a:t>569 clientes</a:t>
            </a:r>
          </a:p>
        </p:txBody>
      </p:sp>
      <p:pic>
        <p:nvPicPr>
          <p:cNvPr id="5" name="Picture 4" descr="of3646_sup.png"/>
          <p:cNvPicPr>
            <a:picLocks noChangeAspect="1"/>
          </p:cNvPicPr>
          <p:nvPr/>
        </p:nvPicPr>
        <p:blipFill>
          <a:blip r:embed="rId2"/>
          <a:stretch>
            <a:fillRect/>
          </a:stretch>
        </p:blipFill>
        <p:spPr>
          <a:xfrm>
            <a:off x="457200" y="2538214"/>
            <a:ext cx="5486400" cy="3153172"/>
          </a:xfrm>
          <a:prstGeom prst="rect">
            <a:avLst/>
          </a:prstGeom>
        </p:spPr>
      </p:pic>
      <p:pic>
        <p:nvPicPr>
          <p:cNvPr id="6" name="Picture 5" descr="of3646_ven.png"/>
          <p:cNvPicPr>
            <a:picLocks noChangeAspect="1"/>
          </p:cNvPicPr>
          <p:nvPr/>
        </p:nvPicPr>
        <p:blipFill>
          <a:blip r:embed="rId3"/>
          <a:stretch>
            <a:fillRect/>
          </a:stretch>
        </p:blipFill>
        <p:spPr>
          <a:xfrm>
            <a:off x="6983835" y="1691640"/>
            <a:ext cx="4046010" cy="48463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502920"/>
          </a:xfrm>
          <a:prstGeom prst="rect">
            <a:avLst/>
          </a:prstGeom>
          <a:noFill/>
        </p:spPr>
        <p:txBody>
          <a:bodyPr wrap="square" anchor="t" lIns="0" rIns="0" tIns="0" bIns="0">
            <a:spAutoFit/>
          </a:bodyPr>
          <a:lstStyle/>
          <a:p>
            <a:pPr algn="l"/>
            <a:r>
              <a:rPr sz="1600" b="1" i="0">
                <a:solidFill>
                  <a:srgbClr val="F2A341"/>
                </a:solidFill>
                <a:latin typeface="Calibri"/>
              </a:rPr>
              <a:t>Oferta #3648</a:t>
            </a:r>
          </a:p>
        </p:txBody>
      </p:sp>
      <p:sp>
        <p:nvSpPr>
          <p:cNvPr id="3" name="TextBox 2"/>
          <p:cNvSpPr txBox="1"/>
          <p:nvPr/>
        </p:nvSpPr>
        <p:spPr>
          <a:xfrm>
            <a:off x="548640" y="713232"/>
            <a:ext cx="9692640" cy="777240"/>
          </a:xfrm>
          <a:prstGeom prst="rect">
            <a:avLst/>
          </a:prstGeom>
          <a:noFill/>
        </p:spPr>
        <p:txBody>
          <a:bodyPr wrap="square" anchor="t" lIns="0" rIns="0" tIns="0" bIns="0">
            <a:spAutoFit/>
          </a:bodyPr>
          <a:lstStyle/>
          <a:p>
            <a:pPr algn="l"/>
            <a:r>
              <a:rPr sz="2300" b="1" i="0">
                <a:solidFill>
                  <a:srgbClr val="1E2761"/>
                </a:solidFill>
                <a:latin typeface="Georgia"/>
              </a:rPr>
              <a:t>6 PQ De Mentas Coffee/Mango/Sandia/Choco Mani/Xtime +1 PQ de Tipitin …</a:t>
            </a:r>
          </a:p>
        </p:txBody>
      </p:sp>
      <p:sp>
        <p:nvSpPr>
          <p:cNvPr id="4" name="TextBox 3"/>
          <p:cNvSpPr txBox="1"/>
          <p:nvPr/>
        </p:nvSpPr>
        <p:spPr>
          <a:xfrm>
            <a:off x="10058400" y="502920"/>
            <a:ext cx="1737360" cy="914400"/>
          </a:xfrm>
          <a:prstGeom prst="rect">
            <a:avLst/>
          </a:prstGeom>
          <a:noFill/>
        </p:spPr>
        <p:txBody>
          <a:bodyPr wrap="square" anchor="ctr" lIns="0" rIns="0" tIns="0" bIns="0">
            <a:spAutoFit/>
          </a:bodyPr>
          <a:lstStyle/>
          <a:p>
            <a:pPr algn="r"/>
            <a:r>
              <a:rPr sz="1600" b="1" i="0">
                <a:solidFill>
                  <a:srgbClr val="5B6FB8"/>
                </a:solidFill>
                <a:latin typeface="Calibri"/>
              </a:rPr>
              <a:t>432 clientes</a:t>
            </a:r>
          </a:p>
        </p:txBody>
      </p:sp>
      <p:pic>
        <p:nvPicPr>
          <p:cNvPr id="5" name="Picture 4" descr="of3648_sup.png"/>
          <p:cNvPicPr>
            <a:picLocks noChangeAspect="1"/>
          </p:cNvPicPr>
          <p:nvPr/>
        </p:nvPicPr>
        <p:blipFill>
          <a:blip r:embed="rId2"/>
          <a:stretch>
            <a:fillRect/>
          </a:stretch>
        </p:blipFill>
        <p:spPr>
          <a:xfrm>
            <a:off x="457200" y="2348300"/>
            <a:ext cx="5486400" cy="3533000"/>
          </a:xfrm>
          <a:prstGeom prst="rect">
            <a:avLst/>
          </a:prstGeom>
        </p:spPr>
      </p:pic>
      <p:pic>
        <p:nvPicPr>
          <p:cNvPr id="6" name="Picture 5" descr="of3648_ven.png"/>
          <p:cNvPicPr>
            <a:picLocks noChangeAspect="1"/>
          </p:cNvPicPr>
          <p:nvPr/>
        </p:nvPicPr>
        <p:blipFill>
          <a:blip r:embed="rId3"/>
          <a:stretch>
            <a:fillRect/>
          </a:stretch>
        </p:blipFill>
        <p:spPr>
          <a:xfrm>
            <a:off x="6983835" y="1691640"/>
            <a:ext cx="404601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502920"/>
          </a:xfrm>
          <a:prstGeom prst="rect">
            <a:avLst/>
          </a:prstGeom>
          <a:noFill/>
        </p:spPr>
        <p:txBody>
          <a:bodyPr wrap="square" anchor="t" lIns="0" rIns="0" tIns="0" bIns="0">
            <a:spAutoFit/>
          </a:bodyPr>
          <a:lstStyle/>
          <a:p>
            <a:pPr algn="l"/>
            <a:r>
              <a:rPr sz="1600" b="1" i="0">
                <a:solidFill>
                  <a:srgbClr val="F2A341"/>
                </a:solidFill>
                <a:latin typeface="Calibri"/>
              </a:rPr>
              <a:t>Oferta #3692</a:t>
            </a:r>
          </a:p>
        </p:txBody>
      </p:sp>
      <p:sp>
        <p:nvSpPr>
          <p:cNvPr id="3" name="TextBox 2"/>
          <p:cNvSpPr txBox="1"/>
          <p:nvPr/>
        </p:nvSpPr>
        <p:spPr>
          <a:xfrm>
            <a:off x="548640" y="713232"/>
            <a:ext cx="9692640" cy="777240"/>
          </a:xfrm>
          <a:prstGeom prst="rect">
            <a:avLst/>
          </a:prstGeom>
          <a:noFill/>
        </p:spPr>
        <p:txBody>
          <a:bodyPr wrap="square" anchor="t" lIns="0" rIns="0" tIns="0" bIns="0">
            <a:spAutoFit/>
          </a:bodyPr>
          <a:lstStyle/>
          <a:p>
            <a:pPr algn="l"/>
            <a:r>
              <a:rPr sz="2300" b="1" i="0">
                <a:solidFill>
                  <a:srgbClr val="1E2761"/>
                </a:solidFill>
                <a:latin typeface="Georgia"/>
              </a:rPr>
              <a:t>Paños Húmedos Pequeñín Aloe 12x(4x24) 2</a:t>
            </a:r>
          </a:p>
        </p:txBody>
      </p:sp>
      <p:sp>
        <p:nvSpPr>
          <p:cNvPr id="4" name="TextBox 3"/>
          <p:cNvSpPr txBox="1"/>
          <p:nvPr/>
        </p:nvSpPr>
        <p:spPr>
          <a:xfrm>
            <a:off x="10058400" y="502920"/>
            <a:ext cx="1737360" cy="914400"/>
          </a:xfrm>
          <a:prstGeom prst="rect">
            <a:avLst/>
          </a:prstGeom>
          <a:noFill/>
        </p:spPr>
        <p:txBody>
          <a:bodyPr wrap="square" anchor="ctr" lIns="0" rIns="0" tIns="0" bIns="0">
            <a:spAutoFit/>
          </a:bodyPr>
          <a:lstStyle/>
          <a:p>
            <a:pPr algn="r"/>
            <a:r>
              <a:rPr sz="1600" b="1" i="0">
                <a:solidFill>
                  <a:srgbClr val="5B6FB8"/>
                </a:solidFill>
                <a:latin typeface="Calibri"/>
              </a:rPr>
              <a:t>364 clientes</a:t>
            </a:r>
          </a:p>
        </p:txBody>
      </p:sp>
      <p:pic>
        <p:nvPicPr>
          <p:cNvPr id="5" name="Picture 4" descr="of3692_sup.png"/>
          <p:cNvPicPr>
            <a:picLocks noChangeAspect="1"/>
          </p:cNvPicPr>
          <p:nvPr/>
        </p:nvPicPr>
        <p:blipFill>
          <a:blip r:embed="rId2"/>
          <a:stretch>
            <a:fillRect/>
          </a:stretch>
        </p:blipFill>
        <p:spPr>
          <a:xfrm>
            <a:off x="457200" y="2314671"/>
            <a:ext cx="5486400" cy="3600258"/>
          </a:xfrm>
          <a:prstGeom prst="rect">
            <a:avLst/>
          </a:prstGeom>
        </p:spPr>
      </p:pic>
      <p:pic>
        <p:nvPicPr>
          <p:cNvPr id="6" name="Picture 5" descr="of3692_ven.png"/>
          <p:cNvPicPr>
            <a:picLocks noChangeAspect="1"/>
          </p:cNvPicPr>
          <p:nvPr/>
        </p:nvPicPr>
        <p:blipFill>
          <a:blip r:embed="rId3"/>
          <a:stretch>
            <a:fillRect/>
          </a:stretch>
        </p:blipFill>
        <p:spPr>
          <a:xfrm>
            <a:off x="6983835" y="1691640"/>
            <a:ext cx="404601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502920"/>
          </a:xfrm>
          <a:prstGeom prst="rect">
            <a:avLst/>
          </a:prstGeom>
          <a:noFill/>
        </p:spPr>
        <p:txBody>
          <a:bodyPr wrap="square" anchor="t" lIns="0" rIns="0" tIns="0" bIns="0">
            <a:spAutoFit/>
          </a:bodyPr>
          <a:lstStyle/>
          <a:p>
            <a:pPr algn="l"/>
            <a:r>
              <a:rPr sz="1600" b="1" i="0">
                <a:solidFill>
                  <a:srgbClr val="F2A341"/>
                </a:solidFill>
                <a:latin typeface="Calibri"/>
              </a:rPr>
              <a:t>Oferta #3639</a:t>
            </a:r>
          </a:p>
        </p:txBody>
      </p:sp>
      <p:sp>
        <p:nvSpPr>
          <p:cNvPr id="3" name="TextBox 2"/>
          <p:cNvSpPr txBox="1"/>
          <p:nvPr/>
        </p:nvSpPr>
        <p:spPr>
          <a:xfrm>
            <a:off x="548640" y="713232"/>
            <a:ext cx="9692640" cy="777240"/>
          </a:xfrm>
          <a:prstGeom prst="rect">
            <a:avLst/>
          </a:prstGeom>
          <a:noFill/>
        </p:spPr>
        <p:txBody>
          <a:bodyPr wrap="square" anchor="t" lIns="0" rIns="0" tIns="0" bIns="0">
            <a:spAutoFit/>
          </a:bodyPr>
          <a:lstStyle/>
          <a:p>
            <a:pPr algn="l"/>
            <a:r>
              <a:rPr sz="2300" b="1" i="0">
                <a:solidFill>
                  <a:srgbClr val="1E2761"/>
                </a:solidFill>
                <a:latin typeface="Georgia"/>
              </a:rPr>
              <a:t>1 Ganchera Aloe +2 UND De Aloe Natural 100x10 Sur</a:t>
            </a:r>
          </a:p>
        </p:txBody>
      </p:sp>
      <p:sp>
        <p:nvSpPr>
          <p:cNvPr id="4" name="TextBox 3"/>
          <p:cNvSpPr txBox="1"/>
          <p:nvPr/>
        </p:nvSpPr>
        <p:spPr>
          <a:xfrm>
            <a:off x="10058400" y="502920"/>
            <a:ext cx="1737360" cy="914400"/>
          </a:xfrm>
          <a:prstGeom prst="rect">
            <a:avLst/>
          </a:prstGeom>
          <a:noFill/>
        </p:spPr>
        <p:txBody>
          <a:bodyPr wrap="square" anchor="ctr" lIns="0" rIns="0" tIns="0" bIns="0">
            <a:spAutoFit/>
          </a:bodyPr>
          <a:lstStyle/>
          <a:p>
            <a:pPr algn="r"/>
            <a:r>
              <a:rPr sz="1600" b="1" i="0">
                <a:solidFill>
                  <a:srgbClr val="5B6FB8"/>
                </a:solidFill>
                <a:latin typeface="Calibri"/>
              </a:rPr>
              <a:t>267 clientes</a:t>
            </a:r>
          </a:p>
        </p:txBody>
      </p:sp>
      <p:pic>
        <p:nvPicPr>
          <p:cNvPr id="5" name="Picture 4" descr="of3639_sup.png"/>
          <p:cNvPicPr>
            <a:picLocks noChangeAspect="1"/>
          </p:cNvPicPr>
          <p:nvPr/>
        </p:nvPicPr>
        <p:blipFill>
          <a:blip r:embed="rId2"/>
          <a:stretch>
            <a:fillRect/>
          </a:stretch>
        </p:blipFill>
        <p:spPr>
          <a:xfrm>
            <a:off x="457200" y="3296970"/>
            <a:ext cx="5486400" cy="1635659"/>
          </a:xfrm>
          <a:prstGeom prst="rect">
            <a:avLst/>
          </a:prstGeom>
        </p:spPr>
      </p:pic>
      <p:pic>
        <p:nvPicPr>
          <p:cNvPr id="6" name="Picture 5" descr="of3639_ven.png"/>
          <p:cNvPicPr>
            <a:picLocks noChangeAspect="1"/>
          </p:cNvPicPr>
          <p:nvPr/>
        </p:nvPicPr>
        <p:blipFill>
          <a:blip r:embed="rId3"/>
          <a:stretch>
            <a:fillRect/>
          </a:stretch>
        </p:blipFill>
        <p:spPr>
          <a:xfrm>
            <a:off x="6714390" y="1691640"/>
            <a:ext cx="458490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502920"/>
          </a:xfrm>
          <a:prstGeom prst="rect">
            <a:avLst/>
          </a:prstGeom>
          <a:noFill/>
        </p:spPr>
        <p:txBody>
          <a:bodyPr wrap="square" anchor="t" lIns="0" rIns="0" tIns="0" bIns="0">
            <a:spAutoFit/>
          </a:bodyPr>
          <a:lstStyle/>
          <a:p>
            <a:pPr algn="l"/>
            <a:r>
              <a:rPr sz="1600" b="1" i="0">
                <a:solidFill>
                  <a:srgbClr val="F2A341"/>
                </a:solidFill>
                <a:latin typeface="Calibri"/>
              </a:rPr>
              <a:t>Oferta #3643</a:t>
            </a:r>
          </a:p>
        </p:txBody>
      </p:sp>
      <p:sp>
        <p:nvSpPr>
          <p:cNvPr id="3" name="TextBox 2"/>
          <p:cNvSpPr txBox="1"/>
          <p:nvPr/>
        </p:nvSpPr>
        <p:spPr>
          <a:xfrm>
            <a:off x="548640" y="713232"/>
            <a:ext cx="9692640" cy="777240"/>
          </a:xfrm>
          <a:prstGeom prst="rect">
            <a:avLst/>
          </a:prstGeom>
          <a:noFill/>
        </p:spPr>
        <p:txBody>
          <a:bodyPr wrap="square" anchor="t" lIns="0" rIns="0" tIns="0" bIns="0">
            <a:spAutoFit/>
          </a:bodyPr>
          <a:lstStyle/>
          <a:p>
            <a:pPr algn="l"/>
            <a:r>
              <a:rPr sz="2300" b="1" i="0">
                <a:solidFill>
                  <a:srgbClr val="1E2761"/>
                </a:solidFill>
                <a:latin typeface="Georgia"/>
              </a:rPr>
              <a:t>Ultrex 200gr 12+3</a:t>
            </a:r>
          </a:p>
        </p:txBody>
      </p:sp>
      <p:sp>
        <p:nvSpPr>
          <p:cNvPr id="4" name="TextBox 3"/>
          <p:cNvSpPr txBox="1"/>
          <p:nvPr/>
        </p:nvSpPr>
        <p:spPr>
          <a:xfrm>
            <a:off x="10058400" y="502920"/>
            <a:ext cx="1737360" cy="914400"/>
          </a:xfrm>
          <a:prstGeom prst="rect">
            <a:avLst/>
          </a:prstGeom>
          <a:noFill/>
        </p:spPr>
        <p:txBody>
          <a:bodyPr wrap="square" anchor="ctr" lIns="0" rIns="0" tIns="0" bIns="0">
            <a:spAutoFit/>
          </a:bodyPr>
          <a:lstStyle/>
          <a:p>
            <a:pPr algn="r"/>
            <a:r>
              <a:rPr sz="1600" b="1" i="0">
                <a:solidFill>
                  <a:srgbClr val="5B6FB8"/>
                </a:solidFill>
                <a:latin typeface="Calibri"/>
              </a:rPr>
              <a:t>220 clientes</a:t>
            </a:r>
          </a:p>
        </p:txBody>
      </p:sp>
      <p:pic>
        <p:nvPicPr>
          <p:cNvPr id="5" name="Picture 4" descr="of3643_sup.png"/>
          <p:cNvPicPr>
            <a:picLocks noChangeAspect="1"/>
          </p:cNvPicPr>
          <p:nvPr/>
        </p:nvPicPr>
        <p:blipFill>
          <a:blip r:embed="rId2"/>
          <a:stretch>
            <a:fillRect/>
          </a:stretch>
        </p:blipFill>
        <p:spPr>
          <a:xfrm>
            <a:off x="457200" y="2348300"/>
            <a:ext cx="5486400" cy="3533000"/>
          </a:xfrm>
          <a:prstGeom prst="rect">
            <a:avLst/>
          </a:prstGeom>
        </p:spPr>
      </p:pic>
      <p:pic>
        <p:nvPicPr>
          <p:cNvPr id="6" name="Picture 5" descr="of3643_ven.png"/>
          <p:cNvPicPr>
            <a:picLocks noChangeAspect="1"/>
          </p:cNvPicPr>
          <p:nvPr/>
        </p:nvPicPr>
        <p:blipFill>
          <a:blip r:embed="rId3"/>
          <a:stretch>
            <a:fillRect/>
          </a:stretch>
        </p:blipFill>
        <p:spPr>
          <a:xfrm>
            <a:off x="6983835" y="1691640"/>
            <a:ext cx="404601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502920"/>
          </a:xfrm>
          <a:prstGeom prst="rect">
            <a:avLst/>
          </a:prstGeom>
          <a:noFill/>
        </p:spPr>
        <p:txBody>
          <a:bodyPr wrap="square" anchor="t" lIns="0" rIns="0" tIns="0" bIns="0">
            <a:spAutoFit/>
          </a:bodyPr>
          <a:lstStyle/>
          <a:p>
            <a:pPr algn="l"/>
            <a:r>
              <a:rPr sz="1600" b="1" i="0">
                <a:solidFill>
                  <a:srgbClr val="F2A341"/>
                </a:solidFill>
                <a:latin typeface="Calibri"/>
              </a:rPr>
              <a:t>Oferta #3705</a:t>
            </a:r>
          </a:p>
        </p:txBody>
      </p:sp>
      <p:sp>
        <p:nvSpPr>
          <p:cNvPr id="3" name="TextBox 2"/>
          <p:cNvSpPr txBox="1"/>
          <p:nvPr/>
        </p:nvSpPr>
        <p:spPr>
          <a:xfrm>
            <a:off x="548640" y="713232"/>
            <a:ext cx="9692640" cy="777240"/>
          </a:xfrm>
          <a:prstGeom prst="rect">
            <a:avLst/>
          </a:prstGeom>
          <a:noFill/>
        </p:spPr>
        <p:txBody>
          <a:bodyPr wrap="square" anchor="t" lIns="0" rIns="0" tIns="0" bIns="0">
            <a:spAutoFit/>
          </a:bodyPr>
          <a:lstStyle/>
          <a:p>
            <a:pPr algn="l"/>
            <a:r>
              <a:rPr sz="2300" b="1" i="0">
                <a:solidFill>
                  <a:srgbClr val="1E2761"/>
                </a:solidFill>
                <a:latin typeface="Georgia"/>
              </a:rPr>
              <a:t>12 Atun Dimar + 1 UND OFERTA</a:t>
            </a:r>
          </a:p>
        </p:txBody>
      </p:sp>
      <p:sp>
        <p:nvSpPr>
          <p:cNvPr id="4" name="TextBox 3"/>
          <p:cNvSpPr txBox="1"/>
          <p:nvPr/>
        </p:nvSpPr>
        <p:spPr>
          <a:xfrm>
            <a:off x="10058400" y="502920"/>
            <a:ext cx="1737360" cy="914400"/>
          </a:xfrm>
          <a:prstGeom prst="rect">
            <a:avLst/>
          </a:prstGeom>
          <a:noFill/>
        </p:spPr>
        <p:txBody>
          <a:bodyPr wrap="square" anchor="ctr" lIns="0" rIns="0" tIns="0" bIns="0">
            <a:spAutoFit/>
          </a:bodyPr>
          <a:lstStyle/>
          <a:p>
            <a:pPr algn="r"/>
            <a:r>
              <a:rPr sz="1600" b="1" i="0">
                <a:solidFill>
                  <a:srgbClr val="5B6FB8"/>
                </a:solidFill>
                <a:latin typeface="Calibri"/>
              </a:rPr>
              <a:t>192 clientes</a:t>
            </a:r>
          </a:p>
        </p:txBody>
      </p:sp>
      <p:pic>
        <p:nvPicPr>
          <p:cNvPr id="5" name="Picture 4" descr="of3705_sup.png"/>
          <p:cNvPicPr>
            <a:picLocks noChangeAspect="1"/>
          </p:cNvPicPr>
          <p:nvPr/>
        </p:nvPicPr>
        <p:blipFill>
          <a:blip r:embed="rId2"/>
          <a:stretch>
            <a:fillRect/>
          </a:stretch>
        </p:blipFill>
        <p:spPr>
          <a:xfrm>
            <a:off x="457200" y="2538214"/>
            <a:ext cx="5486400" cy="3153172"/>
          </a:xfrm>
          <a:prstGeom prst="rect">
            <a:avLst/>
          </a:prstGeom>
        </p:spPr>
      </p:pic>
      <p:pic>
        <p:nvPicPr>
          <p:cNvPr id="6" name="Picture 5" descr="of3705_ven.png"/>
          <p:cNvPicPr>
            <a:picLocks noChangeAspect="1"/>
          </p:cNvPicPr>
          <p:nvPr/>
        </p:nvPicPr>
        <p:blipFill>
          <a:blip r:embed="rId3"/>
          <a:stretch>
            <a:fillRect/>
          </a:stretch>
        </p:blipFill>
        <p:spPr>
          <a:xfrm>
            <a:off x="6983835" y="1691640"/>
            <a:ext cx="404601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502920"/>
          </a:xfrm>
          <a:prstGeom prst="rect">
            <a:avLst/>
          </a:prstGeom>
          <a:noFill/>
        </p:spPr>
        <p:txBody>
          <a:bodyPr wrap="square" anchor="t" lIns="0" rIns="0" tIns="0" bIns="0">
            <a:spAutoFit/>
          </a:bodyPr>
          <a:lstStyle/>
          <a:p>
            <a:pPr algn="l"/>
            <a:r>
              <a:rPr sz="1600" b="1" i="0">
                <a:solidFill>
                  <a:srgbClr val="F2A341"/>
                </a:solidFill>
                <a:latin typeface="Calibri"/>
              </a:rPr>
              <a:t>Oferta #3638</a:t>
            </a:r>
          </a:p>
        </p:txBody>
      </p:sp>
      <p:sp>
        <p:nvSpPr>
          <p:cNvPr id="3" name="TextBox 2"/>
          <p:cNvSpPr txBox="1"/>
          <p:nvPr/>
        </p:nvSpPr>
        <p:spPr>
          <a:xfrm>
            <a:off x="548640" y="713232"/>
            <a:ext cx="9692640" cy="777240"/>
          </a:xfrm>
          <a:prstGeom prst="rect">
            <a:avLst/>
          </a:prstGeom>
          <a:noFill/>
        </p:spPr>
        <p:txBody>
          <a:bodyPr wrap="square" anchor="t" lIns="0" rIns="0" tIns="0" bIns="0">
            <a:spAutoFit/>
          </a:bodyPr>
          <a:lstStyle/>
          <a:p>
            <a:pPr algn="l"/>
            <a:r>
              <a:rPr sz="2300" b="1" i="0">
                <a:solidFill>
                  <a:srgbClr val="1E2761"/>
                </a:solidFill>
                <a:latin typeface="Georgia"/>
              </a:rPr>
              <a:t>Papel Higienico Familia Mediano 24/48 UND +1/4UND Papeles Familia de …</a:t>
            </a:r>
          </a:p>
        </p:txBody>
      </p:sp>
      <p:sp>
        <p:nvSpPr>
          <p:cNvPr id="4" name="TextBox 3"/>
          <p:cNvSpPr txBox="1"/>
          <p:nvPr/>
        </p:nvSpPr>
        <p:spPr>
          <a:xfrm>
            <a:off x="10058400" y="502920"/>
            <a:ext cx="1737360" cy="914400"/>
          </a:xfrm>
          <a:prstGeom prst="rect">
            <a:avLst/>
          </a:prstGeom>
          <a:noFill/>
        </p:spPr>
        <p:txBody>
          <a:bodyPr wrap="square" anchor="ctr" lIns="0" rIns="0" tIns="0" bIns="0">
            <a:spAutoFit/>
          </a:bodyPr>
          <a:lstStyle/>
          <a:p>
            <a:pPr algn="r"/>
            <a:r>
              <a:rPr sz="1600" b="1" i="0">
                <a:solidFill>
                  <a:srgbClr val="5B6FB8"/>
                </a:solidFill>
                <a:latin typeface="Calibri"/>
              </a:rPr>
              <a:t>169 clientes</a:t>
            </a:r>
          </a:p>
        </p:txBody>
      </p:sp>
      <p:pic>
        <p:nvPicPr>
          <p:cNvPr id="5" name="Picture 4" descr="of3638_sup.png"/>
          <p:cNvPicPr>
            <a:picLocks noChangeAspect="1"/>
          </p:cNvPicPr>
          <p:nvPr/>
        </p:nvPicPr>
        <p:blipFill>
          <a:blip r:embed="rId2"/>
          <a:stretch>
            <a:fillRect/>
          </a:stretch>
        </p:blipFill>
        <p:spPr>
          <a:xfrm>
            <a:off x="457200" y="2348300"/>
            <a:ext cx="5486400" cy="3533000"/>
          </a:xfrm>
          <a:prstGeom prst="rect">
            <a:avLst/>
          </a:prstGeom>
        </p:spPr>
      </p:pic>
      <p:pic>
        <p:nvPicPr>
          <p:cNvPr id="6" name="Picture 5" descr="of3638_ven.png"/>
          <p:cNvPicPr>
            <a:picLocks noChangeAspect="1"/>
          </p:cNvPicPr>
          <p:nvPr/>
        </p:nvPicPr>
        <p:blipFill>
          <a:blip r:embed="rId3"/>
          <a:stretch>
            <a:fillRect/>
          </a:stretch>
        </p:blipFill>
        <p:spPr>
          <a:xfrm>
            <a:off x="6983835" y="1691640"/>
            <a:ext cx="404601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640080"/>
          </a:xfrm>
          <a:prstGeom prst="rect">
            <a:avLst/>
          </a:prstGeom>
          <a:noFill/>
        </p:spPr>
        <p:txBody>
          <a:bodyPr wrap="square" anchor="t" lIns="0" rIns="0" tIns="0" bIns="0">
            <a:spAutoFit/>
          </a:bodyPr>
          <a:lstStyle/>
          <a:p>
            <a:pPr algn="l"/>
            <a:r>
              <a:rPr sz="2600" b="1" i="0">
                <a:solidFill>
                  <a:srgbClr val="1E2761"/>
                </a:solidFill>
                <a:latin typeface="Georgia"/>
              </a:rPr>
              <a:t>Detalle completo por oferta</a:t>
            </a:r>
          </a:p>
        </p:txBody>
      </p:sp>
      <p:graphicFrame>
        <p:nvGraphicFramePr>
          <p:cNvPr id="3" name="Table 2"/>
          <p:cNvGraphicFramePr>
            <a:graphicFrameLocks noGrp="1"/>
          </p:cNvGraphicFramePr>
          <p:nvPr/>
        </p:nvGraphicFramePr>
        <p:xfrm>
          <a:off x="548640" y="1143000"/>
          <a:ext cx="11064240" cy="5577840"/>
        </p:xfrm>
        <a:graphic>
          <a:graphicData uri="http://schemas.openxmlformats.org/drawingml/2006/table">
            <a:tbl>
              <a:tblPr firstRow="1" bandRow="1">
                <a:tableStyleId>{5C22544A-7EE6-4342-B048-85BDC9FD1C3A}</a:tableStyleId>
              </a:tblPr>
              <a:tblGrid>
                <a:gridCol w="822960"/>
                <a:gridCol w="7589520"/>
                <a:gridCol w="1371600"/>
                <a:gridCol w="1280160"/>
              </a:tblGrid>
              <a:tr h="150752">
                <a:tc>
                  <a:txBody>
                    <a:bodyPr/>
                    <a:lstStyle/>
                    <a:p>
                      <a:pPr algn="ctr"/>
                      <a:r>
                        <a:rPr sz="1100" b="1">
                          <a:solidFill>
                            <a:srgbClr val="FFFFFF"/>
                          </a:solidFill>
                        </a:rPr>
                        <a:t>#</a:t>
                      </a:r>
                    </a:p>
                  </a:txBody>
                  <a:tcPr>
                    <a:solidFill>
                      <a:srgbClr val="1E2761"/>
                    </a:solidFill>
                  </a:tcPr>
                </a:tc>
                <a:tc>
                  <a:txBody>
                    <a:bodyPr/>
                    <a:lstStyle/>
                    <a:p>
                      <a:pPr algn="l"/>
                      <a:r>
                        <a:rPr sz="1100" b="1">
                          <a:solidFill>
                            <a:srgbClr val="FFFFFF"/>
                          </a:solidFill>
                        </a:rPr>
                        <a:t>Oferta</a:t>
                      </a:r>
                    </a:p>
                  </a:txBody>
                  <a:tcPr>
                    <a:solidFill>
                      <a:srgbClr val="1E2761"/>
                    </a:solidFill>
                  </a:tcPr>
                </a:tc>
                <a:tc>
                  <a:txBody>
                    <a:bodyPr/>
                    <a:lstStyle/>
                    <a:p>
                      <a:pPr algn="ctr"/>
                      <a:r>
                        <a:rPr sz="1100" b="1">
                          <a:solidFill>
                            <a:srgbClr val="FFFFFF"/>
                          </a:solidFill>
                        </a:rPr>
                        <a:t>Clientes</a:t>
                      </a:r>
                    </a:p>
                  </a:txBody>
                  <a:tcPr>
                    <a:solidFill>
                      <a:srgbClr val="1E2761"/>
                    </a:solidFill>
                  </a:tcPr>
                </a:tc>
                <a:tc>
                  <a:txBody>
                    <a:bodyPr/>
                    <a:lstStyle/>
                    <a:p>
                      <a:pPr algn="ctr"/>
                      <a:r>
                        <a:rPr sz="1100" b="1">
                          <a:solidFill>
                            <a:srgbClr val="FFFFFF"/>
                          </a:solidFill>
                        </a:rPr>
                        <a:t>Pedidos</a:t>
                      </a:r>
                    </a:p>
                  </a:txBody>
                  <a:tcPr>
                    <a:solidFill>
                      <a:srgbClr val="1E2761"/>
                    </a:solidFill>
                  </a:tcPr>
                </a:tc>
              </a:tr>
              <a:tr h="150752">
                <a:tc>
                  <a:txBody>
                    <a:bodyPr/>
                    <a:lstStyle/>
                    <a:p>
                      <a:pPr algn="ctr"/>
                      <a:r>
                        <a:rPr sz="900">
                          <a:solidFill>
                            <a:srgbClr val="1F2433"/>
                          </a:solidFill>
                        </a:rPr>
                        <a:t>3647</a:t>
                      </a:r>
                    </a:p>
                  </a:txBody>
                  <a:tcPr marT="12700" marB="12700">
                    <a:solidFill>
                      <a:srgbClr val="F2F4FB"/>
                    </a:solidFill>
                  </a:tcPr>
                </a:tc>
                <a:tc>
                  <a:txBody>
                    <a:bodyPr/>
                    <a:lstStyle/>
                    <a:p>
                      <a:pPr algn="l"/>
                      <a:r>
                        <a:rPr sz="900">
                          <a:solidFill>
                            <a:srgbClr val="1F2433"/>
                          </a:solidFill>
                        </a:rPr>
                        <a:t>4 BBB Jumbo Fresa/Cherry/Clear + 1 PQ Tipitin Besos</a:t>
                      </a:r>
                    </a:p>
                  </a:txBody>
                  <a:tcPr marT="12700" marB="12700">
                    <a:solidFill>
                      <a:srgbClr val="F2F4FB"/>
                    </a:solidFill>
                  </a:tcPr>
                </a:tc>
                <a:tc>
                  <a:txBody>
                    <a:bodyPr/>
                    <a:lstStyle/>
                    <a:p>
                      <a:pPr algn="ctr"/>
                      <a:r>
                        <a:rPr sz="900">
                          <a:solidFill>
                            <a:srgbClr val="1F2433"/>
                          </a:solidFill>
                        </a:rPr>
                        <a:t>1175</a:t>
                      </a:r>
                    </a:p>
                  </a:txBody>
                  <a:tcPr marT="12700" marB="12700">
                    <a:solidFill>
                      <a:srgbClr val="F2F4FB"/>
                    </a:solidFill>
                  </a:tcPr>
                </a:tc>
                <a:tc>
                  <a:txBody>
                    <a:bodyPr/>
                    <a:lstStyle/>
                    <a:p>
                      <a:pPr algn="ctr"/>
                      <a:r>
                        <a:rPr sz="900">
                          <a:solidFill>
                            <a:srgbClr val="1F2433"/>
                          </a:solidFill>
                        </a:rPr>
                        <a:t>1246</a:t>
                      </a:r>
                    </a:p>
                  </a:txBody>
                  <a:tcPr marT="12700" marB="12700">
                    <a:solidFill>
                      <a:srgbClr val="F2F4FB"/>
                    </a:solidFill>
                  </a:tcPr>
                </a:tc>
              </a:tr>
              <a:tr h="150752">
                <a:tc>
                  <a:txBody>
                    <a:bodyPr/>
                    <a:lstStyle/>
                    <a:p>
                      <a:pPr algn="ctr"/>
                      <a:r>
                        <a:rPr sz="900">
                          <a:solidFill>
                            <a:srgbClr val="1F2433"/>
                          </a:solidFill>
                        </a:rPr>
                        <a:t>3649</a:t>
                      </a:r>
                    </a:p>
                  </a:txBody>
                  <a:tcPr marT="12700" marB="12700">
                    <a:solidFill>
                      <a:srgbClr val="FFFFFF"/>
                    </a:solidFill>
                  </a:tcPr>
                </a:tc>
                <a:tc>
                  <a:txBody>
                    <a:bodyPr/>
                    <a:lstStyle/>
                    <a:p>
                      <a:pPr algn="l"/>
                      <a:r>
                        <a:rPr sz="900">
                          <a:solidFill>
                            <a:srgbClr val="1F2433"/>
                          </a:solidFill>
                        </a:rPr>
                        <a:t>2 BBB Clear/Fresa + 1 Grissly Gamer</a:t>
                      </a:r>
                    </a:p>
                  </a:txBody>
                  <a:tcPr marT="12700" marB="12700">
                    <a:solidFill>
                      <a:srgbClr val="FFFFFF"/>
                    </a:solidFill>
                  </a:tcPr>
                </a:tc>
                <a:tc>
                  <a:txBody>
                    <a:bodyPr/>
                    <a:lstStyle/>
                    <a:p>
                      <a:pPr algn="ctr"/>
                      <a:r>
                        <a:rPr sz="900">
                          <a:solidFill>
                            <a:srgbClr val="1F2433"/>
                          </a:solidFill>
                        </a:rPr>
                        <a:t>1088</a:t>
                      </a:r>
                    </a:p>
                  </a:txBody>
                  <a:tcPr marT="12700" marB="12700">
                    <a:solidFill>
                      <a:srgbClr val="FFFFFF"/>
                    </a:solidFill>
                  </a:tcPr>
                </a:tc>
                <a:tc>
                  <a:txBody>
                    <a:bodyPr/>
                    <a:lstStyle/>
                    <a:p>
                      <a:pPr algn="ctr"/>
                      <a:r>
                        <a:rPr sz="900">
                          <a:solidFill>
                            <a:srgbClr val="1F2433"/>
                          </a:solidFill>
                        </a:rPr>
                        <a:t>1158</a:t>
                      </a:r>
                    </a:p>
                  </a:txBody>
                  <a:tcPr marT="12700" marB="12700">
                    <a:solidFill>
                      <a:srgbClr val="FFFFFF"/>
                    </a:solidFill>
                  </a:tcPr>
                </a:tc>
              </a:tr>
              <a:tr h="150752">
                <a:tc>
                  <a:txBody>
                    <a:bodyPr/>
                    <a:lstStyle/>
                    <a:p>
                      <a:pPr algn="ctr"/>
                      <a:r>
                        <a:rPr sz="900">
                          <a:solidFill>
                            <a:srgbClr val="1F2433"/>
                          </a:solidFill>
                        </a:rPr>
                        <a:t>3645</a:t>
                      </a:r>
                    </a:p>
                  </a:txBody>
                  <a:tcPr marT="12700" marB="12700">
                    <a:solidFill>
                      <a:srgbClr val="F2F4FB"/>
                    </a:solidFill>
                  </a:tcPr>
                </a:tc>
                <a:tc>
                  <a:txBody>
                    <a:bodyPr/>
                    <a:lstStyle/>
                    <a:p>
                      <a:pPr algn="l"/>
                      <a:r>
                        <a:rPr sz="900">
                          <a:solidFill>
                            <a:srgbClr val="1F2433"/>
                          </a:solidFill>
                        </a:rPr>
                        <a:t>3 Baygon 285 + gratis 1 Vela de Mosquito Baygon</a:t>
                      </a:r>
                    </a:p>
                  </a:txBody>
                  <a:tcPr marT="12700" marB="12700">
                    <a:solidFill>
                      <a:srgbClr val="F2F4FB"/>
                    </a:solidFill>
                  </a:tcPr>
                </a:tc>
                <a:tc>
                  <a:txBody>
                    <a:bodyPr/>
                    <a:lstStyle/>
                    <a:p>
                      <a:pPr algn="ctr"/>
                      <a:r>
                        <a:rPr sz="900">
                          <a:solidFill>
                            <a:srgbClr val="1F2433"/>
                          </a:solidFill>
                        </a:rPr>
                        <a:t>1078</a:t>
                      </a:r>
                    </a:p>
                  </a:txBody>
                  <a:tcPr marT="12700" marB="12700">
                    <a:solidFill>
                      <a:srgbClr val="F2F4FB"/>
                    </a:solidFill>
                  </a:tcPr>
                </a:tc>
                <a:tc>
                  <a:txBody>
                    <a:bodyPr/>
                    <a:lstStyle/>
                    <a:p>
                      <a:pPr algn="ctr"/>
                      <a:r>
                        <a:rPr sz="900">
                          <a:solidFill>
                            <a:srgbClr val="1F2433"/>
                          </a:solidFill>
                        </a:rPr>
                        <a:t>1104</a:t>
                      </a:r>
                    </a:p>
                  </a:txBody>
                  <a:tcPr marT="12700" marB="12700">
                    <a:solidFill>
                      <a:srgbClr val="F2F4FB"/>
                    </a:solidFill>
                  </a:tcPr>
                </a:tc>
              </a:tr>
              <a:tr h="150752">
                <a:tc>
                  <a:txBody>
                    <a:bodyPr/>
                    <a:lstStyle/>
                    <a:p>
                      <a:pPr algn="ctr"/>
                      <a:r>
                        <a:rPr sz="900">
                          <a:solidFill>
                            <a:srgbClr val="1F2433"/>
                          </a:solidFill>
                        </a:rPr>
                        <a:t>3641</a:t>
                      </a:r>
                    </a:p>
                  </a:txBody>
                  <a:tcPr marT="12700" marB="12700">
                    <a:solidFill>
                      <a:srgbClr val="FFFFFF"/>
                    </a:solidFill>
                  </a:tcPr>
                </a:tc>
                <a:tc>
                  <a:txBody>
                    <a:bodyPr/>
                    <a:lstStyle/>
                    <a:p>
                      <a:pPr algn="l"/>
                      <a:r>
                        <a:rPr sz="900">
                          <a:solidFill>
                            <a:srgbClr val="1F2433"/>
                          </a:solidFill>
                        </a:rPr>
                        <a:t>Agua Crystal 8+1/20+3/100+16/120+20/250+45</a:t>
                      </a:r>
                    </a:p>
                  </a:txBody>
                  <a:tcPr marT="12700" marB="12700">
                    <a:solidFill>
                      <a:srgbClr val="FFFFFF"/>
                    </a:solidFill>
                  </a:tcPr>
                </a:tc>
                <a:tc>
                  <a:txBody>
                    <a:bodyPr/>
                    <a:lstStyle/>
                    <a:p>
                      <a:pPr algn="ctr"/>
                      <a:r>
                        <a:rPr sz="900">
                          <a:solidFill>
                            <a:srgbClr val="1F2433"/>
                          </a:solidFill>
                        </a:rPr>
                        <a:t>776</a:t>
                      </a:r>
                    </a:p>
                  </a:txBody>
                  <a:tcPr marT="12700" marB="12700">
                    <a:solidFill>
                      <a:srgbClr val="FFFFFF"/>
                    </a:solidFill>
                  </a:tcPr>
                </a:tc>
                <a:tc>
                  <a:txBody>
                    <a:bodyPr/>
                    <a:lstStyle/>
                    <a:p>
                      <a:pPr algn="ctr"/>
                      <a:r>
                        <a:rPr sz="900">
                          <a:solidFill>
                            <a:srgbClr val="1F2433"/>
                          </a:solidFill>
                        </a:rPr>
                        <a:t>943</a:t>
                      </a:r>
                    </a:p>
                  </a:txBody>
                  <a:tcPr marT="12700" marB="12700">
                    <a:solidFill>
                      <a:srgbClr val="FFFFFF"/>
                    </a:solidFill>
                  </a:tcPr>
                </a:tc>
              </a:tr>
              <a:tr h="150752">
                <a:tc>
                  <a:txBody>
                    <a:bodyPr/>
                    <a:lstStyle/>
                    <a:p>
                      <a:pPr algn="ctr"/>
                      <a:r>
                        <a:rPr sz="900">
                          <a:solidFill>
                            <a:srgbClr val="1F2433"/>
                          </a:solidFill>
                        </a:rPr>
                        <a:t>3651</a:t>
                      </a:r>
                    </a:p>
                  </a:txBody>
                  <a:tcPr marT="12700" marB="12700">
                    <a:solidFill>
                      <a:srgbClr val="F2F4FB"/>
                    </a:solidFill>
                  </a:tcPr>
                </a:tc>
                <a:tc>
                  <a:txBody>
                    <a:bodyPr/>
                    <a:lstStyle/>
                    <a:p>
                      <a:pPr algn="l"/>
                      <a:r>
                        <a:rPr sz="900">
                          <a:solidFill>
                            <a:srgbClr val="1F2433"/>
                          </a:solidFill>
                        </a:rPr>
                        <a:t>Combo 2BBB cherry y STDO + BOMBONERA de oferta</a:t>
                      </a:r>
                    </a:p>
                  </a:txBody>
                  <a:tcPr marT="12700" marB="12700">
                    <a:solidFill>
                      <a:srgbClr val="F2F4FB"/>
                    </a:solidFill>
                  </a:tcPr>
                </a:tc>
                <a:tc>
                  <a:txBody>
                    <a:bodyPr/>
                    <a:lstStyle/>
                    <a:p>
                      <a:pPr algn="ctr"/>
                      <a:r>
                        <a:rPr sz="900">
                          <a:solidFill>
                            <a:srgbClr val="1F2433"/>
                          </a:solidFill>
                        </a:rPr>
                        <a:t>664</a:t>
                      </a:r>
                    </a:p>
                  </a:txBody>
                  <a:tcPr marT="12700" marB="12700">
                    <a:solidFill>
                      <a:srgbClr val="F2F4FB"/>
                    </a:solidFill>
                  </a:tcPr>
                </a:tc>
                <a:tc>
                  <a:txBody>
                    <a:bodyPr/>
                    <a:lstStyle/>
                    <a:p>
                      <a:pPr algn="ctr"/>
                      <a:r>
                        <a:rPr sz="900">
                          <a:solidFill>
                            <a:srgbClr val="1F2433"/>
                          </a:solidFill>
                        </a:rPr>
                        <a:t>671</a:t>
                      </a:r>
                    </a:p>
                  </a:txBody>
                  <a:tcPr marT="12700" marB="12700">
                    <a:solidFill>
                      <a:srgbClr val="F2F4FB"/>
                    </a:solidFill>
                  </a:tcPr>
                </a:tc>
              </a:tr>
              <a:tr h="150752">
                <a:tc>
                  <a:txBody>
                    <a:bodyPr/>
                    <a:lstStyle/>
                    <a:p>
                      <a:pPr algn="ctr"/>
                      <a:r>
                        <a:rPr sz="900">
                          <a:solidFill>
                            <a:srgbClr val="1F2433"/>
                          </a:solidFill>
                        </a:rPr>
                        <a:t>3646</a:t>
                      </a:r>
                    </a:p>
                  </a:txBody>
                  <a:tcPr marT="12700" marB="12700">
                    <a:solidFill>
                      <a:srgbClr val="FFFFFF"/>
                    </a:solidFill>
                  </a:tcPr>
                </a:tc>
                <a:tc>
                  <a:txBody>
                    <a:bodyPr/>
                    <a:lstStyle/>
                    <a:p>
                      <a:pPr algn="l"/>
                      <a:r>
                        <a:rPr sz="900">
                          <a:solidFill>
                            <a:srgbClr val="1F2433"/>
                          </a:solidFill>
                        </a:rPr>
                        <a:t>Goma Grissly  de 80gr 12 + 1Grissly Gamer</a:t>
                      </a:r>
                    </a:p>
                  </a:txBody>
                  <a:tcPr marT="12700" marB="12700">
                    <a:solidFill>
                      <a:srgbClr val="FFFFFF"/>
                    </a:solidFill>
                  </a:tcPr>
                </a:tc>
                <a:tc>
                  <a:txBody>
                    <a:bodyPr/>
                    <a:lstStyle/>
                    <a:p>
                      <a:pPr algn="ctr"/>
                      <a:r>
                        <a:rPr sz="900">
                          <a:solidFill>
                            <a:srgbClr val="1F2433"/>
                          </a:solidFill>
                        </a:rPr>
                        <a:t>569</a:t>
                      </a:r>
                    </a:p>
                  </a:txBody>
                  <a:tcPr marT="12700" marB="12700">
                    <a:solidFill>
                      <a:srgbClr val="FFFFFF"/>
                    </a:solidFill>
                  </a:tcPr>
                </a:tc>
                <a:tc>
                  <a:txBody>
                    <a:bodyPr/>
                    <a:lstStyle/>
                    <a:p>
                      <a:pPr algn="ctr"/>
                      <a:r>
                        <a:rPr sz="900">
                          <a:solidFill>
                            <a:srgbClr val="1F2433"/>
                          </a:solidFill>
                        </a:rPr>
                        <a:t>661</a:t>
                      </a:r>
                    </a:p>
                  </a:txBody>
                  <a:tcPr marT="12700" marB="12700">
                    <a:solidFill>
                      <a:srgbClr val="FFFFFF"/>
                    </a:solidFill>
                  </a:tcPr>
                </a:tc>
              </a:tr>
              <a:tr h="150752">
                <a:tc>
                  <a:txBody>
                    <a:bodyPr/>
                    <a:lstStyle/>
                    <a:p>
                      <a:pPr algn="ctr"/>
                      <a:r>
                        <a:rPr sz="900">
                          <a:solidFill>
                            <a:srgbClr val="1F2433"/>
                          </a:solidFill>
                        </a:rPr>
                        <a:t>3648</a:t>
                      </a:r>
                    </a:p>
                  </a:txBody>
                  <a:tcPr marT="12700" marB="12700">
                    <a:solidFill>
                      <a:srgbClr val="F2F4FB"/>
                    </a:solidFill>
                  </a:tcPr>
                </a:tc>
                <a:tc>
                  <a:txBody>
                    <a:bodyPr/>
                    <a:lstStyle/>
                    <a:p>
                      <a:pPr algn="l"/>
                      <a:r>
                        <a:rPr sz="900">
                          <a:solidFill>
                            <a:srgbClr val="1F2433"/>
                          </a:solidFill>
                        </a:rPr>
                        <a:t>6 PQ De Mentas Coffee/Mango/Sandia/Choco Mani/Xtime…</a:t>
                      </a:r>
                    </a:p>
                  </a:txBody>
                  <a:tcPr marT="12700" marB="12700">
                    <a:solidFill>
                      <a:srgbClr val="F2F4FB"/>
                    </a:solidFill>
                  </a:tcPr>
                </a:tc>
                <a:tc>
                  <a:txBody>
                    <a:bodyPr/>
                    <a:lstStyle/>
                    <a:p>
                      <a:pPr algn="ctr"/>
                      <a:r>
                        <a:rPr sz="900">
                          <a:solidFill>
                            <a:srgbClr val="1F2433"/>
                          </a:solidFill>
                        </a:rPr>
                        <a:t>432</a:t>
                      </a:r>
                    </a:p>
                  </a:txBody>
                  <a:tcPr marT="12700" marB="12700">
                    <a:solidFill>
                      <a:srgbClr val="F2F4FB"/>
                    </a:solidFill>
                  </a:tcPr>
                </a:tc>
                <a:tc>
                  <a:txBody>
                    <a:bodyPr/>
                    <a:lstStyle/>
                    <a:p>
                      <a:pPr algn="ctr"/>
                      <a:r>
                        <a:rPr sz="900">
                          <a:solidFill>
                            <a:srgbClr val="1F2433"/>
                          </a:solidFill>
                        </a:rPr>
                        <a:t>454</a:t>
                      </a:r>
                    </a:p>
                  </a:txBody>
                  <a:tcPr marT="12700" marB="12700">
                    <a:solidFill>
                      <a:srgbClr val="F2F4FB"/>
                    </a:solidFill>
                  </a:tcPr>
                </a:tc>
              </a:tr>
              <a:tr h="150752">
                <a:tc>
                  <a:txBody>
                    <a:bodyPr/>
                    <a:lstStyle/>
                    <a:p>
                      <a:pPr algn="ctr"/>
                      <a:r>
                        <a:rPr sz="900">
                          <a:solidFill>
                            <a:srgbClr val="1F2433"/>
                          </a:solidFill>
                        </a:rPr>
                        <a:t>3692</a:t>
                      </a:r>
                    </a:p>
                  </a:txBody>
                  <a:tcPr marT="12700" marB="12700">
                    <a:solidFill>
                      <a:srgbClr val="FFFFFF"/>
                    </a:solidFill>
                  </a:tcPr>
                </a:tc>
                <a:tc>
                  <a:txBody>
                    <a:bodyPr/>
                    <a:lstStyle/>
                    <a:p>
                      <a:pPr algn="l"/>
                      <a:r>
                        <a:rPr sz="900">
                          <a:solidFill>
                            <a:srgbClr val="1F2433"/>
                          </a:solidFill>
                        </a:rPr>
                        <a:t>Paños Húmedos Pequeñín Aloe 12x(4x24) 2</a:t>
                      </a:r>
                    </a:p>
                  </a:txBody>
                  <a:tcPr marT="12700" marB="12700">
                    <a:solidFill>
                      <a:srgbClr val="FFFFFF"/>
                    </a:solidFill>
                  </a:tcPr>
                </a:tc>
                <a:tc>
                  <a:txBody>
                    <a:bodyPr/>
                    <a:lstStyle/>
                    <a:p>
                      <a:pPr algn="ctr"/>
                      <a:r>
                        <a:rPr sz="900">
                          <a:solidFill>
                            <a:srgbClr val="1F2433"/>
                          </a:solidFill>
                        </a:rPr>
                        <a:t>364</a:t>
                      </a:r>
                    </a:p>
                  </a:txBody>
                  <a:tcPr marT="12700" marB="12700">
                    <a:solidFill>
                      <a:srgbClr val="FFFFFF"/>
                    </a:solidFill>
                  </a:tcPr>
                </a:tc>
                <a:tc>
                  <a:txBody>
                    <a:bodyPr/>
                    <a:lstStyle/>
                    <a:p>
                      <a:pPr algn="ctr"/>
                      <a:r>
                        <a:rPr sz="900">
                          <a:solidFill>
                            <a:srgbClr val="1F2433"/>
                          </a:solidFill>
                        </a:rPr>
                        <a:t>364</a:t>
                      </a:r>
                    </a:p>
                  </a:txBody>
                  <a:tcPr marT="12700" marB="12700">
                    <a:solidFill>
                      <a:srgbClr val="FFFFFF"/>
                    </a:solidFill>
                  </a:tcPr>
                </a:tc>
              </a:tr>
              <a:tr h="150752">
                <a:tc>
                  <a:txBody>
                    <a:bodyPr/>
                    <a:lstStyle/>
                    <a:p>
                      <a:pPr algn="ctr"/>
                      <a:r>
                        <a:rPr sz="900">
                          <a:solidFill>
                            <a:srgbClr val="1F2433"/>
                          </a:solidFill>
                        </a:rPr>
                        <a:t>3639</a:t>
                      </a:r>
                    </a:p>
                  </a:txBody>
                  <a:tcPr marT="12700" marB="12700">
                    <a:solidFill>
                      <a:srgbClr val="F2F4FB"/>
                    </a:solidFill>
                  </a:tcPr>
                </a:tc>
                <a:tc>
                  <a:txBody>
                    <a:bodyPr/>
                    <a:lstStyle/>
                    <a:p>
                      <a:pPr algn="l"/>
                      <a:r>
                        <a:rPr sz="900">
                          <a:solidFill>
                            <a:srgbClr val="1F2433"/>
                          </a:solidFill>
                        </a:rPr>
                        <a:t>1 Ganchera Aloe +2 UND De Aloe Natural 100x10 Sur</a:t>
                      </a:r>
                    </a:p>
                  </a:txBody>
                  <a:tcPr marT="12700" marB="12700">
                    <a:solidFill>
                      <a:srgbClr val="F2F4FB"/>
                    </a:solidFill>
                  </a:tcPr>
                </a:tc>
                <a:tc>
                  <a:txBody>
                    <a:bodyPr/>
                    <a:lstStyle/>
                    <a:p>
                      <a:pPr algn="ctr"/>
                      <a:r>
                        <a:rPr sz="900">
                          <a:solidFill>
                            <a:srgbClr val="1F2433"/>
                          </a:solidFill>
                        </a:rPr>
                        <a:t>267</a:t>
                      </a:r>
                    </a:p>
                  </a:txBody>
                  <a:tcPr marT="12700" marB="12700">
                    <a:solidFill>
                      <a:srgbClr val="F2F4FB"/>
                    </a:solidFill>
                  </a:tcPr>
                </a:tc>
                <a:tc>
                  <a:txBody>
                    <a:bodyPr/>
                    <a:lstStyle/>
                    <a:p>
                      <a:pPr algn="ctr"/>
                      <a:r>
                        <a:rPr sz="900">
                          <a:solidFill>
                            <a:srgbClr val="1F2433"/>
                          </a:solidFill>
                        </a:rPr>
                        <a:t>283</a:t>
                      </a:r>
                    </a:p>
                  </a:txBody>
                  <a:tcPr marT="12700" marB="12700">
                    <a:solidFill>
                      <a:srgbClr val="F2F4FB"/>
                    </a:solidFill>
                  </a:tcPr>
                </a:tc>
              </a:tr>
              <a:tr h="150752">
                <a:tc>
                  <a:txBody>
                    <a:bodyPr/>
                    <a:lstStyle/>
                    <a:p>
                      <a:pPr algn="ctr"/>
                      <a:r>
                        <a:rPr sz="900">
                          <a:solidFill>
                            <a:srgbClr val="1F2433"/>
                          </a:solidFill>
                        </a:rPr>
                        <a:t>3643</a:t>
                      </a:r>
                    </a:p>
                  </a:txBody>
                  <a:tcPr marT="12700" marB="12700">
                    <a:solidFill>
                      <a:srgbClr val="FFFFFF"/>
                    </a:solidFill>
                  </a:tcPr>
                </a:tc>
                <a:tc>
                  <a:txBody>
                    <a:bodyPr/>
                    <a:lstStyle/>
                    <a:p>
                      <a:pPr algn="l"/>
                      <a:r>
                        <a:rPr sz="900">
                          <a:solidFill>
                            <a:srgbClr val="1F2433"/>
                          </a:solidFill>
                        </a:rPr>
                        <a:t>Ultrex 200gr 12+3</a:t>
                      </a:r>
                    </a:p>
                  </a:txBody>
                  <a:tcPr marT="12700" marB="12700">
                    <a:solidFill>
                      <a:srgbClr val="FFFFFF"/>
                    </a:solidFill>
                  </a:tcPr>
                </a:tc>
                <a:tc>
                  <a:txBody>
                    <a:bodyPr/>
                    <a:lstStyle/>
                    <a:p>
                      <a:pPr algn="ctr"/>
                      <a:r>
                        <a:rPr sz="900">
                          <a:solidFill>
                            <a:srgbClr val="1F2433"/>
                          </a:solidFill>
                        </a:rPr>
                        <a:t>220</a:t>
                      </a:r>
                    </a:p>
                  </a:txBody>
                  <a:tcPr marT="12700" marB="12700">
                    <a:solidFill>
                      <a:srgbClr val="FFFFFF"/>
                    </a:solidFill>
                  </a:tcPr>
                </a:tc>
                <a:tc>
                  <a:txBody>
                    <a:bodyPr/>
                    <a:lstStyle/>
                    <a:p>
                      <a:pPr algn="ctr"/>
                      <a:r>
                        <a:rPr sz="900">
                          <a:solidFill>
                            <a:srgbClr val="1F2433"/>
                          </a:solidFill>
                        </a:rPr>
                        <a:t>244</a:t>
                      </a:r>
                    </a:p>
                  </a:txBody>
                  <a:tcPr marT="12700" marB="12700">
                    <a:solidFill>
                      <a:srgbClr val="FFFFFF"/>
                    </a:solidFill>
                  </a:tcPr>
                </a:tc>
              </a:tr>
              <a:tr h="150752">
                <a:tc>
                  <a:txBody>
                    <a:bodyPr/>
                    <a:lstStyle/>
                    <a:p>
                      <a:pPr algn="ctr"/>
                      <a:r>
                        <a:rPr sz="900">
                          <a:solidFill>
                            <a:srgbClr val="1F2433"/>
                          </a:solidFill>
                        </a:rPr>
                        <a:t>3705</a:t>
                      </a:r>
                    </a:p>
                  </a:txBody>
                  <a:tcPr marT="12700" marB="12700">
                    <a:solidFill>
                      <a:srgbClr val="F2F4FB"/>
                    </a:solidFill>
                  </a:tcPr>
                </a:tc>
                <a:tc>
                  <a:txBody>
                    <a:bodyPr/>
                    <a:lstStyle/>
                    <a:p>
                      <a:pPr algn="l"/>
                      <a:r>
                        <a:rPr sz="900">
                          <a:solidFill>
                            <a:srgbClr val="1F2433"/>
                          </a:solidFill>
                        </a:rPr>
                        <a:t>12 Atun Dimar + 1 UND OFERTA</a:t>
                      </a:r>
                    </a:p>
                  </a:txBody>
                  <a:tcPr marT="12700" marB="12700">
                    <a:solidFill>
                      <a:srgbClr val="F2F4FB"/>
                    </a:solidFill>
                  </a:tcPr>
                </a:tc>
                <a:tc>
                  <a:txBody>
                    <a:bodyPr/>
                    <a:lstStyle/>
                    <a:p>
                      <a:pPr algn="ctr"/>
                      <a:r>
                        <a:rPr sz="900">
                          <a:solidFill>
                            <a:srgbClr val="1F2433"/>
                          </a:solidFill>
                        </a:rPr>
                        <a:t>192</a:t>
                      </a:r>
                    </a:p>
                  </a:txBody>
                  <a:tcPr marT="12700" marB="12700">
                    <a:solidFill>
                      <a:srgbClr val="F2F4FB"/>
                    </a:solidFill>
                  </a:tcPr>
                </a:tc>
                <a:tc>
                  <a:txBody>
                    <a:bodyPr/>
                    <a:lstStyle/>
                    <a:p>
                      <a:pPr algn="ctr"/>
                      <a:r>
                        <a:rPr sz="900">
                          <a:solidFill>
                            <a:srgbClr val="1F2433"/>
                          </a:solidFill>
                        </a:rPr>
                        <a:t>192</a:t>
                      </a:r>
                    </a:p>
                  </a:txBody>
                  <a:tcPr marT="12700" marB="12700">
                    <a:solidFill>
                      <a:srgbClr val="F2F4FB"/>
                    </a:solidFill>
                  </a:tcPr>
                </a:tc>
              </a:tr>
              <a:tr h="150752">
                <a:tc>
                  <a:txBody>
                    <a:bodyPr/>
                    <a:lstStyle/>
                    <a:p>
                      <a:pPr algn="ctr"/>
                      <a:r>
                        <a:rPr sz="900">
                          <a:solidFill>
                            <a:srgbClr val="1F2433"/>
                          </a:solidFill>
                        </a:rPr>
                        <a:t>3638</a:t>
                      </a:r>
                    </a:p>
                  </a:txBody>
                  <a:tcPr marT="12700" marB="12700">
                    <a:solidFill>
                      <a:srgbClr val="FFFFFF"/>
                    </a:solidFill>
                  </a:tcPr>
                </a:tc>
                <a:tc>
                  <a:txBody>
                    <a:bodyPr/>
                    <a:lstStyle/>
                    <a:p>
                      <a:pPr algn="l"/>
                      <a:r>
                        <a:rPr sz="900">
                          <a:solidFill>
                            <a:srgbClr val="1F2433"/>
                          </a:solidFill>
                        </a:rPr>
                        <a:t>Papel Higienico Familia Mediano 24/48 UND +1/4UND P…</a:t>
                      </a:r>
                    </a:p>
                  </a:txBody>
                  <a:tcPr marT="12700" marB="12700">
                    <a:solidFill>
                      <a:srgbClr val="FFFFFF"/>
                    </a:solidFill>
                  </a:tcPr>
                </a:tc>
                <a:tc>
                  <a:txBody>
                    <a:bodyPr/>
                    <a:lstStyle/>
                    <a:p>
                      <a:pPr algn="ctr"/>
                      <a:r>
                        <a:rPr sz="900">
                          <a:solidFill>
                            <a:srgbClr val="1F2433"/>
                          </a:solidFill>
                        </a:rPr>
                        <a:t>169</a:t>
                      </a:r>
                    </a:p>
                  </a:txBody>
                  <a:tcPr marT="12700" marB="12700">
                    <a:solidFill>
                      <a:srgbClr val="FFFFFF"/>
                    </a:solidFill>
                  </a:tcPr>
                </a:tc>
                <a:tc>
                  <a:txBody>
                    <a:bodyPr/>
                    <a:lstStyle/>
                    <a:p>
                      <a:pPr algn="ctr"/>
                      <a:r>
                        <a:rPr sz="900">
                          <a:solidFill>
                            <a:srgbClr val="1F2433"/>
                          </a:solidFill>
                        </a:rPr>
                        <a:t>178</a:t>
                      </a:r>
                    </a:p>
                  </a:txBody>
                  <a:tcPr marT="12700" marB="12700">
                    <a:solidFill>
                      <a:srgbClr val="FFFFFF"/>
                    </a:solidFill>
                  </a:tcPr>
                </a:tc>
              </a:tr>
              <a:tr h="150752">
                <a:tc>
                  <a:txBody>
                    <a:bodyPr/>
                    <a:lstStyle/>
                    <a:p>
                      <a:pPr algn="ctr"/>
                      <a:r>
                        <a:rPr sz="900">
                          <a:solidFill>
                            <a:srgbClr val="1F2433"/>
                          </a:solidFill>
                        </a:rPr>
                        <a:t>3644</a:t>
                      </a:r>
                    </a:p>
                  </a:txBody>
                  <a:tcPr marT="12700" marB="12700">
                    <a:solidFill>
                      <a:srgbClr val="F2F4FB"/>
                    </a:solidFill>
                  </a:tcPr>
                </a:tc>
                <a:tc>
                  <a:txBody>
                    <a:bodyPr/>
                    <a:lstStyle/>
                    <a:p>
                      <a:pPr algn="l"/>
                      <a:r>
                        <a:rPr sz="900">
                          <a:solidFill>
                            <a:srgbClr val="1F2433"/>
                          </a:solidFill>
                        </a:rPr>
                        <a:t>Ultrex 100GR 12+2</a:t>
                      </a:r>
                    </a:p>
                  </a:txBody>
                  <a:tcPr marT="12700" marB="12700">
                    <a:solidFill>
                      <a:srgbClr val="F2F4FB"/>
                    </a:solidFill>
                  </a:tcPr>
                </a:tc>
                <a:tc>
                  <a:txBody>
                    <a:bodyPr/>
                    <a:lstStyle/>
                    <a:p>
                      <a:pPr algn="ctr"/>
                      <a:r>
                        <a:rPr sz="900">
                          <a:solidFill>
                            <a:srgbClr val="1F2433"/>
                          </a:solidFill>
                        </a:rPr>
                        <a:t>165</a:t>
                      </a:r>
                    </a:p>
                  </a:txBody>
                  <a:tcPr marT="12700" marB="12700">
                    <a:solidFill>
                      <a:srgbClr val="F2F4FB"/>
                    </a:solidFill>
                  </a:tcPr>
                </a:tc>
                <a:tc>
                  <a:txBody>
                    <a:bodyPr/>
                    <a:lstStyle/>
                    <a:p>
                      <a:pPr algn="ctr"/>
                      <a:r>
                        <a:rPr sz="900">
                          <a:solidFill>
                            <a:srgbClr val="1F2433"/>
                          </a:solidFill>
                        </a:rPr>
                        <a:t>188</a:t>
                      </a:r>
                    </a:p>
                  </a:txBody>
                  <a:tcPr marT="12700" marB="12700">
                    <a:solidFill>
                      <a:srgbClr val="F2F4FB"/>
                    </a:solidFill>
                  </a:tcPr>
                </a:tc>
              </a:tr>
              <a:tr h="150752">
                <a:tc>
                  <a:txBody>
                    <a:bodyPr/>
                    <a:lstStyle/>
                    <a:p>
                      <a:pPr algn="ctr"/>
                      <a:r>
                        <a:rPr sz="900">
                          <a:solidFill>
                            <a:srgbClr val="1F2433"/>
                          </a:solidFill>
                        </a:rPr>
                        <a:t>3667</a:t>
                      </a:r>
                    </a:p>
                  </a:txBody>
                  <a:tcPr marT="12700" marB="12700">
                    <a:solidFill>
                      <a:srgbClr val="FFFFFF"/>
                    </a:solidFill>
                  </a:tcPr>
                </a:tc>
                <a:tc>
                  <a:txBody>
                    <a:bodyPr/>
                    <a:lstStyle/>
                    <a:p>
                      <a:pPr algn="l"/>
                      <a:r>
                        <a:rPr sz="900">
                          <a:solidFill>
                            <a:srgbClr val="1F2433"/>
                          </a:solidFill>
                        </a:rPr>
                        <a:t>1 FAMILIA AROMA 48+ 8 DE OFERTA</a:t>
                      </a:r>
                    </a:p>
                  </a:txBody>
                  <a:tcPr marT="12700" marB="12700">
                    <a:solidFill>
                      <a:srgbClr val="FFFFFF"/>
                    </a:solidFill>
                  </a:tcPr>
                </a:tc>
                <a:tc>
                  <a:txBody>
                    <a:bodyPr/>
                    <a:lstStyle/>
                    <a:p>
                      <a:pPr algn="ctr"/>
                      <a:r>
                        <a:rPr sz="900">
                          <a:solidFill>
                            <a:srgbClr val="1F2433"/>
                          </a:solidFill>
                        </a:rPr>
                        <a:t>155</a:t>
                      </a:r>
                    </a:p>
                  </a:txBody>
                  <a:tcPr marT="12700" marB="12700">
                    <a:solidFill>
                      <a:srgbClr val="FFFFFF"/>
                    </a:solidFill>
                  </a:tcPr>
                </a:tc>
                <a:tc>
                  <a:txBody>
                    <a:bodyPr/>
                    <a:lstStyle/>
                    <a:p>
                      <a:pPr algn="ctr"/>
                      <a:r>
                        <a:rPr sz="900">
                          <a:solidFill>
                            <a:srgbClr val="1F2433"/>
                          </a:solidFill>
                        </a:rPr>
                        <a:t>156</a:t>
                      </a:r>
                    </a:p>
                  </a:txBody>
                  <a:tcPr marT="12700" marB="12700">
                    <a:solidFill>
                      <a:srgbClr val="FFFFFF"/>
                    </a:solidFill>
                  </a:tcPr>
                </a:tc>
              </a:tr>
              <a:tr h="150752">
                <a:tc>
                  <a:txBody>
                    <a:bodyPr/>
                    <a:lstStyle/>
                    <a:p>
                      <a:pPr algn="ctr"/>
                      <a:r>
                        <a:rPr sz="900">
                          <a:solidFill>
                            <a:srgbClr val="1F2433"/>
                          </a:solidFill>
                        </a:rPr>
                        <a:t>3698</a:t>
                      </a:r>
                    </a:p>
                  </a:txBody>
                  <a:tcPr marT="12700" marB="12700">
                    <a:solidFill>
                      <a:srgbClr val="F2F4FB"/>
                    </a:solidFill>
                  </a:tcPr>
                </a:tc>
                <a:tc>
                  <a:txBody>
                    <a:bodyPr/>
                    <a:lstStyle/>
                    <a:p>
                      <a:pPr algn="l"/>
                      <a:r>
                        <a:rPr sz="900">
                          <a:solidFill>
                            <a:srgbClr val="1F2433"/>
                          </a:solidFill>
                        </a:rPr>
                        <a:t>Combos 4 Toallas Nosotras+ 1 DIA Y NOCHE DE OFERTA</a:t>
                      </a:r>
                    </a:p>
                  </a:txBody>
                  <a:tcPr marT="12700" marB="12700">
                    <a:solidFill>
                      <a:srgbClr val="F2F4FB"/>
                    </a:solidFill>
                  </a:tcPr>
                </a:tc>
                <a:tc>
                  <a:txBody>
                    <a:bodyPr/>
                    <a:lstStyle/>
                    <a:p>
                      <a:pPr algn="ctr"/>
                      <a:r>
                        <a:rPr sz="900">
                          <a:solidFill>
                            <a:srgbClr val="1F2433"/>
                          </a:solidFill>
                        </a:rPr>
                        <a:t>155</a:t>
                      </a:r>
                    </a:p>
                  </a:txBody>
                  <a:tcPr marT="12700" marB="12700">
                    <a:solidFill>
                      <a:srgbClr val="F2F4FB"/>
                    </a:solidFill>
                  </a:tcPr>
                </a:tc>
                <a:tc>
                  <a:txBody>
                    <a:bodyPr/>
                    <a:lstStyle/>
                    <a:p>
                      <a:pPr algn="ctr"/>
                      <a:r>
                        <a:rPr sz="900">
                          <a:solidFill>
                            <a:srgbClr val="1F2433"/>
                          </a:solidFill>
                        </a:rPr>
                        <a:t>155</a:t>
                      </a:r>
                    </a:p>
                  </a:txBody>
                  <a:tcPr marT="12700" marB="12700">
                    <a:solidFill>
                      <a:srgbClr val="F2F4FB"/>
                    </a:solidFill>
                  </a:tcPr>
                </a:tc>
              </a:tr>
              <a:tr h="150752">
                <a:tc>
                  <a:txBody>
                    <a:bodyPr/>
                    <a:lstStyle/>
                    <a:p>
                      <a:pPr algn="ctr"/>
                      <a:r>
                        <a:rPr sz="900">
                          <a:solidFill>
                            <a:srgbClr val="1F2433"/>
                          </a:solidFill>
                        </a:rPr>
                        <a:t>3642</a:t>
                      </a:r>
                    </a:p>
                  </a:txBody>
                  <a:tcPr marT="12700" marB="12700">
                    <a:solidFill>
                      <a:srgbClr val="FFFFFF"/>
                    </a:solidFill>
                  </a:tcPr>
                </a:tc>
                <a:tc>
                  <a:txBody>
                    <a:bodyPr/>
                    <a:lstStyle/>
                    <a:p>
                      <a:pPr algn="l"/>
                      <a:r>
                        <a:rPr sz="900">
                          <a:solidFill>
                            <a:srgbClr val="1F2433"/>
                          </a:solidFill>
                        </a:rPr>
                        <a:t>BAY RUM 12+1</a:t>
                      </a:r>
                    </a:p>
                  </a:txBody>
                  <a:tcPr marT="12700" marB="12700">
                    <a:solidFill>
                      <a:srgbClr val="FFFFFF"/>
                    </a:solidFill>
                  </a:tcPr>
                </a:tc>
                <a:tc>
                  <a:txBody>
                    <a:bodyPr/>
                    <a:lstStyle/>
                    <a:p>
                      <a:pPr algn="ctr"/>
                      <a:r>
                        <a:rPr sz="900">
                          <a:solidFill>
                            <a:srgbClr val="1F2433"/>
                          </a:solidFill>
                        </a:rPr>
                        <a:t>121</a:t>
                      </a:r>
                    </a:p>
                  </a:txBody>
                  <a:tcPr marT="12700" marB="12700">
                    <a:solidFill>
                      <a:srgbClr val="FFFFFF"/>
                    </a:solidFill>
                  </a:tcPr>
                </a:tc>
                <a:tc>
                  <a:txBody>
                    <a:bodyPr/>
                    <a:lstStyle/>
                    <a:p>
                      <a:pPr algn="ctr"/>
                      <a:r>
                        <a:rPr sz="900">
                          <a:solidFill>
                            <a:srgbClr val="1F2433"/>
                          </a:solidFill>
                        </a:rPr>
                        <a:t>121</a:t>
                      </a:r>
                    </a:p>
                  </a:txBody>
                  <a:tcPr marT="12700" marB="12700">
                    <a:solidFill>
                      <a:srgbClr val="FFFFFF"/>
                    </a:solidFill>
                  </a:tcPr>
                </a:tc>
              </a:tr>
              <a:tr h="150752">
                <a:tc>
                  <a:txBody>
                    <a:bodyPr/>
                    <a:lstStyle/>
                    <a:p>
                      <a:pPr algn="ctr"/>
                      <a:r>
                        <a:rPr sz="900">
                          <a:solidFill>
                            <a:srgbClr val="1F2433"/>
                          </a:solidFill>
                        </a:rPr>
                        <a:t>3706</a:t>
                      </a:r>
                    </a:p>
                  </a:txBody>
                  <a:tcPr marT="12700" marB="12700">
                    <a:solidFill>
                      <a:srgbClr val="F2F4FB"/>
                    </a:solidFill>
                  </a:tcPr>
                </a:tc>
                <a:tc>
                  <a:txBody>
                    <a:bodyPr/>
                    <a:lstStyle/>
                    <a:p>
                      <a:pPr algn="l"/>
                      <a:r>
                        <a:rPr sz="900">
                          <a:solidFill>
                            <a:srgbClr val="1F2433"/>
                          </a:solidFill>
                        </a:rPr>
                        <a:t>SARDINAS DIMAR ACEITE PLANA 12 +1 TIPO TALL TOMATE</a:t>
                      </a:r>
                    </a:p>
                  </a:txBody>
                  <a:tcPr marT="12700" marB="12700">
                    <a:solidFill>
                      <a:srgbClr val="F2F4FB"/>
                    </a:solidFill>
                  </a:tcPr>
                </a:tc>
                <a:tc>
                  <a:txBody>
                    <a:bodyPr/>
                    <a:lstStyle/>
                    <a:p>
                      <a:pPr algn="ctr"/>
                      <a:r>
                        <a:rPr sz="900">
                          <a:solidFill>
                            <a:srgbClr val="1F2433"/>
                          </a:solidFill>
                        </a:rPr>
                        <a:t>104</a:t>
                      </a:r>
                    </a:p>
                  </a:txBody>
                  <a:tcPr marT="12700" marB="12700">
                    <a:solidFill>
                      <a:srgbClr val="F2F4FB"/>
                    </a:solidFill>
                  </a:tcPr>
                </a:tc>
                <a:tc>
                  <a:txBody>
                    <a:bodyPr/>
                    <a:lstStyle/>
                    <a:p>
                      <a:pPr algn="ctr"/>
                      <a:r>
                        <a:rPr sz="900">
                          <a:solidFill>
                            <a:srgbClr val="1F2433"/>
                          </a:solidFill>
                        </a:rPr>
                        <a:t>104</a:t>
                      </a:r>
                    </a:p>
                  </a:txBody>
                  <a:tcPr marT="12700" marB="12700">
                    <a:solidFill>
                      <a:srgbClr val="F2F4FB"/>
                    </a:solidFill>
                  </a:tcPr>
                </a:tc>
              </a:tr>
              <a:tr h="150752">
                <a:tc>
                  <a:txBody>
                    <a:bodyPr/>
                    <a:lstStyle/>
                    <a:p>
                      <a:pPr algn="ctr"/>
                      <a:r>
                        <a:rPr sz="900">
                          <a:solidFill>
                            <a:srgbClr val="1F2433"/>
                          </a:solidFill>
                        </a:rPr>
                        <a:t>3627</a:t>
                      </a:r>
                    </a:p>
                  </a:txBody>
                  <a:tcPr marT="12700" marB="12700">
                    <a:solidFill>
                      <a:srgbClr val="FFFFFF"/>
                    </a:solidFill>
                  </a:tcPr>
                </a:tc>
                <a:tc>
                  <a:txBody>
                    <a:bodyPr/>
                    <a:lstStyle/>
                    <a:p>
                      <a:pPr algn="l"/>
                      <a:r>
                        <a:rPr sz="900">
                          <a:solidFill>
                            <a:srgbClr val="1F2433"/>
                          </a:solidFill>
                        </a:rPr>
                        <a:t>12 Baterias Alcalina + 1 Bombillo 5w Oferta</a:t>
                      </a:r>
                    </a:p>
                  </a:txBody>
                  <a:tcPr marT="12700" marB="12700">
                    <a:solidFill>
                      <a:srgbClr val="FFFFFF"/>
                    </a:solidFill>
                  </a:tcPr>
                </a:tc>
                <a:tc>
                  <a:txBody>
                    <a:bodyPr/>
                    <a:lstStyle/>
                    <a:p>
                      <a:pPr algn="ctr"/>
                      <a:r>
                        <a:rPr sz="900">
                          <a:solidFill>
                            <a:srgbClr val="1F2433"/>
                          </a:solidFill>
                        </a:rPr>
                        <a:t>89</a:t>
                      </a:r>
                    </a:p>
                  </a:txBody>
                  <a:tcPr marT="12700" marB="12700">
                    <a:solidFill>
                      <a:srgbClr val="FFFFFF"/>
                    </a:solidFill>
                  </a:tcPr>
                </a:tc>
                <a:tc>
                  <a:txBody>
                    <a:bodyPr/>
                    <a:lstStyle/>
                    <a:p>
                      <a:pPr algn="ctr"/>
                      <a:r>
                        <a:rPr sz="900">
                          <a:solidFill>
                            <a:srgbClr val="1F2433"/>
                          </a:solidFill>
                        </a:rPr>
                        <a:t>92</a:t>
                      </a:r>
                    </a:p>
                  </a:txBody>
                  <a:tcPr marT="12700" marB="12700">
                    <a:solidFill>
                      <a:srgbClr val="FFFFFF"/>
                    </a:solidFill>
                  </a:tcPr>
                </a:tc>
              </a:tr>
              <a:tr h="150752">
                <a:tc>
                  <a:txBody>
                    <a:bodyPr/>
                    <a:lstStyle/>
                    <a:p>
                      <a:pPr algn="ctr"/>
                      <a:r>
                        <a:rPr sz="900">
                          <a:solidFill>
                            <a:srgbClr val="1F2433"/>
                          </a:solidFill>
                        </a:rPr>
                        <a:t>3704</a:t>
                      </a:r>
                    </a:p>
                  </a:txBody>
                  <a:tcPr marT="12700" marB="12700">
                    <a:solidFill>
                      <a:srgbClr val="F2F4FB"/>
                    </a:solidFill>
                  </a:tcPr>
                </a:tc>
                <a:tc>
                  <a:txBody>
                    <a:bodyPr/>
                    <a:lstStyle/>
                    <a:p>
                      <a:pPr algn="l"/>
                      <a:r>
                        <a:rPr sz="900">
                          <a:solidFill>
                            <a:srgbClr val="1F2433"/>
                          </a:solidFill>
                        </a:rPr>
                        <a:t>SARDINAS DIMAR TIPO TALL 12/1UND OFERTA</a:t>
                      </a:r>
                    </a:p>
                  </a:txBody>
                  <a:tcPr marT="12700" marB="12700">
                    <a:solidFill>
                      <a:srgbClr val="F2F4FB"/>
                    </a:solidFill>
                  </a:tcPr>
                </a:tc>
                <a:tc>
                  <a:txBody>
                    <a:bodyPr/>
                    <a:lstStyle/>
                    <a:p>
                      <a:pPr algn="ctr"/>
                      <a:r>
                        <a:rPr sz="900">
                          <a:solidFill>
                            <a:srgbClr val="1F2433"/>
                          </a:solidFill>
                        </a:rPr>
                        <a:t>31</a:t>
                      </a:r>
                    </a:p>
                  </a:txBody>
                  <a:tcPr marT="12700" marB="12700">
                    <a:solidFill>
                      <a:srgbClr val="F2F4FB"/>
                    </a:solidFill>
                  </a:tcPr>
                </a:tc>
                <a:tc>
                  <a:txBody>
                    <a:bodyPr/>
                    <a:lstStyle/>
                    <a:p>
                      <a:pPr algn="ctr"/>
                      <a:r>
                        <a:rPr sz="900">
                          <a:solidFill>
                            <a:srgbClr val="1F2433"/>
                          </a:solidFill>
                        </a:rPr>
                        <a:t>31</a:t>
                      </a:r>
                    </a:p>
                  </a:txBody>
                  <a:tcPr marT="12700" marB="12700">
                    <a:solidFill>
                      <a:srgbClr val="F2F4FB"/>
                    </a:solidFill>
                  </a:tcPr>
                </a:tc>
              </a:tr>
              <a:tr h="150752">
                <a:tc>
                  <a:txBody>
                    <a:bodyPr/>
                    <a:lstStyle/>
                    <a:p>
                      <a:pPr algn="ctr"/>
                      <a:r>
                        <a:rPr sz="900">
                          <a:solidFill>
                            <a:srgbClr val="1F2433"/>
                          </a:solidFill>
                        </a:rPr>
                        <a:t>3650</a:t>
                      </a:r>
                    </a:p>
                  </a:txBody>
                  <a:tcPr marT="12700" marB="12700">
                    <a:solidFill>
                      <a:srgbClr val="FFFFFF"/>
                    </a:solidFill>
                  </a:tcPr>
                </a:tc>
                <a:tc>
                  <a:txBody>
                    <a:bodyPr/>
                    <a:lstStyle/>
                    <a:p>
                      <a:pPr algn="l"/>
                      <a:r>
                        <a:rPr sz="900">
                          <a:solidFill>
                            <a:srgbClr val="1F2433"/>
                          </a:solidFill>
                        </a:rPr>
                        <a:t>Cigarrillo Regular/Mentol/light 10 Und +1 Und de Of…</a:t>
                      </a:r>
                    </a:p>
                  </a:txBody>
                  <a:tcPr marT="12700" marB="12700">
                    <a:solidFill>
                      <a:srgbClr val="FFFFFF"/>
                    </a:solidFill>
                  </a:tcPr>
                </a:tc>
                <a:tc>
                  <a:txBody>
                    <a:bodyPr/>
                    <a:lstStyle/>
                    <a:p>
                      <a:pPr algn="ctr"/>
                      <a:r>
                        <a:rPr sz="900">
                          <a:solidFill>
                            <a:srgbClr val="1F2433"/>
                          </a:solidFill>
                        </a:rPr>
                        <a:t>30</a:t>
                      </a:r>
                    </a:p>
                  </a:txBody>
                  <a:tcPr marT="12700" marB="12700">
                    <a:solidFill>
                      <a:srgbClr val="FFFFFF"/>
                    </a:solidFill>
                  </a:tcPr>
                </a:tc>
                <a:tc>
                  <a:txBody>
                    <a:bodyPr/>
                    <a:lstStyle/>
                    <a:p>
                      <a:pPr algn="ctr"/>
                      <a:r>
                        <a:rPr sz="900">
                          <a:solidFill>
                            <a:srgbClr val="1F2433"/>
                          </a:solidFill>
                        </a:rPr>
                        <a:t>41</a:t>
                      </a:r>
                    </a:p>
                  </a:txBody>
                  <a:tcPr marT="12700" marB="12700">
                    <a:solidFill>
                      <a:srgbClr val="FFFFFF"/>
                    </a:solidFill>
                  </a:tcPr>
                </a:tc>
              </a:tr>
              <a:tr h="150752">
                <a:tc>
                  <a:txBody>
                    <a:bodyPr/>
                    <a:lstStyle/>
                    <a:p>
                      <a:pPr algn="ctr"/>
                      <a:r>
                        <a:rPr sz="900">
                          <a:solidFill>
                            <a:srgbClr val="1F2433"/>
                          </a:solidFill>
                        </a:rPr>
                        <a:t>3721</a:t>
                      </a:r>
                    </a:p>
                  </a:txBody>
                  <a:tcPr marT="12700" marB="12700">
                    <a:solidFill>
                      <a:srgbClr val="F2F4FB"/>
                    </a:solidFill>
                  </a:tcPr>
                </a:tc>
                <a:tc>
                  <a:txBody>
                    <a:bodyPr/>
                    <a:lstStyle/>
                    <a:p>
                      <a:pPr algn="l"/>
                      <a:r>
                        <a:rPr sz="900">
                          <a:solidFill>
                            <a:srgbClr val="1F2433"/>
                          </a:solidFill>
                        </a:rPr>
                        <a:t>PAPEL HIGIENICO FAMILIA AROMA 48+8/24+3/240+48 OFER…</a:t>
                      </a:r>
                    </a:p>
                  </a:txBody>
                  <a:tcPr marT="12700" marB="12700">
                    <a:solidFill>
                      <a:srgbClr val="F2F4FB"/>
                    </a:solidFill>
                  </a:tcPr>
                </a:tc>
                <a:tc>
                  <a:txBody>
                    <a:bodyPr/>
                    <a:lstStyle/>
                    <a:p>
                      <a:pPr algn="ctr"/>
                      <a:r>
                        <a:rPr sz="900">
                          <a:solidFill>
                            <a:srgbClr val="1F2433"/>
                          </a:solidFill>
                        </a:rPr>
                        <a:t>25</a:t>
                      </a:r>
                    </a:p>
                  </a:txBody>
                  <a:tcPr marT="12700" marB="12700">
                    <a:solidFill>
                      <a:srgbClr val="F2F4FB"/>
                    </a:solidFill>
                  </a:tcPr>
                </a:tc>
                <a:tc>
                  <a:txBody>
                    <a:bodyPr/>
                    <a:lstStyle/>
                    <a:p>
                      <a:pPr algn="ctr"/>
                      <a:r>
                        <a:rPr sz="900">
                          <a:solidFill>
                            <a:srgbClr val="1F2433"/>
                          </a:solidFill>
                        </a:rPr>
                        <a:t>25</a:t>
                      </a:r>
                    </a:p>
                  </a:txBody>
                  <a:tcPr marT="12700" marB="12700">
                    <a:solidFill>
                      <a:srgbClr val="F2F4FB"/>
                    </a:solidFill>
                  </a:tcPr>
                </a:tc>
              </a:tr>
              <a:tr h="150752">
                <a:tc>
                  <a:txBody>
                    <a:bodyPr/>
                    <a:lstStyle/>
                    <a:p>
                      <a:pPr algn="ctr"/>
                      <a:r>
                        <a:rPr sz="900">
                          <a:solidFill>
                            <a:srgbClr val="1F2433"/>
                          </a:solidFill>
                        </a:rPr>
                        <a:t>3693</a:t>
                      </a:r>
                    </a:p>
                  </a:txBody>
                  <a:tcPr marT="12700" marB="12700">
                    <a:solidFill>
                      <a:srgbClr val="FFFFFF"/>
                    </a:solidFill>
                  </a:tcPr>
                </a:tc>
                <a:tc>
                  <a:txBody>
                    <a:bodyPr/>
                    <a:lstStyle/>
                    <a:p>
                      <a:pPr algn="l"/>
                      <a:r>
                        <a:rPr sz="900">
                          <a:solidFill>
                            <a:srgbClr val="1F2433"/>
                          </a:solidFill>
                        </a:rPr>
                        <a:t>Pimco Selecto Paq. 1/1Lb OFERTA 36/1 -60/2</a:t>
                      </a:r>
                    </a:p>
                  </a:txBody>
                  <a:tcPr marT="12700" marB="12700">
                    <a:solidFill>
                      <a:srgbClr val="FFFFFF"/>
                    </a:solidFill>
                  </a:tcPr>
                </a:tc>
                <a:tc>
                  <a:txBody>
                    <a:bodyPr/>
                    <a:lstStyle/>
                    <a:p>
                      <a:pPr algn="ctr"/>
                      <a:r>
                        <a:rPr sz="900">
                          <a:solidFill>
                            <a:srgbClr val="1F2433"/>
                          </a:solidFill>
                        </a:rPr>
                        <a:t>20</a:t>
                      </a:r>
                    </a:p>
                  </a:txBody>
                  <a:tcPr marT="12700" marB="12700">
                    <a:solidFill>
                      <a:srgbClr val="FFFFFF"/>
                    </a:solidFill>
                  </a:tcPr>
                </a:tc>
                <a:tc>
                  <a:txBody>
                    <a:bodyPr/>
                    <a:lstStyle/>
                    <a:p>
                      <a:pPr algn="ctr"/>
                      <a:r>
                        <a:rPr sz="900">
                          <a:solidFill>
                            <a:srgbClr val="1F2433"/>
                          </a:solidFill>
                        </a:rPr>
                        <a:t>20</a:t>
                      </a:r>
                    </a:p>
                  </a:txBody>
                  <a:tcPr marT="12700" marB="12700">
                    <a:solidFill>
                      <a:srgbClr val="FFFFFF"/>
                    </a:solidFill>
                  </a:tcPr>
                </a:tc>
              </a:tr>
              <a:tr h="150752">
                <a:tc>
                  <a:txBody>
                    <a:bodyPr/>
                    <a:lstStyle/>
                    <a:p>
                      <a:pPr algn="ctr"/>
                      <a:r>
                        <a:rPr sz="900">
                          <a:solidFill>
                            <a:srgbClr val="1F2433"/>
                          </a:solidFill>
                        </a:rPr>
                        <a:t>3690</a:t>
                      </a:r>
                    </a:p>
                  </a:txBody>
                  <a:tcPr marT="12700" marB="12700">
                    <a:solidFill>
                      <a:srgbClr val="F2F4FB"/>
                    </a:solidFill>
                  </a:tcPr>
                </a:tc>
                <a:tc>
                  <a:txBody>
                    <a:bodyPr/>
                    <a:lstStyle/>
                    <a:p>
                      <a:pPr algn="l"/>
                      <a:r>
                        <a:rPr sz="900">
                          <a:solidFill>
                            <a:srgbClr val="1F2433"/>
                          </a:solidFill>
                        </a:rPr>
                        <a:t>PAÑOS HUMEDOS PEQUENIN ALOE 24X24 OFERTA 2 UND</a:t>
                      </a:r>
                    </a:p>
                  </a:txBody>
                  <a:tcPr marT="12700" marB="12700">
                    <a:solidFill>
                      <a:srgbClr val="F2F4FB"/>
                    </a:solidFill>
                  </a:tcPr>
                </a:tc>
                <a:tc>
                  <a:txBody>
                    <a:bodyPr/>
                    <a:lstStyle/>
                    <a:p>
                      <a:pPr algn="ctr"/>
                      <a:r>
                        <a:rPr sz="900">
                          <a:solidFill>
                            <a:srgbClr val="1F2433"/>
                          </a:solidFill>
                        </a:rPr>
                        <a:t>14</a:t>
                      </a:r>
                    </a:p>
                  </a:txBody>
                  <a:tcPr marT="12700" marB="12700">
                    <a:solidFill>
                      <a:srgbClr val="F2F4FB"/>
                    </a:solidFill>
                  </a:tcPr>
                </a:tc>
                <a:tc>
                  <a:txBody>
                    <a:bodyPr/>
                    <a:lstStyle/>
                    <a:p>
                      <a:pPr algn="ctr"/>
                      <a:r>
                        <a:rPr sz="900">
                          <a:solidFill>
                            <a:srgbClr val="1F2433"/>
                          </a:solidFill>
                        </a:rPr>
                        <a:t>14</a:t>
                      </a:r>
                    </a:p>
                  </a:txBody>
                  <a:tcPr marT="12700" marB="12700">
                    <a:solidFill>
                      <a:srgbClr val="F2F4FB"/>
                    </a:solidFill>
                  </a:tcPr>
                </a:tc>
              </a:tr>
              <a:tr h="150752">
                <a:tc>
                  <a:txBody>
                    <a:bodyPr/>
                    <a:lstStyle/>
                    <a:p>
                      <a:pPr algn="ctr"/>
                      <a:r>
                        <a:rPr sz="900">
                          <a:solidFill>
                            <a:srgbClr val="1F2433"/>
                          </a:solidFill>
                        </a:rPr>
                        <a:t>3710</a:t>
                      </a:r>
                    </a:p>
                  </a:txBody>
                  <a:tcPr marT="12700" marB="12700">
                    <a:solidFill>
                      <a:srgbClr val="FFFFFF"/>
                    </a:solidFill>
                  </a:tcPr>
                </a:tc>
                <a:tc>
                  <a:txBody>
                    <a:bodyPr/>
                    <a:lstStyle/>
                    <a:p>
                      <a:pPr algn="l"/>
                      <a:r>
                        <a:rPr sz="900">
                          <a:solidFill>
                            <a:srgbClr val="1F2433"/>
                          </a:solidFill>
                        </a:rPr>
                        <a:t>FAM AROMA MAX EXRA GDE 48+15 OFERTA /Y 24+7 OFERTA</a:t>
                      </a:r>
                    </a:p>
                  </a:txBody>
                  <a:tcPr marT="12700" marB="12700">
                    <a:solidFill>
                      <a:srgbClr val="FFFFFF"/>
                    </a:solidFill>
                  </a:tcPr>
                </a:tc>
                <a:tc>
                  <a:txBody>
                    <a:bodyPr/>
                    <a:lstStyle/>
                    <a:p>
                      <a:pPr algn="ctr"/>
                      <a:r>
                        <a:rPr sz="900">
                          <a:solidFill>
                            <a:srgbClr val="1F2433"/>
                          </a:solidFill>
                        </a:rPr>
                        <a:t>12</a:t>
                      </a:r>
                    </a:p>
                  </a:txBody>
                  <a:tcPr marT="12700" marB="12700">
                    <a:solidFill>
                      <a:srgbClr val="FFFFFF"/>
                    </a:solidFill>
                  </a:tcPr>
                </a:tc>
                <a:tc>
                  <a:txBody>
                    <a:bodyPr/>
                    <a:lstStyle/>
                    <a:p>
                      <a:pPr algn="ctr"/>
                      <a:r>
                        <a:rPr sz="900">
                          <a:solidFill>
                            <a:srgbClr val="1F2433"/>
                          </a:solidFill>
                        </a:rPr>
                        <a:t>12</a:t>
                      </a:r>
                    </a:p>
                  </a:txBody>
                  <a:tcPr marT="12700" marB="12700">
                    <a:solidFill>
                      <a:srgbClr val="FFFFFF"/>
                    </a:solidFill>
                  </a:tcPr>
                </a:tc>
              </a:tr>
              <a:tr h="150752">
                <a:tc>
                  <a:txBody>
                    <a:bodyPr/>
                    <a:lstStyle/>
                    <a:p>
                      <a:pPr algn="ctr"/>
                      <a:r>
                        <a:rPr sz="900">
                          <a:solidFill>
                            <a:srgbClr val="1F2433"/>
                          </a:solidFill>
                        </a:rPr>
                        <a:t>3672</a:t>
                      </a:r>
                    </a:p>
                  </a:txBody>
                  <a:tcPr marT="12700" marB="12700">
                    <a:solidFill>
                      <a:srgbClr val="F2F4FB"/>
                    </a:solidFill>
                  </a:tcPr>
                </a:tc>
                <a:tc>
                  <a:txBody>
                    <a:bodyPr/>
                    <a:lstStyle/>
                    <a:p>
                      <a:pPr algn="l"/>
                      <a:r>
                        <a:rPr sz="900">
                          <a:solidFill>
                            <a:srgbClr val="1F2433"/>
                          </a:solidFill>
                        </a:rPr>
                        <a:t>4 TOALLAS GRATIS 1 DISPLEY DIA Y NOCHE</a:t>
                      </a:r>
                    </a:p>
                  </a:txBody>
                  <a:tcPr marT="12700" marB="12700">
                    <a:solidFill>
                      <a:srgbClr val="F2F4FB"/>
                    </a:solidFill>
                  </a:tcPr>
                </a:tc>
                <a:tc>
                  <a:txBody>
                    <a:bodyPr/>
                    <a:lstStyle/>
                    <a:p>
                      <a:pPr algn="ctr"/>
                      <a:r>
                        <a:rPr sz="900">
                          <a:solidFill>
                            <a:srgbClr val="1F2433"/>
                          </a:solidFill>
                        </a:rPr>
                        <a:t>9</a:t>
                      </a:r>
                    </a:p>
                  </a:txBody>
                  <a:tcPr marT="12700" marB="12700">
                    <a:solidFill>
                      <a:srgbClr val="F2F4FB"/>
                    </a:solidFill>
                  </a:tcPr>
                </a:tc>
                <a:tc>
                  <a:txBody>
                    <a:bodyPr/>
                    <a:lstStyle/>
                    <a:p>
                      <a:pPr algn="ctr"/>
                      <a:r>
                        <a:rPr sz="900">
                          <a:solidFill>
                            <a:srgbClr val="1F2433"/>
                          </a:solidFill>
                        </a:rPr>
                        <a:t>9</a:t>
                      </a:r>
                    </a:p>
                  </a:txBody>
                  <a:tcPr marT="12700" marB="12700">
                    <a:solidFill>
                      <a:srgbClr val="F2F4FB"/>
                    </a:solidFill>
                  </a:tcPr>
                </a:tc>
              </a:tr>
              <a:tr h="150752">
                <a:tc>
                  <a:txBody>
                    <a:bodyPr/>
                    <a:lstStyle/>
                    <a:p>
                      <a:pPr algn="ctr"/>
                      <a:r>
                        <a:rPr sz="900">
                          <a:solidFill>
                            <a:srgbClr val="1F2433"/>
                          </a:solidFill>
                        </a:rPr>
                        <a:t>3656</a:t>
                      </a:r>
                    </a:p>
                  </a:txBody>
                  <a:tcPr marT="12700" marB="12700">
                    <a:solidFill>
                      <a:srgbClr val="FFFFFF"/>
                    </a:solidFill>
                  </a:tcPr>
                </a:tc>
                <a:tc>
                  <a:txBody>
                    <a:bodyPr/>
                    <a:lstStyle/>
                    <a:p>
                      <a:pPr algn="l"/>
                      <a:r>
                        <a:rPr sz="900">
                          <a:solidFill>
                            <a:srgbClr val="1F2433"/>
                          </a:solidFill>
                        </a:rPr>
                        <a:t>Combo CMI 10 PAQ Galletas + 1 Exhibidor</a:t>
                      </a:r>
                    </a:p>
                  </a:txBody>
                  <a:tcPr marT="12700" marB="12700">
                    <a:solidFill>
                      <a:srgbClr val="FFFFFF"/>
                    </a:solidFill>
                  </a:tcPr>
                </a:tc>
                <a:tc>
                  <a:txBody>
                    <a:bodyPr/>
                    <a:lstStyle/>
                    <a:p>
                      <a:pPr algn="ctr"/>
                      <a:r>
                        <a:rPr sz="900">
                          <a:solidFill>
                            <a:srgbClr val="1F2433"/>
                          </a:solidFill>
                        </a:rPr>
                        <a:t>7</a:t>
                      </a:r>
                    </a:p>
                  </a:txBody>
                  <a:tcPr marT="12700" marB="12700">
                    <a:solidFill>
                      <a:srgbClr val="FFFFFF"/>
                    </a:solidFill>
                  </a:tcPr>
                </a:tc>
                <a:tc>
                  <a:txBody>
                    <a:bodyPr/>
                    <a:lstStyle/>
                    <a:p>
                      <a:pPr algn="ctr"/>
                      <a:r>
                        <a:rPr sz="900">
                          <a:solidFill>
                            <a:srgbClr val="1F2433"/>
                          </a:solidFill>
                        </a:rPr>
                        <a:t>7</a:t>
                      </a:r>
                    </a:p>
                  </a:txBody>
                  <a:tcPr marT="12700" marB="12700">
                    <a:solidFill>
                      <a:srgbClr val="FFFFFF"/>
                    </a:solidFill>
                  </a:tcPr>
                </a:tc>
              </a:tr>
              <a:tr h="150752">
                <a:tc>
                  <a:txBody>
                    <a:bodyPr/>
                    <a:lstStyle/>
                    <a:p>
                      <a:pPr algn="ctr"/>
                      <a:r>
                        <a:rPr sz="900">
                          <a:solidFill>
                            <a:srgbClr val="1F2433"/>
                          </a:solidFill>
                        </a:rPr>
                        <a:t>3655</a:t>
                      </a:r>
                    </a:p>
                  </a:txBody>
                  <a:tcPr marT="12700" marB="12700">
                    <a:solidFill>
                      <a:srgbClr val="F2F4FB"/>
                    </a:solidFill>
                  </a:tcPr>
                </a:tc>
                <a:tc>
                  <a:txBody>
                    <a:bodyPr/>
                    <a:lstStyle/>
                    <a:p>
                      <a:pPr algn="l"/>
                      <a:r>
                        <a:rPr sz="900">
                          <a:solidFill>
                            <a:srgbClr val="1F2433"/>
                          </a:solidFill>
                        </a:rPr>
                        <a:t>Combo 19 PAQ Galletas + 1 Exhibidor</a:t>
                      </a:r>
                    </a:p>
                  </a:txBody>
                  <a:tcPr marT="12700" marB="12700">
                    <a:solidFill>
                      <a:srgbClr val="F2F4FB"/>
                    </a:solidFill>
                  </a:tcPr>
                </a:tc>
                <a:tc>
                  <a:txBody>
                    <a:bodyPr/>
                    <a:lstStyle/>
                    <a:p>
                      <a:pPr algn="ctr"/>
                      <a:r>
                        <a:rPr sz="900">
                          <a:solidFill>
                            <a:srgbClr val="1F2433"/>
                          </a:solidFill>
                        </a:rPr>
                        <a:t>5</a:t>
                      </a:r>
                    </a:p>
                  </a:txBody>
                  <a:tcPr marT="12700" marB="12700">
                    <a:solidFill>
                      <a:srgbClr val="F2F4FB"/>
                    </a:solidFill>
                  </a:tcPr>
                </a:tc>
                <a:tc>
                  <a:txBody>
                    <a:bodyPr/>
                    <a:lstStyle/>
                    <a:p>
                      <a:pPr algn="ctr"/>
                      <a:r>
                        <a:rPr sz="900">
                          <a:solidFill>
                            <a:srgbClr val="1F2433"/>
                          </a:solidFill>
                        </a:rPr>
                        <a:t>5</a:t>
                      </a:r>
                    </a:p>
                  </a:txBody>
                  <a:tcPr marT="12700" marB="12700">
                    <a:solidFill>
                      <a:srgbClr val="F2F4FB"/>
                    </a:solidFill>
                  </a:tcPr>
                </a:tc>
              </a:tr>
              <a:tr h="150752">
                <a:tc>
                  <a:txBody>
                    <a:bodyPr/>
                    <a:lstStyle/>
                    <a:p>
                      <a:pPr algn="ctr"/>
                      <a:r>
                        <a:rPr sz="900">
                          <a:solidFill>
                            <a:srgbClr val="1F2433"/>
                          </a:solidFill>
                        </a:rPr>
                        <a:t>3699</a:t>
                      </a:r>
                    </a:p>
                  </a:txBody>
                  <a:tcPr marT="12700" marB="12700">
                    <a:solidFill>
                      <a:srgbClr val="FFFFFF"/>
                    </a:solidFill>
                  </a:tcPr>
                </a:tc>
                <a:tc>
                  <a:txBody>
                    <a:bodyPr/>
                    <a:lstStyle/>
                    <a:p>
                      <a:pPr algn="l"/>
                      <a:r>
                        <a:rPr sz="900">
                          <a:solidFill>
                            <a:srgbClr val="1F2433"/>
                          </a:solidFill>
                        </a:rPr>
                        <a:t>Paños Húmedos Pequeñín Aloe 4+2 UND OFERTA</a:t>
                      </a:r>
                    </a:p>
                  </a:txBody>
                  <a:tcPr marT="12700" marB="12700">
                    <a:solidFill>
                      <a:srgbClr val="FFFFFF"/>
                    </a:solidFill>
                  </a:tcPr>
                </a:tc>
                <a:tc>
                  <a:txBody>
                    <a:bodyPr/>
                    <a:lstStyle/>
                    <a:p>
                      <a:pPr algn="ctr"/>
                      <a:r>
                        <a:rPr sz="900">
                          <a:solidFill>
                            <a:srgbClr val="1F2433"/>
                          </a:solidFill>
                        </a:rPr>
                        <a:t>4</a:t>
                      </a:r>
                    </a:p>
                  </a:txBody>
                  <a:tcPr marT="12700" marB="12700">
                    <a:solidFill>
                      <a:srgbClr val="FFFFFF"/>
                    </a:solidFill>
                  </a:tcPr>
                </a:tc>
                <a:tc>
                  <a:txBody>
                    <a:bodyPr/>
                    <a:lstStyle/>
                    <a:p>
                      <a:pPr algn="ctr"/>
                      <a:r>
                        <a:rPr sz="900">
                          <a:solidFill>
                            <a:srgbClr val="1F2433"/>
                          </a:solidFill>
                        </a:rPr>
                        <a:t>4</a:t>
                      </a:r>
                    </a:p>
                  </a:txBody>
                  <a:tcPr marT="12700" marB="12700">
                    <a:solidFill>
                      <a:srgbClr val="FFFFFF"/>
                    </a:solidFill>
                  </a:tcPr>
                </a:tc>
              </a:tr>
              <a:tr h="150752">
                <a:tc>
                  <a:txBody>
                    <a:bodyPr/>
                    <a:lstStyle/>
                    <a:p>
                      <a:pPr algn="ctr"/>
                      <a:r>
                        <a:rPr sz="900">
                          <a:solidFill>
                            <a:srgbClr val="1F2433"/>
                          </a:solidFill>
                        </a:rPr>
                        <a:t>3720</a:t>
                      </a:r>
                    </a:p>
                  </a:txBody>
                  <a:tcPr marT="12700" marB="12700">
                    <a:solidFill>
                      <a:srgbClr val="F2F4FB"/>
                    </a:solidFill>
                  </a:tcPr>
                </a:tc>
                <a:tc>
                  <a:txBody>
                    <a:bodyPr/>
                    <a:lstStyle/>
                    <a:p>
                      <a:pPr algn="l"/>
                      <a:r>
                        <a:rPr sz="900">
                          <a:solidFill>
                            <a:srgbClr val="1F2433"/>
                          </a:solidFill>
                        </a:rPr>
                        <a:t>1 Combo Grissly + Exhibidores Grissly</a:t>
                      </a:r>
                    </a:p>
                  </a:txBody>
                  <a:tcPr marT="12700" marB="12700">
                    <a:solidFill>
                      <a:srgbClr val="F2F4FB"/>
                    </a:solidFill>
                  </a:tcPr>
                </a:tc>
                <a:tc>
                  <a:txBody>
                    <a:bodyPr/>
                    <a:lstStyle/>
                    <a:p>
                      <a:pPr algn="ctr"/>
                      <a:r>
                        <a:rPr sz="900">
                          <a:solidFill>
                            <a:srgbClr val="1F2433"/>
                          </a:solidFill>
                        </a:rPr>
                        <a:t>3</a:t>
                      </a:r>
                    </a:p>
                  </a:txBody>
                  <a:tcPr marT="12700" marB="12700">
                    <a:solidFill>
                      <a:srgbClr val="F2F4FB"/>
                    </a:solidFill>
                  </a:tcPr>
                </a:tc>
                <a:tc>
                  <a:txBody>
                    <a:bodyPr/>
                    <a:lstStyle/>
                    <a:p>
                      <a:pPr algn="ctr"/>
                      <a:r>
                        <a:rPr sz="900">
                          <a:solidFill>
                            <a:srgbClr val="1F2433"/>
                          </a:solidFill>
                        </a:rPr>
                        <a:t>3</a:t>
                      </a:r>
                    </a:p>
                  </a:txBody>
                  <a:tcPr marT="12700" marB="12700">
                    <a:solidFill>
                      <a:srgbClr val="F2F4FB"/>
                    </a:solidFill>
                  </a:tcPr>
                </a:tc>
              </a:tr>
              <a:tr h="150752">
                <a:tc>
                  <a:txBody>
                    <a:bodyPr/>
                    <a:lstStyle/>
                    <a:p>
                      <a:pPr algn="ctr"/>
                      <a:r>
                        <a:rPr sz="900">
                          <a:solidFill>
                            <a:srgbClr val="1F2433"/>
                          </a:solidFill>
                        </a:rPr>
                        <a:t>3678</a:t>
                      </a:r>
                    </a:p>
                  </a:txBody>
                  <a:tcPr marT="12700" marB="12700">
                    <a:solidFill>
                      <a:srgbClr val="FFFFFF"/>
                    </a:solidFill>
                  </a:tcPr>
                </a:tc>
                <a:tc>
                  <a:txBody>
                    <a:bodyPr/>
                    <a:lstStyle/>
                    <a:p>
                      <a:pPr algn="l"/>
                      <a:r>
                        <a:rPr sz="900">
                          <a:solidFill>
                            <a:srgbClr val="1F2433"/>
                          </a:solidFill>
                        </a:rPr>
                        <a:t>OFERTA PAPEL HIG. MAS AROMA XG 48X1 +15UND DE OFERTA</a:t>
                      </a:r>
                    </a:p>
                  </a:txBody>
                  <a:tcPr marT="12700" marB="12700">
                    <a:solidFill>
                      <a:srgbClr val="FFFFFF"/>
                    </a:solidFill>
                  </a:tcPr>
                </a:tc>
                <a:tc>
                  <a:txBody>
                    <a:bodyPr/>
                    <a:lstStyle/>
                    <a:p>
                      <a:pPr algn="ctr"/>
                      <a:r>
                        <a:rPr sz="900">
                          <a:solidFill>
                            <a:srgbClr val="1F2433"/>
                          </a:solidFill>
                        </a:rPr>
                        <a:t>3</a:t>
                      </a:r>
                    </a:p>
                  </a:txBody>
                  <a:tcPr marT="12700" marB="12700">
                    <a:solidFill>
                      <a:srgbClr val="FFFFFF"/>
                    </a:solidFill>
                  </a:tcPr>
                </a:tc>
                <a:tc>
                  <a:txBody>
                    <a:bodyPr/>
                    <a:lstStyle/>
                    <a:p>
                      <a:pPr algn="ctr"/>
                      <a:r>
                        <a:rPr sz="900">
                          <a:solidFill>
                            <a:srgbClr val="1F2433"/>
                          </a:solidFill>
                        </a:rPr>
                        <a:t>3</a:t>
                      </a:r>
                    </a:p>
                  </a:txBody>
                  <a:tcPr marT="12700" marB="12700">
                    <a:solidFill>
                      <a:srgbClr val="FFFFFF"/>
                    </a:solidFill>
                  </a:tcPr>
                </a:tc>
              </a:tr>
              <a:tr h="150752">
                <a:tc>
                  <a:txBody>
                    <a:bodyPr/>
                    <a:lstStyle/>
                    <a:p>
                      <a:pPr algn="ctr"/>
                      <a:r>
                        <a:rPr sz="900">
                          <a:solidFill>
                            <a:srgbClr val="1F2433"/>
                          </a:solidFill>
                        </a:rPr>
                        <a:t>3657</a:t>
                      </a:r>
                    </a:p>
                  </a:txBody>
                  <a:tcPr marT="12700" marB="12700">
                    <a:solidFill>
                      <a:srgbClr val="F2F4FB"/>
                    </a:solidFill>
                  </a:tcPr>
                </a:tc>
                <a:tc>
                  <a:txBody>
                    <a:bodyPr/>
                    <a:lstStyle/>
                    <a:p>
                      <a:pPr algn="l"/>
                      <a:r>
                        <a:rPr sz="900">
                          <a:solidFill>
                            <a:srgbClr val="1F2433"/>
                          </a:solidFill>
                        </a:rPr>
                        <a:t>Combo CMI 15 PAQ Galletas + 1 Exhibidor</a:t>
                      </a:r>
                    </a:p>
                  </a:txBody>
                  <a:tcPr marT="12700" marB="12700">
                    <a:solidFill>
                      <a:srgbClr val="F2F4FB"/>
                    </a:solidFill>
                  </a:tcPr>
                </a:tc>
                <a:tc>
                  <a:txBody>
                    <a:bodyPr/>
                    <a:lstStyle/>
                    <a:p>
                      <a:pPr algn="ctr"/>
                      <a:r>
                        <a:rPr sz="900">
                          <a:solidFill>
                            <a:srgbClr val="1F2433"/>
                          </a:solidFill>
                        </a:rPr>
                        <a:t>2</a:t>
                      </a:r>
                    </a:p>
                  </a:txBody>
                  <a:tcPr marT="12700" marB="12700">
                    <a:solidFill>
                      <a:srgbClr val="F2F4FB"/>
                    </a:solidFill>
                  </a:tcPr>
                </a:tc>
                <a:tc>
                  <a:txBody>
                    <a:bodyPr/>
                    <a:lstStyle/>
                    <a:p>
                      <a:pPr algn="ctr"/>
                      <a:r>
                        <a:rPr sz="900">
                          <a:solidFill>
                            <a:srgbClr val="1F2433"/>
                          </a:solidFill>
                        </a:rPr>
                        <a:t>2</a:t>
                      </a:r>
                    </a:p>
                  </a:txBody>
                  <a:tcPr marT="12700" marB="12700">
                    <a:solidFill>
                      <a:srgbClr val="F2F4FB"/>
                    </a:solidFill>
                  </a:tcPr>
                </a:tc>
              </a:tr>
              <a:tr h="150752">
                <a:tc>
                  <a:txBody>
                    <a:bodyPr/>
                    <a:lstStyle/>
                    <a:p>
                      <a:pPr algn="ctr"/>
                      <a:r>
                        <a:rPr sz="900">
                          <a:solidFill>
                            <a:srgbClr val="1F2433"/>
                          </a:solidFill>
                        </a:rPr>
                        <a:t>3682</a:t>
                      </a:r>
                    </a:p>
                  </a:txBody>
                  <a:tcPr marT="12700" marB="12700">
                    <a:solidFill>
                      <a:srgbClr val="FFFFFF"/>
                    </a:solidFill>
                  </a:tcPr>
                </a:tc>
                <a:tc>
                  <a:txBody>
                    <a:bodyPr/>
                    <a:lstStyle/>
                    <a:p>
                      <a:pPr algn="l"/>
                      <a:r>
                        <a:rPr sz="900">
                          <a:solidFill>
                            <a:srgbClr val="1F2433"/>
                          </a:solidFill>
                        </a:rPr>
                        <a:t>FAMILIA  AROMA XG 48X1 +15UND DE OFERTA</a:t>
                      </a:r>
                    </a:p>
                  </a:txBody>
                  <a:tcPr marT="12700" marB="12700">
                    <a:solidFill>
                      <a:srgbClr val="FFFFFF"/>
                    </a:solidFill>
                  </a:tcPr>
                </a:tc>
                <a:tc>
                  <a:txBody>
                    <a:bodyPr/>
                    <a:lstStyle/>
                    <a:p>
                      <a:pPr algn="ctr"/>
                      <a:r>
                        <a:rPr sz="900">
                          <a:solidFill>
                            <a:srgbClr val="1F2433"/>
                          </a:solidFill>
                        </a:rPr>
                        <a:t>1</a:t>
                      </a:r>
                    </a:p>
                  </a:txBody>
                  <a:tcPr marT="12700" marB="12700">
                    <a:solidFill>
                      <a:srgbClr val="FFFFFF"/>
                    </a:solidFill>
                  </a:tcPr>
                </a:tc>
                <a:tc>
                  <a:txBody>
                    <a:bodyPr/>
                    <a:lstStyle/>
                    <a:p>
                      <a:pPr algn="ctr"/>
                      <a:r>
                        <a:rPr sz="900">
                          <a:solidFill>
                            <a:srgbClr val="1F2433"/>
                          </a:solidFill>
                        </a:rPr>
                        <a:t>1</a:t>
                      </a:r>
                    </a:p>
                  </a:txBody>
                  <a:tcPr marT="12700" marB="12700">
                    <a:solidFill>
                      <a:srgbClr val="FFFFFF"/>
                    </a:solidFill>
                  </a:tcPr>
                </a:tc>
              </a:tr>
              <a:tr h="150752">
                <a:tc>
                  <a:txBody>
                    <a:bodyPr/>
                    <a:lstStyle/>
                    <a:p>
                      <a:pPr algn="ctr"/>
                      <a:r>
                        <a:rPr sz="900">
                          <a:solidFill>
                            <a:srgbClr val="1F2433"/>
                          </a:solidFill>
                        </a:rPr>
                        <a:t>3715</a:t>
                      </a:r>
                    </a:p>
                  </a:txBody>
                  <a:tcPr marT="12700" marB="12700">
                    <a:solidFill>
                      <a:srgbClr val="F2F4FB"/>
                    </a:solidFill>
                  </a:tcPr>
                </a:tc>
                <a:tc>
                  <a:txBody>
                    <a:bodyPr/>
                    <a:lstStyle/>
                    <a:p>
                      <a:pPr algn="l"/>
                      <a:r>
                        <a:rPr sz="900">
                          <a:solidFill>
                            <a:srgbClr val="1F2433"/>
                          </a:solidFill>
                        </a:rPr>
                        <a:t>2 CJ BBB STDO JUMBO +16 COFFEE DELIGHT DE OFERTA</a:t>
                      </a:r>
                    </a:p>
                  </a:txBody>
                  <a:tcPr marT="12700" marB="12700">
                    <a:solidFill>
                      <a:srgbClr val="F2F4FB"/>
                    </a:solidFill>
                  </a:tcPr>
                </a:tc>
                <a:tc>
                  <a:txBody>
                    <a:bodyPr/>
                    <a:lstStyle/>
                    <a:p>
                      <a:pPr algn="ctr"/>
                      <a:r>
                        <a:rPr sz="900">
                          <a:solidFill>
                            <a:srgbClr val="1F2433"/>
                          </a:solidFill>
                        </a:rPr>
                        <a:t>1</a:t>
                      </a:r>
                    </a:p>
                  </a:txBody>
                  <a:tcPr marT="12700" marB="12700">
                    <a:solidFill>
                      <a:srgbClr val="F2F4FB"/>
                    </a:solidFill>
                  </a:tcPr>
                </a:tc>
                <a:tc>
                  <a:txBody>
                    <a:bodyPr/>
                    <a:lstStyle/>
                    <a:p>
                      <a:pPr algn="ctr"/>
                      <a:r>
                        <a:rPr sz="900">
                          <a:solidFill>
                            <a:srgbClr val="1F2433"/>
                          </a:solidFill>
                        </a:rPr>
                        <a:t>1</a:t>
                      </a:r>
                    </a:p>
                  </a:txBody>
                  <a:tcPr marT="12700" marB="12700">
                    <a:solidFill>
                      <a:srgbClr val="F2F4FB"/>
                    </a:solidFill>
                  </a:tcPr>
                </a:tc>
              </a:tr>
              <a:tr h="150752">
                <a:tc>
                  <a:txBody>
                    <a:bodyPr/>
                    <a:lstStyle/>
                    <a:p>
                      <a:pPr algn="ctr"/>
                      <a:r>
                        <a:rPr sz="900">
                          <a:solidFill>
                            <a:srgbClr val="1F2433"/>
                          </a:solidFill>
                        </a:rPr>
                        <a:t>3683</a:t>
                      </a:r>
                    </a:p>
                  </a:txBody>
                  <a:tcPr marT="12700" marB="12700">
                    <a:solidFill>
                      <a:srgbClr val="FFFFFF"/>
                    </a:solidFill>
                  </a:tcPr>
                </a:tc>
                <a:tc>
                  <a:txBody>
                    <a:bodyPr/>
                    <a:lstStyle/>
                    <a:p>
                      <a:pPr algn="l"/>
                      <a:r>
                        <a:rPr sz="900">
                          <a:solidFill>
                            <a:srgbClr val="1F2433"/>
                          </a:solidFill>
                        </a:rPr>
                        <a:t>4 CJ ACIPOGO FLOW +7 PQT  COFFEE DELIGHT</a:t>
                      </a:r>
                    </a:p>
                  </a:txBody>
                  <a:tcPr marT="12700" marB="12700">
                    <a:solidFill>
                      <a:srgbClr val="FFFFFF"/>
                    </a:solidFill>
                  </a:tcPr>
                </a:tc>
                <a:tc>
                  <a:txBody>
                    <a:bodyPr/>
                    <a:lstStyle/>
                    <a:p>
                      <a:pPr algn="ctr"/>
                      <a:r>
                        <a:rPr sz="900">
                          <a:solidFill>
                            <a:srgbClr val="1F2433"/>
                          </a:solidFill>
                        </a:rPr>
                        <a:t>1</a:t>
                      </a:r>
                    </a:p>
                  </a:txBody>
                  <a:tcPr marT="12700" marB="12700">
                    <a:solidFill>
                      <a:srgbClr val="FFFFFF"/>
                    </a:solidFill>
                  </a:tcPr>
                </a:tc>
                <a:tc>
                  <a:txBody>
                    <a:bodyPr/>
                    <a:lstStyle/>
                    <a:p>
                      <a:pPr algn="ctr"/>
                      <a:r>
                        <a:rPr sz="900">
                          <a:solidFill>
                            <a:srgbClr val="1F2433"/>
                          </a:solidFill>
                        </a:rPr>
                        <a:t>1</a:t>
                      </a:r>
                    </a:p>
                  </a:txBody>
                  <a:tcPr marT="12700" marB="12700">
                    <a:solidFill>
                      <a:srgbClr val="FFFFFF"/>
                    </a:solidFill>
                  </a:tcPr>
                </a:tc>
              </a:tr>
              <a:tr h="150752">
                <a:tc>
                  <a:txBody>
                    <a:bodyPr/>
                    <a:lstStyle/>
                    <a:p>
                      <a:pPr algn="ctr"/>
                      <a:r>
                        <a:rPr sz="900">
                          <a:solidFill>
                            <a:srgbClr val="1F2433"/>
                          </a:solidFill>
                        </a:rPr>
                        <a:t>3716</a:t>
                      </a:r>
                    </a:p>
                  </a:txBody>
                  <a:tcPr marT="12700" marB="12700">
                    <a:solidFill>
                      <a:srgbClr val="F2F4FB"/>
                    </a:solidFill>
                  </a:tcPr>
                </a:tc>
                <a:tc>
                  <a:txBody>
                    <a:bodyPr/>
                    <a:lstStyle/>
                    <a:p>
                      <a:pPr algn="l"/>
                      <a:r>
                        <a:rPr sz="900">
                          <a:solidFill>
                            <a:srgbClr val="1F2433"/>
                          </a:solidFill>
                        </a:rPr>
                        <a:t>Exhibidor P/Mostrador 4 GALL.</a:t>
                      </a:r>
                    </a:p>
                  </a:txBody>
                  <a:tcPr marT="12700" marB="12700">
                    <a:solidFill>
                      <a:srgbClr val="F2F4FB"/>
                    </a:solidFill>
                  </a:tcPr>
                </a:tc>
                <a:tc>
                  <a:txBody>
                    <a:bodyPr/>
                    <a:lstStyle/>
                    <a:p>
                      <a:pPr algn="ctr"/>
                      <a:r>
                        <a:rPr sz="900">
                          <a:solidFill>
                            <a:srgbClr val="1F2433"/>
                          </a:solidFill>
                        </a:rPr>
                        <a:t>1</a:t>
                      </a:r>
                    </a:p>
                  </a:txBody>
                  <a:tcPr marT="12700" marB="12700">
                    <a:solidFill>
                      <a:srgbClr val="F2F4FB"/>
                    </a:solidFill>
                  </a:tcPr>
                </a:tc>
                <a:tc>
                  <a:txBody>
                    <a:bodyPr/>
                    <a:lstStyle/>
                    <a:p>
                      <a:pPr algn="ctr"/>
                      <a:r>
                        <a:rPr sz="900">
                          <a:solidFill>
                            <a:srgbClr val="1F2433"/>
                          </a:solidFill>
                        </a:rPr>
                        <a:t>1</a:t>
                      </a:r>
                    </a:p>
                  </a:txBody>
                  <a:tcPr marT="12700" marB="12700">
                    <a:solidFill>
                      <a:srgbClr val="F2F4FB"/>
                    </a:solidFill>
                  </a:tcPr>
                </a:tc>
              </a:tr>
              <a:tr h="150768">
                <a:tc>
                  <a:txBody>
                    <a:bodyPr/>
                    <a:lstStyle/>
                    <a:p>
                      <a:pPr algn="ctr"/>
                      <a:r>
                        <a:rPr sz="900">
                          <a:solidFill>
                            <a:srgbClr val="1F2433"/>
                          </a:solidFill>
                        </a:rPr>
                        <a:t>3714</a:t>
                      </a:r>
                    </a:p>
                  </a:txBody>
                  <a:tcPr marT="12700" marB="12700">
                    <a:solidFill>
                      <a:srgbClr val="FFFFFF"/>
                    </a:solidFill>
                  </a:tcPr>
                </a:tc>
                <a:tc>
                  <a:txBody>
                    <a:bodyPr/>
                    <a:lstStyle/>
                    <a:p>
                      <a:pPr algn="l"/>
                      <a:r>
                        <a:rPr sz="900">
                          <a:solidFill>
                            <a:srgbClr val="1F2433"/>
                          </a:solidFill>
                        </a:rPr>
                        <a:t>OFERTA PENDIENTE DE 1 EXHIVIDOR</a:t>
                      </a:r>
                    </a:p>
                  </a:txBody>
                  <a:tcPr marT="12700" marB="12700">
                    <a:solidFill>
                      <a:srgbClr val="FFFFFF"/>
                    </a:solidFill>
                  </a:tcPr>
                </a:tc>
                <a:tc>
                  <a:txBody>
                    <a:bodyPr/>
                    <a:lstStyle/>
                    <a:p>
                      <a:pPr algn="ctr"/>
                      <a:r>
                        <a:rPr sz="900">
                          <a:solidFill>
                            <a:srgbClr val="1F2433"/>
                          </a:solidFill>
                        </a:rPr>
                        <a:t>1</a:t>
                      </a:r>
                    </a:p>
                  </a:txBody>
                  <a:tcPr marT="12700" marB="12700">
                    <a:solidFill>
                      <a:srgbClr val="FFFFFF"/>
                    </a:solidFill>
                  </a:tcPr>
                </a:tc>
                <a:tc>
                  <a:txBody>
                    <a:bodyPr/>
                    <a:lstStyle/>
                    <a:p>
                      <a:pPr algn="ctr"/>
                      <a:r>
                        <a:rPr sz="900">
                          <a:solidFill>
                            <a:srgbClr val="1F2433"/>
                          </a:solidFill>
                        </a:rPr>
                        <a:t>1</a:t>
                      </a:r>
                    </a:p>
                  </a:txBody>
                  <a:tcPr marT="12700" marB="12700">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