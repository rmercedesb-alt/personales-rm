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netas</c:v>
                </c:pt>
              </c:strCache>
            </c:strRef>
          </c:tx>
          <c:spPr>
            <a:solidFill>
              <a:srgbClr val="1A5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8844801</c:v>
                </c:pt>
                <c:pt idx="1">
                  <c:v>8360587</c:v>
                </c:pt>
                <c:pt idx="2">
                  <c:v>8510687</c:v>
                </c:pt>
                <c:pt idx="3">
                  <c:v>8119320</c:v>
                </c:pt>
                <c:pt idx="4">
                  <c:v>9348489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Devoluciones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567737</c:v>
                </c:pt>
                <c:pt idx="1">
                  <c:v>473499</c:v>
                </c:pt>
                <c:pt idx="2">
                  <c:v>558818</c:v>
                </c:pt>
                <c:pt idx="3">
                  <c:v>403244</c:v>
                </c:pt>
                <c:pt idx="4">
                  <c:v>512741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Drop size</c:v>
                </c:pt>
              </c:strCache>
            </c:strRef>
          </c:tx>
          <c:spPr>
            <a:solidFill>
              <a:srgbClr val="E8A020"/>
            </a:solidFill>
            <a:ln w="31750" cap="flat">
              <a:solidFill>
                <a:srgbClr val="E8A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597</c:v>
                </c:pt>
                <c:pt idx="1">
                  <c:v>559</c:v>
                </c:pt>
                <c:pt idx="2">
                  <c:v>547</c:v>
                </c:pt>
                <c:pt idx="3">
                  <c:v>515</c:v>
                </c:pt>
                <c:pt idx="4">
                  <c:v>554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Acumulado Ene–May</c:v>
                </c:pt>
              </c:strCache>
            </c:strRef>
          </c:tx>
          <c:spPr>
            <a:solidFill>
              <a:srgbClr val="1A5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C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0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Bolones</c:v>
                  </c:pt>
                  <c:pt idx="1">
                    <c:v>Car. Duros</c:v>
                  </c:pt>
                  <c:pt idx="2">
                    <c:v>Paletas</c:v>
                  </c:pt>
                  <c:pt idx="3">
                    <c:v>Cichlet</c:v>
                  </c:pt>
                  <c:pt idx="4">
                    <c:v>Gomas</c:v>
                  </c:pt>
                  <c:pt idx="5">
                    <c:v>Grissly</c:v>
                  </c:pt>
                  <c:pt idx="6">
                    <c:v>Chocolatería</c:v>
                  </c:pt>
                  <c:pt idx="7">
                    <c:v>Car. Blandos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19623892</c:v>
                </c:pt>
                <c:pt idx="1">
                  <c:v>10581514</c:v>
                </c:pt>
                <c:pt idx="2">
                  <c:v>4823675</c:v>
                </c:pt>
                <c:pt idx="3">
                  <c:v>2862194</c:v>
                </c:pt>
                <c:pt idx="4">
                  <c:v>2148504</c:v>
                </c:pt>
                <c:pt idx="5">
                  <c:v>1740912</c:v>
                </c:pt>
                <c:pt idx="6">
                  <c:v>1393506</c:v>
                </c:pt>
                <c:pt idx="7">
                  <c:v>9687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Bolones</c:v>
                </c:pt>
              </c:strCache>
            </c:strRef>
          </c:tx>
          <c:spPr>
            <a:solidFill>
              <a:srgbClr val="1A5CA8"/>
            </a:solidFill>
            <a:ln w="31750" cap="flat">
              <a:solidFill>
                <a:srgbClr val="1A5C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5CA8"/>
              </a:solidFill>
              <a:ln w="9525" cap="flat">
                <a:solidFill>
                  <a:srgbClr val="1A5C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4159003</c:v>
                </c:pt>
                <c:pt idx="1">
                  <c:v>3685490</c:v>
                </c:pt>
                <c:pt idx="2">
                  <c:v>4173233</c:v>
                </c:pt>
                <c:pt idx="3">
                  <c:v>3633415</c:v>
                </c:pt>
                <c:pt idx="4">
                  <c:v>3972751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Car. Duros</c:v>
                </c:pt>
              </c:strCache>
            </c:strRef>
          </c:tx>
          <c:spPr>
            <a:solidFill>
              <a:srgbClr val="1A7A4A"/>
            </a:solidFill>
            <a:ln w="31750" cap="flat">
              <a:solidFill>
                <a:srgbClr val="1A7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A4A"/>
              </a:solidFill>
              <a:ln w="9525" cap="flat">
                <a:solidFill>
                  <a:srgbClr val="1A7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2230272</c:v>
                </c:pt>
                <c:pt idx="1">
                  <c:v>2005818</c:v>
                </c:pt>
                <c:pt idx="2">
                  <c:v>1988890</c:v>
                </c:pt>
                <c:pt idx="3">
                  <c:v>1937595</c:v>
                </c:pt>
                <c:pt idx="4">
                  <c:v>2418939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Paletas</c:v>
                </c:pt>
              </c:strCache>
            </c:strRef>
          </c:tx>
          <c:spPr>
            <a:solidFill>
              <a:srgbClr val="E8A020"/>
            </a:solidFill>
            <a:ln w="31750" cap="flat">
              <a:solidFill>
                <a:srgbClr val="E8A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1011712</c:v>
                </c:pt>
                <c:pt idx="1">
                  <c:v>1200020</c:v>
                </c:pt>
                <c:pt idx="2">
                  <c:v>858912</c:v>
                </c:pt>
                <c:pt idx="3">
                  <c:v>761851</c:v>
                </c:pt>
                <c:pt idx="4">
                  <c:v>991180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Chocolatería</c:v>
                </c:pt>
              </c:strCache>
            </c:strRef>
          </c:tx>
          <c:spPr>
            <a:solidFill>
              <a:srgbClr val="DB2777"/>
            </a:solidFill>
            <a:ln w="31750" cap="flat">
              <a:solidFill>
                <a:srgbClr val="DB27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B2777"/>
              </a:solidFill>
              <a:ln w="9525" cap="flat">
                <a:solidFill>
                  <a:srgbClr val="DB27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119683</c:v>
                </c:pt>
                <c:pt idx="1">
                  <c:v>136634</c:v>
                </c:pt>
                <c:pt idx="2">
                  <c:v>244743</c:v>
                </c:pt>
                <c:pt idx="3">
                  <c:v>429317</c:v>
                </c:pt>
                <c:pt idx="4">
                  <c:v>463129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Cichlet</c:v>
                </c:pt>
              </c:strCache>
            </c:strRef>
          </c:tx>
          <c:spPr>
            <a:solidFill>
              <a:srgbClr val="7C3AED"/>
            </a:solidFill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666785</c:v>
                </c:pt>
                <c:pt idx="1">
                  <c:v>454090</c:v>
                </c:pt>
                <c:pt idx="2">
                  <c:v>482979</c:v>
                </c:pt>
                <c:pt idx="3">
                  <c:v>508952</c:v>
                </c:pt>
                <c:pt idx="4">
                  <c:v>749388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 L. (Piña Bello)</c:v>
                </c:pt>
              </c:strCache>
            </c:strRef>
          </c:tx>
          <c:spPr>
            <a:solidFill>
              <a:srgbClr val="1A5CA8"/>
            </a:solidFill>
            <a:ln w="25400" cap="flat">
              <a:solidFill>
                <a:srgbClr val="1A5C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5CA8"/>
              </a:solidFill>
              <a:ln w="9525" cap="flat">
                <a:solidFill>
                  <a:srgbClr val="1A5C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2349665</c:v>
                </c:pt>
                <c:pt idx="1">
                  <c:v>2224873</c:v>
                </c:pt>
                <c:pt idx="2">
                  <c:v>2187725</c:v>
                </c:pt>
                <c:pt idx="3">
                  <c:v>2415086</c:v>
                </c:pt>
                <c:pt idx="4">
                  <c:v>2325633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Sur Corto (SC)</c:v>
                </c:pt>
              </c:strCache>
            </c:strRef>
          </c:tx>
          <c:spPr>
            <a:solidFill>
              <a:srgbClr val="0891B2"/>
            </a:solidFill>
            <a:ln w="254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1033189</c:v>
                </c:pt>
                <c:pt idx="1">
                  <c:v>1097777</c:v>
                </c:pt>
                <c:pt idx="2">
                  <c:v>1020233</c:v>
                </c:pt>
                <c:pt idx="3">
                  <c:v>1105813</c:v>
                </c:pt>
                <c:pt idx="4">
                  <c:v>1268372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SDO (F. Martínez)</c:v>
                </c:pt>
              </c:strCache>
            </c:strRef>
          </c:tx>
          <c:spPr>
            <a:solidFill>
              <a:srgbClr val="1A7A4A"/>
            </a:solidFill>
            <a:ln w="25400" cap="flat">
              <a:solidFill>
                <a:srgbClr val="1A7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A4A"/>
              </a:solidFill>
              <a:ln w="9525" cap="flat">
                <a:solidFill>
                  <a:srgbClr val="1A7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1178499</c:v>
                </c:pt>
                <c:pt idx="1">
                  <c:v>1157799</c:v>
                </c:pt>
                <c:pt idx="2">
                  <c:v>1110513</c:v>
                </c:pt>
                <c:pt idx="3">
                  <c:v>1031514</c:v>
                </c:pt>
                <c:pt idx="4">
                  <c:v>1196135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SDN (Valenzuela)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1063479</c:v>
                </c:pt>
                <c:pt idx="1">
                  <c:v>1045816</c:v>
                </c:pt>
                <c:pt idx="2">
                  <c:v>1070212</c:v>
                </c:pt>
                <c:pt idx="3">
                  <c:v>918861</c:v>
                </c:pt>
                <c:pt idx="4">
                  <c:v>1116695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DN (F. Martínez)</c:v>
                </c:pt>
              </c:strCache>
            </c:strRef>
          </c:tx>
          <c:spPr>
            <a:solidFill>
              <a:srgbClr val="E8A020"/>
            </a:solidFill>
            <a:ln w="25400" cap="flat">
              <a:solidFill>
                <a:srgbClr val="E8A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863754</c:v>
                </c:pt>
                <c:pt idx="1">
                  <c:v>775047</c:v>
                </c:pt>
                <c:pt idx="2">
                  <c:v>990985</c:v>
                </c:pt>
                <c:pt idx="3">
                  <c:v>897683</c:v>
                </c:pt>
                <c:pt idx="4">
                  <c:v>1029314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SDE Pimentel ↑</c:v>
                </c:pt>
              </c:strCache>
            </c:strRef>
          </c:tx>
          <c:spPr>
            <a:solidFill>
              <a:srgbClr val="27AE60"/>
            </a:solidFill>
            <a:ln w="2540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53483</c:v>
                </c:pt>
                <c:pt idx="1">
                  <c:v>630925</c:v>
                </c:pt>
                <c:pt idx="2">
                  <c:v>917661</c:v>
                </c:pt>
                <c:pt idx="3">
                  <c:v>910517</c:v>
                </c:pt>
                <c:pt idx="4">
                  <c:v>1179501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Centro SD (eliminado) ↓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1247725</c:v>
                </c:pt>
                <c:pt idx="1">
                  <c:v>486489</c:v>
                </c:pt>
                <c:pt idx="2">
                  <c:v>209906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CA8"/>
              </a:solidFill>
              <a:effectLst/>
            </c:spPr>
          </c:dPt>
          <c:dPt>
            <c:idx val="1"/>
            <c:bubble3D val="0"/>
            <c:spPr>
              <a:solidFill>
                <a:srgbClr val="E8A020"/>
              </a:solidFill>
              <a:effectLst/>
            </c:spPr>
          </c:dPt>
          <c:dPt>
            <c:idx val="2"/>
            <c:bubble3D val="0"/>
            <c:spPr>
              <a:solidFill>
                <a:srgbClr val="1A7A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Colmados 90%</c:v>
                </c:pt>
                <c:pt idx="1">
                  <c:v>Almacenes 10%</c:v>
                </c:pt>
                <c:pt idx="2">
                  <c:v>Supermercados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90</c:v>
                </c:pt>
                <c:pt idx="1">
                  <c:v>10</c:v>
                </c:pt>
                <c:pt idx="2">
                  <c:v>0.1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(RD$)</c:v>
                </c:pt>
              </c:strCache>
            </c:strRef>
          </c:tx>
          <c:spPr>
            <a:solidFill>
              <a:srgbClr val="1A5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C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4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DD1E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0DEF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EFF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 Grande</c:v>
                  </c:pt>
                  <c:pt idx="1">
                    <c:v>B Mediano</c:v>
                  </c:pt>
                  <c:pt idx="2">
                    <c:v>C Pequeño</c:v>
                  </c:pt>
                  <c:pt idx="3">
                    <c:v>D1</c:v>
                  </c:pt>
                  <c:pt idx="4">
                    <c:v>D2</c:v>
                  </c:pt>
                  <c:pt idx="5">
                    <c:v>D4</c:v>
                  </c:pt>
                  <c:pt idx="6">
                    <c:v>D3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18460197</c:v>
                </c:pt>
                <c:pt idx="1">
                  <c:v>14019148</c:v>
                </c:pt>
                <c:pt idx="2">
                  <c:v>5306160</c:v>
                </c:pt>
                <c:pt idx="3">
                  <c:v>3014739</c:v>
                </c:pt>
                <c:pt idx="4">
                  <c:v>1463992</c:v>
                </c:pt>
                <c:pt idx="5">
                  <c:v>724709</c:v>
                </c:pt>
                <c:pt idx="6">
                  <c:v>214785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Compraron Colombina</c:v>
                </c:pt>
              </c:strCache>
            </c:strRef>
          </c:tx>
          <c:spPr>
            <a:solidFill>
              <a:srgbClr val="1A5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3236</c:v>
                </c:pt>
                <c:pt idx="1">
                  <c:v>3605</c:v>
                </c:pt>
                <c:pt idx="2">
                  <c:v>3601</c:v>
                </c:pt>
                <c:pt idx="3">
                  <c:v>3788</c:v>
                </c:pt>
                <c:pt idx="4">
                  <c:v>3849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Compraron Colombina</c:v>
                </c:pt>
              </c:strCache>
            </c:strRef>
          </c:tx>
          <c:spPr>
            <a:solidFill>
              <a:srgbClr val="1A5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Sur L. (Piña Bello)</c:v>
                  </c:pt>
                  <c:pt idx="1">
                    <c:v>Sur Corto (SC)</c:v>
                  </c:pt>
                  <c:pt idx="2">
                    <c:v>BC (Pimentel)</c:v>
                  </c:pt>
                  <c:pt idx="3">
                    <c:v>SDN (Valenzuela)</c:v>
                  </c:pt>
                  <c:pt idx="4">
                    <c:v>DN (F. Martínez)</c:v>
                  </c:pt>
                  <c:pt idx="5">
                    <c:v>SDO (F. Martínez)</c:v>
                  </c:pt>
                  <c:pt idx="6">
                    <c:v>SDE (Pimentel)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1086</c:v>
                </c:pt>
                <c:pt idx="1">
                  <c:v>574</c:v>
                </c:pt>
                <c:pt idx="2">
                  <c:v>186</c:v>
                </c:pt>
                <c:pt idx="3">
                  <c:v>444</c:v>
                </c:pt>
                <c:pt idx="4">
                  <c:v>347</c:v>
                </c:pt>
                <c:pt idx="5">
                  <c:v>300</c:v>
                </c:pt>
                <c:pt idx="6">
                  <c:v>242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compraron</c:v>
                </c:pt>
              </c:strCache>
            </c:strRef>
          </c:tx>
          <c:spPr>
            <a:solidFill>
              <a:srgbClr val="DBEA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Sur L. (Piña Bello)</c:v>
                  </c:pt>
                  <c:pt idx="1">
                    <c:v>Sur Corto (SC)</c:v>
                  </c:pt>
                  <c:pt idx="2">
                    <c:v>BC (Pimentel)</c:v>
                  </c:pt>
                  <c:pt idx="3">
                    <c:v>SDN (Valenzuela)</c:v>
                  </c:pt>
                  <c:pt idx="4">
                    <c:v>DN (F. Martínez)</c:v>
                  </c:pt>
                  <c:pt idx="5">
                    <c:v>SDO (F. Martínez)</c:v>
                  </c:pt>
                  <c:pt idx="6">
                    <c:v>SDE (Pimentel)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1667</c:v>
                </c:pt>
                <c:pt idx="1">
                  <c:v>2347</c:v>
                </c:pt>
                <c:pt idx="2">
                  <c:v>1014</c:v>
                </c:pt>
                <c:pt idx="3">
                  <c:v>2154</c:v>
                </c:pt>
                <c:pt idx="4">
                  <c:v>2547</c:v>
                </c:pt>
                <c:pt idx="5">
                  <c:v>2697</c:v>
                </c:pt>
                <c:pt idx="6">
                  <c:v>2671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Drop size (RD$/factura)</c:v>
                </c:pt>
              </c:strCache>
            </c:strRef>
          </c:tx>
          <c:spPr>
            <a:solidFill>
              <a:srgbClr val="E8A020"/>
            </a:solidFill>
            <a:ln w="38100" cap="flat">
              <a:solidFill>
                <a:srgbClr val="E8A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597</c:v>
                </c:pt>
                <c:pt idx="1">
                  <c:v>559</c:v>
                </c:pt>
                <c:pt idx="2">
                  <c:v>547</c:v>
                </c:pt>
                <c:pt idx="3">
                  <c:v>515</c:v>
                </c:pt>
                <c:pt idx="4">
                  <c:v>554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7724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Ventas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Colombina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9260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A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– Mayo 2025  |  Revisión Comercial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4572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  —  Confidencial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49440" y="1005840"/>
            <a:ext cx="1874520" cy="2926080"/>
          </a:xfrm>
          <a:prstGeom prst="rect">
            <a:avLst/>
          </a:prstGeom>
          <a:solidFill>
            <a:srgbClr val="253D6A"/>
          </a:solidFill>
          <a:ln w="12700">
            <a:solidFill>
              <a:srgbClr val="253D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13716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RD$43.2M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995160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acumuladas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2450592"/>
            <a:ext cx="1554480" cy="0"/>
          </a:xfrm>
          <a:prstGeom prst="line">
            <a:avLst/>
          </a:prstGeom>
          <a:noFill/>
          <a:ln w="6350">
            <a:solidFill>
              <a:srgbClr val="3D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254203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 efectividad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10,151 clientes/mes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 devolución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— Ene–May 2025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64008" cy="1170432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987552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RD$43.2M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1591056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netas acumuladas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36392" y="8412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36392" y="841248"/>
            <a:ext cx="64008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87552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~10,151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1591056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 / mes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07024" y="8412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841248"/>
            <a:ext cx="64008" cy="1170432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987552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15,592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62472" y="1591056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/ mes (promedio)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2128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12848"/>
            <a:ext cx="64008" cy="1170432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359152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RD$559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21208" y="2962656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size promedio/factura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36392" y="22128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36392" y="2212848"/>
            <a:ext cx="64008" cy="11704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359152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291840" y="2962656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devolución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07024" y="22128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2212848"/>
            <a:ext cx="64008" cy="1170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2359152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062472" y="2962656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global (mayo)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456432"/>
            <a:ext cx="8412480" cy="13716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456432"/>
            <a:ext cx="64008" cy="137160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566160"/>
            <a:ext cx="8138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clave: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enero se eliminaron 7 rutas del Centro Santo Domingo (~RD$1.2M/mes). El volumen fue redistribuido parcialmente a otras zonas. El análisis excluye Galletería (descontinuada). Estacionalidad de vacaciones escolares (Jun–Ago) proyecta presión adicional sobre las ventas.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ventas mensual (RD$)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777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size (RD$/factura)</a:t>
            </a:r>
            <a:endParaRPr lang="en-US" sz="11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766560" y="1051560"/>
          <a:ext cx="20116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766560" y="3063240"/>
            <a:ext cx="2011680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12280" y="3108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RD$9.3M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812280" y="3447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mes — Mayo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766560" y="3886200"/>
            <a:ext cx="2011680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12280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RD$8.1M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812280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mes — Abril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size bajó de RD$597 (ene) → RD$515 (abr) y recuperó levemente en mayo (RD$554). Más facturas, pero cada una vale menos — señal de pedidos pequeños.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categoría — acumulado Ene–May (sin Galletería)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8521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777240"/>
          <a:ext cx="2377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548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RD$19.6M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Car. Duros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RD$10.6M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RD$4.8M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Cichlet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RD$2.9M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Gomas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RD$2.1M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Grissly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RD$1.7M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Chocolatería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RD$1.4M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Car. Blandos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RD$0.0M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Bolones representa el 45% de las ventas. Concentración muy alta en una sola categoría — cualquier variación de precio o abasto golpea el total.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mensual por categoría (top 5)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53128"/>
            <a:ext cx="40233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4453128"/>
            <a:ext cx="64008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" y="4498848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Chocolatería: RD$119K (ene) → RD$463K (may). Cuadruplicó en 5 meses.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4453128"/>
            <a:ext cx="4206240" cy="530352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4453128"/>
            <a:ext cx="64008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7448" y="449884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Paletas: bajó de RD$1.01M (ene) → RD$762K (abr). Recuperó en mayo. Vigilar en Q3.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zona supervisada — evolución mensual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 rutas del Centro SD: RD$1.25M (ene) → RD$0 (abr). SDE (Pimentel) creció de RD$53K → RD$1.18M en mismo período. La redistribución es parcial — hay volumen que se perdió.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canal y tamaño de cliente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canal (promedio mensual)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78992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80467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tamaño de cliente — ventas acumuladas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63440" y="1078992"/>
          <a:ext cx="4160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858768"/>
          <a:ext cx="41605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00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Grande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RD$837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Mediano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Pequeño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RD$371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RD$370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RD$328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Mediano y C Pequeño: 45% de ventas, 5,200+ clientes/mes. Drop size cayó RD$531→427 (B) y RD$457→374 (C). Recuperar RD$100/factura = +RD$800K/mes.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— clientes asignados vs. compraron Colombina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2011680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2011680" cy="64008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86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20,376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89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Asignados (Rutavisitas)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2011680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804672"/>
            <a:ext cx="2011680" cy="6400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886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289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Compraron mayo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2011680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804672"/>
            <a:ext cx="201168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86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289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(mayo)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804672"/>
            <a:ext cx="2011680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804672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886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16,527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1289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compra Colombina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1783080"/>
          <a:ext cx="54864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83080"/>
          <a:ext cx="27432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713232"/>
                <a:gridCol w="5669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Compraron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Efect.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mejora mes a mes (+3pp en 5 meses). Sin embargo, el 81% de los clientes visitados no compra Colombina en ningún mes. Hay un gap enorme de penetración.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por zona — mayo 2025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7607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777240"/>
          <a:ext cx="2560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 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 Corto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E7D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3822192"/>
            <a:ext cx="256032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217920" y="3822192"/>
            <a:ext cx="64008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355080" y="38587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L.: 39.4%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— modelo a replicar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rutas con 0% de penetración Colombina (~3,600 clientes). Diagnóstico urgente: capacitación, portafolio disponible o son rutas post-reorganización.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efectividad por ruta — mayo 2025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68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rutas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02920"/>
                <a:gridCol w="685800"/>
                <a:gridCol w="64008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Act/Asig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Jhostin Olivo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327/402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RD$672K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 Donal 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OCO1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268/509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RD$271K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Kelvin B. Muñoz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221/457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RD$181K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Jhonny Rosario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SJM2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168/395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RD$227K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 Rodriguez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SDN6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201/485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RD$156K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de los Santos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SJM1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177/473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RD$194K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Franciscol Felix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168/453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RD$215K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Ezequiel Beltre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180/534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RD$175K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768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con mayor oportunidad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02920"/>
                <a:gridCol w="685800"/>
                <a:gridCol w="64008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Act/Asig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Dilcio Navarro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SDO2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71/571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RD$60K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Martina Ramirez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85/592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RD$57K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Jefry Candelario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68/481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RD$57K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Gutierrez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87/580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RD$56K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Enrrique Morillo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74/571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RD$51K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Anderson Gomez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SDN7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107/468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RD$99K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 Valdez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SDO7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30/617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RD$23K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Yeuri Montaño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SDE1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8/582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RD$3K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Jhostin Olivo (BAR2): 81.3% efect. y RD$672K/mes. Con ~400 clientes asignados genera 5–10× más ventas que rutas del mismo tamaño. Es el modelo a replicar.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vacaciones Jun–Ago y drop size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804672"/>
            <a:ext cx="3200400" cy="96012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804672"/>
            <a:ext cx="6400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85953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Bolones — mayor riesgo (45%)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0" y="12070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consumo escolar, caída esperada Jun–Ago. Requiere plan de activación.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1856232"/>
            <a:ext cx="3200400" cy="96012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856232"/>
            <a:ext cx="64008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19110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Paletas — oportunidad de calor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22585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bajó 25% ene→abr. El calor puede recuperarla, pero necesita empuje.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2907792"/>
            <a:ext cx="3200400" cy="96012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2907792"/>
            <a:ext cx="64008" cy="960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29626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Chocolatería — proteger la curva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5000" y="33101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Cuadruplicó en 5 meses. El calor puede frenarla. Cadena frío + visibilidad.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3959352"/>
            <a:ext cx="320040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77840" y="3959352"/>
            <a:ext cx="64008" cy="96012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401421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size — tendencia preocupante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15000" y="4361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Cayó RD$82 en 5 meses. Combos y venta cruzada para elevar ticket promedio.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3474720"/>
            <a:ext cx="5029200" cy="105156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3474720"/>
            <a:ext cx="64008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1208" y="3538728"/>
            <a:ext cx="4773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doble para junio: el impacto de las 7 rutas eliminadas aún se digiere, Y los meses de vacaciones traen caída estacional. Monitoreo semanal obligatorio Jun–Ago.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focal — Colombina 2025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502920" cy="1261872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0700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8961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efectividad SDO / DN / SDE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~8,800 clientes, 8–12% efectividad. Meta: 20% = +RD$1.5M/mes. Replicar método Jhostin Olivo (BAR2).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22960"/>
            <a:ext cx="502920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0700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8961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11 rutas con 0% penetración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29844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~3,600 clientes asignados sin venta. Diagnóstico: capacitación, portafolio o rutas nuevas.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12848"/>
            <a:ext cx="502920" cy="12618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59689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2860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drop size B Mediano y C Pequeño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688336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Bajó RD$100+ en ambos segmentos. Combos y venta cruzada entre categorías Colombina.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12848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212848"/>
            <a:ext cx="502920" cy="12618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59689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Capitalizar crecimiento de Chocolatería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688336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119K → 463K en 5 meses. Pedir POP, exhibidores y presupuesto de activación al suplidor.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02736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02736"/>
            <a:ext cx="50292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98678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0120" y="36758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Paletas + Bolones para Jun–Ago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4078224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de calor para paletas. Reactivación de Bolones antes de que vacaciones los frene.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02736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602736"/>
            <a:ext cx="502920" cy="1261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98678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03520" y="36758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portafolio Gomas y Blandos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4078224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Gomas: RD$371K → RD$315K. Blandos marginal. Verificar precio, surtido y competencia.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90472"/>
            <a:ext cx="320040" cy="320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datos de efectividad por ruta con supervisores antes de reunión con Colombina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756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benchmark Jhostin Olivo (BAR2) como caso de estudio al equipo de ventas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07208"/>
            <a:ext cx="320040" cy="320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07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3405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Acordar con Colombina metas de efectividad por zona y plan de soporte (POP, exhibidores)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320040" cy="320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65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392424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monitoreo semanal Jun–Ago para medir impacto de vacaciones escolares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23944"/>
            <a:ext cx="320040" cy="320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23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507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portafolio de Gomas y Blandos y definir si se descontinúan o se activan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321040" cy="0"/>
          </a:xfrm>
          <a:prstGeom prst="line">
            <a:avLst/>
          </a:prstGeom>
          <a:noFill/>
          <a:ln w="6350">
            <a:solidFill>
              <a:srgbClr val="2E4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  —  Análisis Colombina Ene–May 2025  —  Confidencial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Colombina Ene-May 2025</dc:title>
  <dc:subject>PptxGenJS Presentation</dc:subject>
  <dc:creator>AM Comercial</dc:creator>
  <cp:lastModifiedBy>AM Comercial</cp:lastModifiedBy>
  <cp:revision>1</cp:revision>
  <dcterms:created xsi:type="dcterms:W3CDTF">2026-06-18T17:40:05Z</dcterms:created>
  <dcterms:modified xsi:type="dcterms:W3CDTF">2026-06-18T17:40:05Z</dcterms:modified>
</cp:coreProperties>
</file>