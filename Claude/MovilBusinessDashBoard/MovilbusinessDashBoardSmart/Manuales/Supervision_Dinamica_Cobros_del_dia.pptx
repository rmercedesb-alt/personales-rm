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51560" cy="1051560"/>
          </a:xfrm>
          <a:prstGeom prst="roundRect">
            <a:avLst>
              <a:gd name="adj" fmla="val 28000"/>
            </a:avLst>
          </a:prstGeom>
          <a:solidFill>
            <a:srgbClr val="1C22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/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9659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8A6FF"/>
                </a:solidFill>
                <a:latin typeface="Segoe UI"/>
              </a:rPr>
              <a:t>SUPERVISIÓN DINÁMICA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Guía de uso: Cobros del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32461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B949E"/>
                </a:solidFill>
                <a:latin typeface="Segoe UI"/>
              </a:rPr>
              <a:t>Cómo dar seguimiento diario a las metas por vendedor,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B949E"/>
                </a:solidFill>
                <a:latin typeface="Segoe UI"/>
              </a:rPr>
              <a:t>contactar y dejar constancia — paso a paso.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3834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E6EDF3"/>
                </a:solidFill>
                <a:latin typeface="Segoe UI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0749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Calle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05272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Acompañamiento y Auditoría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489204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503834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E6EDF3"/>
                </a:solidFill>
                <a:latin typeface="Segoe UI"/>
              </a:rP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0749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Virtual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605272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Alertas de Torre + contacto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89204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503834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E6EDF3"/>
                </a:solidFill>
                <a:latin typeface="Segoe U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0749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Cobros del día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605272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Metas diarias · foco de esta guía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AM Comercial, S.A.S.  ·  Módulo /supervision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Segoe U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Un solo módulo, tres formas de supervisar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2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0881360" cy="1524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B949E"/>
                </a:solidFill>
                <a:latin typeface="Segoe UI"/>
              </a:rPr>
              <a:t>Supervisión Dinámica combina lo que pasa en la calle, la oficina y los números del día en un solo lugar — con historial y seguimiento por supervisor y vendedor.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3429000" cy="4206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📍 Calle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8803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Acompañamiento: los 5 pasos de la venta AM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Auditoría: servicio y gestión del PDV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Cliente por cliente, con foto y firma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40280"/>
            <a:ext cx="3429000" cy="4206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🖥️ Virtual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28803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Alertas de Torre de Control por vendedor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Comentario + compromiso por contacto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Se pausa 60 min tras cada contacto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240280"/>
            <a:ext cx="3429000" cy="4206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222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66960" y="203911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200" b="1">
                <a:solidFill>
                  <a:srgbClr val="0D1117"/>
                </a:solidFill>
                <a:latin typeface="Segoe UI"/>
              </a:rPr>
              <a:t>ÉNFASIS AQUÍ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146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💰 Cobros del día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54680"/>
            <a:ext cx="28803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3FB950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Metas del día por vendedor (semáforo)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3FB950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Presupuesto · Pedidos · Producto · Activaciones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3FB950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Contacto, cortes del día y reportes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Segoe UI"/>
              </a:rPr>
              <a:t>Supervisión Dinámica · AM Comercial, S.A.S.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Segoe UI"/>
              </a:rPr>
              <a:t>COBROS DEL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Qué mide y cómo se colorea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3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0881360" cy="1524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64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8A6FF"/>
                </a:solidFill>
                <a:latin typeface="Segoe UI"/>
              </a:rPr>
              <a:t>Presupuesto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Monto vs. meta del día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(PresupuestosHistoricos)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002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64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8A6FF"/>
                </a:solidFill>
                <a:latin typeface="Segoe UI"/>
              </a:rPr>
              <a:t>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6712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Pedidos distintos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del día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64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8A6FF"/>
                </a:solidFill>
                <a:latin typeface="Segoe UI"/>
              </a:rPr>
              <a:t>Producto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6712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Pedidos distintos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de un producto puntual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002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764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8A6FF"/>
                </a:solidFill>
                <a:latin typeface="Segoe UI"/>
              </a:rPr>
              <a:t>Activaciones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16712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Clientes distintos activados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(producto / categoría / suplidor)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Semáforo por vendedor (el que va peor aparece primero)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3429000" cy="1005840"/>
          </a:xfrm>
          <a:prstGeom prst="roundRect">
            <a:avLst>
              <a:gd name="adj" fmla="val 10000"/>
            </a:avLst>
          </a:prstGeom>
          <a:solidFill>
            <a:srgbClr val="1C2230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77055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FB950"/>
                </a:solidFill>
                <a:latin typeface="Segoe UI"/>
              </a:rPr>
              <a:t>🟢 VERDE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79391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≥ 90%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49039"/>
            <a:ext cx="3429000" cy="1005840"/>
          </a:xfrm>
          <a:prstGeom prst="roundRect">
            <a:avLst>
              <a:gd name="adj" fmla="val 10000"/>
            </a:avLst>
          </a:prstGeom>
          <a:solidFill>
            <a:srgbClr val="1C2230"/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877055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29922"/>
                </a:solidFill>
                <a:latin typeface="Segoe UI"/>
              </a:rPr>
              <a:t>🟡 AMARILLO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279391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≥ 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749039"/>
            <a:ext cx="3429000" cy="1005840"/>
          </a:xfrm>
          <a:prstGeom prst="roundRect">
            <a:avLst>
              <a:gd name="adj" fmla="val 10000"/>
            </a:avLst>
          </a:prstGeom>
          <a:solidFill>
            <a:srgbClr val="1C2230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877055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5149"/>
                </a:solidFill>
                <a:latin typeface="Segoe UI"/>
              </a:rPr>
              <a:t>🔴 ROJO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279391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&lt; 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7492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En los cortes de 9:50 AM y 11:50 AM se compara la PROYECCIÓN al cierre (regla de 3 desde las 8:00 AM hasta las 3:30 PM).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En el corte de 3:30 PM ya no se proyecta: se compara el LOGRO REAL contra la meta del día.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Segoe UI"/>
              </a:rPr>
              <a:t>Supervisión Dinámica · AM Comercial, S.A.S.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Segoe UI"/>
              </a:rPr>
              <a:t>PASO A PASO · 1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Ver el estado del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4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0881360" cy="1524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1965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Entra a la pestaña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Supervisión Dinámica → 💰 Cobros del día → subtab "📋 Estado del día".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81965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Elige la alerta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Selecciona en el desplegable cuál KPI quieres ver (Presupuesto, Pedidos, Producto o Activaciones).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428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Lee la lista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Agrupada por supervisor (clic para expandir/colapsar) — dentro, tus vendedores ordenados con el que va peor primero.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2336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2428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Revisa las tarjetas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Arriba: mejor y peor alerta del día, y qué supervisor tiene más/menos contactos hechos hoy.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Segoe UI"/>
              </a:rPr>
              <a:t>Supervisión Dinámica · AM Comercial, S.A.S.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Segoe UI"/>
              </a:rPr>
              <a:t>PASO A PASO · 2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Contactar a un vendedor o a un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5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0881360" cy="1524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1965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Elige el recurso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Botón "📞 Contactar" en un vendedor, o "📞 Contactar supervisor" en el encabezado del equipo (contacta por el resultado de todo el equipo).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81965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Revisa las alarmas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Se listan TODAS las alarmas configuradas que estén activas (rojo/amarillo) para ese recurso en ese momento — no solo la que tenías seleccionada.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428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Registra el contacto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Canal (llamada/WhatsApp/videollamada/presencial), Contacto con, Comentario y Compromiso — uno solo cubre todas las alarmas listadas.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2336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2428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Guarda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Al guardar, ese recurso queda en pausa 60 minutos (no puede volver a contactarse); luego reactiva con las alarmas que sigan vigentes a esa hora.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Segoe UI"/>
              </a:rPr>
              <a:t>Supervisión Dinámica · AM Comercial, S.A.S.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Segoe UI"/>
              </a:rPr>
              <a:t>PASO A PASO · 3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Guardar los 3 cortes del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6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0881360" cy="1524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8B949E"/>
                </a:solidFill>
                <a:latin typeface="Segoe UI"/>
              </a:rPr>
              <a:t>Tres momentos fijos para dejar registro del avance — así queda historial para los reportes.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3429000" cy="22860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58A6FF"/>
                </a:solidFill>
                <a:latin typeface="Segoe UI"/>
              </a:rPr>
              <a:t>9:50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Primer corte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Proyecta el cierre desde lo avanzado en la mañana.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8A6FF"/>
                </a:solidFill>
                <a:latin typeface="Segoe UI"/>
              </a:rPr>
              <a:t>💾 Guardar corte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94560"/>
            <a:ext cx="3429000" cy="22860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95728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29922"/>
                </a:solidFill>
                <a:latin typeface="Segoe UI"/>
              </a:rPr>
              <a:t>11:50 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718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Segundo corte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Vuelve a proyectar el cierre con más información del día.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9776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D29922"/>
                </a:solidFill>
                <a:latin typeface="Segoe UI"/>
              </a:rPr>
              <a:t>💾 Guardar corte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2194560"/>
            <a:ext cx="3429000" cy="22860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395728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FB950"/>
                </a:solidFill>
                <a:latin typeface="Segoe UI"/>
              </a:rPr>
              <a:t>3:30 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9718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Corte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4290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Ya NO proyecta: compara el logro real contra la meta.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9776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FB950"/>
                </a:solidFill>
                <a:latin typeface="Segoe UI"/>
              </a:rPr>
              <a:t>💾 Guardar corte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El botón vuelve a calcular todo en el servidor en ese instante (no usa datos viejos de la pantalla).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Esto es lo que después alimenta el subtab "🖨️ Reportes": cuántas alertas se generaron y cuáles ya se atendieron.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Segoe UI"/>
              </a:rPr>
              <a:t>Supervisión Dinámica · AM Comercial, S.A.S.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Segoe UI"/>
              </a:rPr>
              <a:t>PASO A PASO · 4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Vista consolidada y reportes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7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0881360" cy="1524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🚦 Todas las alertas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709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Supervisor → Vendedor, igual que Torre de Control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Cada vendedor muestra TODAS sus alertas a la vez, en chips de color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Filtros: Supervisor, Vendedor, Alerta y Semáforo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8A6FF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Ideal para una revisión rápida de todo el equipo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🖨️ Reportes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709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3FB950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Rango de fechas + filtros Supervisor/Vendedor/Alerta/Semáforo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3FB950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"Generadas": vendedor que cerró el día en amarillo o rojo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3FB950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"Atendidas": los contactos que sí se registraron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3FB950"/>
                </a:solidFill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Botón Imprimir (abre una versión lista para PDF)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Segoe UI"/>
              </a:rPr>
              <a:t>Supervisión Dinámica · AM Comercial, S.A.S.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Segoe U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Rutina diaria recomendada para el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8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0881360" cy="1524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08760" y="1600200"/>
            <a:ext cx="868680" cy="777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117"/>
                </a:solidFill>
                <a:latin typeface="Segoe UI"/>
              </a:rPr>
              <a:t>9:50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0020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E6EDF3"/>
                </a:solidFill>
                <a:latin typeface="Segoe UI"/>
              </a:rPr>
              <a:t>Revisar el semáforo y contactar a los peores casos del día.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08760" y="2514600"/>
            <a:ext cx="868680" cy="777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117"/>
                </a:solidFill>
                <a:latin typeface="Segoe UI"/>
              </a:rPr>
              <a:t>11:50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1460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E6EDF3"/>
                </a:solidFill>
                <a:latin typeface="Segoe UI"/>
              </a:rPr>
              <a:t>Segunda pasada: contactar a quien siga en rojo/amarillo.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08760" y="3429000"/>
            <a:ext cx="868680" cy="777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117"/>
                </a:solidFill>
                <a:latin typeface="Segoe UI"/>
              </a:rPr>
              <a:t>3:30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E6EDF3"/>
                </a:solidFill>
                <a:latin typeface="Segoe UI"/>
              </a:rPr>
              <a:t>Corte final: comparar el logro real y guardar.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34340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08760" y="4343400"/>
            <a:ext cx="868680" cy="777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43400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117"/>
                </a:solidFill>
                <a:latin typeface="Segoe UI"/>
              </a:rPr>
              <a:t>Cierre del día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4340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E6EDF3"/>
                </a:solidFill>
                <a:latin typeface="Segoe UI"/>
              </a:rPr>
              <a:t>Revisar "🖨️ Reportes" para confirmar qué quedó atendido.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Configuración (solo Gerencia): editar/vencer alertas, asignar vendedores por alerta y ajustar umbrales/vigencia.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Segoe UI"/>
              </a:rPr>
              <a:t>Supervisión Dinámica · AM Comercial, S.A.S.  ·  /supervision → Cobros del día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