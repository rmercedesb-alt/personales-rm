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22A2B7-1592-4B42-A41D-9DDBFD2E8907}" v="1" dt="2026-08-25T21:47:31.9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5029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</a:t>
            </a:r>
            <a:r>
              <a:rPr lang="en-US"/>
              <a:t>El AMCO-GT </a:t>
            </a:r>
            <a:r>
              <a:rPr lang="en-US" dirty="0"/>
              <a:t>resume la semana de cada ruta en un número de 0 a 100 y una banda de color. Esta guía enseña a leerlo y a usarlo para hablar con el vendedor.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 AMCO-GT </a:t>
            </a:r>
            <a:r>
              <a:rPr lang="en-US" dirty="0"/>
              <a:t>pondera 60% la gestión del tiempo (que el vendedor cubra su ruta, arranque temprano y no cierre antes de tiempo) y 40% la calidad de ejecución. El color dice de un vistazo a quién atender primero.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indicador por indicador. Lo importante para el supervisor: cada uno tiene una acción concreta de mejora. El peso indica cuánto mueve </a:t>
            </a:r>
            <a:r>
              <a:rPr lang="en-US"/>
              <a:t>el AMCO-GT.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 del supervisor: número, causa (cascada), conclusión, plan y seguimiento. La cascada evita quedarse en el síntoma.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cada rol tiene palancas concretas. El hábito semanal de 15 minutos por ruta —número, causa, acción, seguimiento— es lo que mueve los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COMERCIAL, S.A.S.  ·  PREVENTA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 </a:t>
            </a:r>
            <a:r>
              <a:rPr lang="en-US" sz="5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Semanal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58368" y="2286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B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Eficiencia de la Gestión del Tiempo (</a:t>
            </a:r>
            <a:r>
              <a:rPr lang="en-US" sz="2000" b="1">
                <a:solidFill>
                  <a:srgbClr val="3B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AMCO-GT)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2880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para el supervisor: cómo usar el informe para preparar el abordaje a cada vendedor.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B2440"/>
          </a:solidFill>
          <a:ln w="2540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7" name="Shape 5"/>
          <p:cNvSpPr/>
          <p:nvPr/>
        </p:nvSpPr>
        <p:spPr>
          <a:xfrm>
            <a:off x="896112" y="4370832"/>
            <a:ext cx="310896" cy="310896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8" name="Text 6"/>
          <p:cNvSpPr/>
          <p:nvPr/>
        </p:nvSpPr>
        <p:spPr>
          <a:xfrm>
            <a:off x="1325880" y="4334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Sólida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AMCO-GT ≥ 85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29000" y="41148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B2440"/>
          </a:solidFill>
          <a:ln w="25400">
            <a:solidFill>
              <a:srgbClr val="B5810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1" name="Shape 9"/>
          <p:cNvSpPr/>
          <p:nvPr/>
        </p:nvSpPr>
        <p:spPr>
          <a:xfrm>
            <a:off x="3685032" y="4370832"/>
            <a:ext cx="310896" cy="310896"/>
          </a:xfrm>
          <a:prstGeom prst="ellipse">
            <a:avLst/>
          </a:prstGeom>
          <a:solidFill>
            <a:srgbClr val="B58100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2" name="Text 10"/>
          <p:cNvSpPr/>
          <p:nvPr/>
        </p:nvSpPr>
        <p:spPr>
          <a:xfrm>
            <a:off x="4114800" y="4334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AMCO-GT 70–84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41148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B2440"/>
          </a:solidFill>
          <a:ln w="25400">
            <a:solidFill>
              <a:srgbClr val="C15A12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5" name="Shape 13"/>
          <p:cNvSpPr/>
          <p:nvPr/>
        </p:nvSpPr>
        <p:spPr>
          <a:xfrm>
            <a:off x="6473952" y="4370832"/>
            <a:ext cx="310896" cy="310896"/>
          </a:xfrm>
          <a:prstGeom prst="ellipse">
            <a:avLst/>
          </a:prstGeom>
          <a:solidFill>
            <a:srgbClr val="C15A12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6" name="Text 14"/>
          <p:cNvSpPr/>
          <p:nvPr/>
        </p:nvSpPr>
        <p:spPr>
          <a:xfrm>
            <a:off x="6903720" y="4334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AMCO-GT 55–69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06840" y="41148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B2440"/>
          </a:solidFill>
          <a:ln w="2540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9" name="Shape 17"/>
          <p:cNvSpPr/>
          <p:nvPr/>
        </p:nvSpPr>
        <p:spPr>
          <a:xfrm>
            <a:off x="9262872" y="4370832"/>
            <a:ext cx="310896" cy="310896"/>
          </a:xfrm>
          <a:prstGeom prst="ellipse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0" name="Text 18"/>
          <p:cNvSpPr/>
          <p:nvPr/>
        </p:nvSpPr>
        <p:spPr>
          <a:xfrm>
            <a:off x="9692640" y="4334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8116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AMCO-GT &lt; 55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100  ·  un solo número por ruta cada semana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</a:t>
            </a:r>
            <a:r>
              <a:rPr lang="en-US" sz="34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</a:t>
            </a: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AMCO-GT y cómo se lee?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número (0–100) que resume qué tan bien trabajó la ruta durante la semana. Se arma de 7 indicadores agrupados en dos bloques: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4443984" cy="64008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4443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Tiempo  ·  60%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8928" y="2331720"/>
            <a:ext cx="2907792" cy="640080"/>
          </a:xfrm>
          <a:prstGeom prst="roundRect">
            <a:avLst>
              <a:gd name="adj" fmla="val 7143"/>
            </a:avLst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7" name="Text 5"/>
          <p:cNvSpPr/>
          <p:nvPr/>
        </p:nvSpPr>
        <p:spPr>
          <a:xfrm>
            <a:off x="5138928" y="233172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Ejecución  ·  40%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visitas · arranque temprano · cierre no prematuro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38928" y="30632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en banda · ruta · punto de venta · ritmo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lee: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4023360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/ Sólida: la ruta trabaja bien, reconócelo y sostén.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Amarillo / Aceptable: buen desempeño con detalles a pulir.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Naranja / Irregular: desvíos que restan resultado, hay que corregir.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/ Deficiente: ruta prioritaria, acompañamiento inmediato.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75320" y="1280160"/>
            <a:ext cx="3246120" cy="44805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13" name="Text 11"/>
          <p:cNvSpPr/>
          <p:nvPr/>
        </p:nvSpPr>
        <p:spPr>
          <a:xfrm>
            <a:off x="854964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BANDAS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49640" y="2020824"/>
            <a:ext cx="365760" cy="365760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5" name="Text 13"/>
          <p:cNvSpPr/>
          <p:nvPr/>
        </p:nvSpPr>
        <p:spPr>
          <a:xfrm>
            <a:off x="905256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Sólida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52560" y="2350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AMCO-GT ≥ 85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49640" y="2953512"/>
            <a:ext cx="365760" cy="365760"/>
          </a:xfrm>
          <a:prstGeom prst="ellipse">
            <a:avLst/>
          </a:prstGeom>
          <a:solidFill>
            <a:srgbClr val="B58100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8" name="Text 16"/>
          <p:cNvSpPr/>
          <p:nvPr/>
        </p:nvSpPr>
        <p:spPr>
          <a:xfrm>
            <a:off x="9052560" y="2898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52560" y="32826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AMCO-GT 70 – 84.9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49640" y="3886200"/>
            <a:ext cx="365760" cy="365760"/>
          </a:xfrm>
          <a:prstGeom prst="ellipse">
            <a:avLst/>
          </a:prstGeom>
          <a:solidFill>
            <a:srgbClr val="C15A12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1" name="Text 19"/>
          <p:cNvSpPr/>
          <p:nvPr/>
        </p:nvSpPr>
        <p:spPr>
          <a:xfrm>
            <a:off x="9052560" y="38313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52560" y="42153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AMCO-GT 55 – 69.9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49640" y="4818888"/>
            <a:ext cx="365760" cy="365760"/>
          </a:xfrm>
          <a:prstGeom prst="ellipse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4" name="Text 22"/>
          <p:cNvSpPr/>
          <p:nvPr/>
        </p:nvSpPr>
        <p:spPr>
          <a:xfrm>
            <a:off x="9052560" y="47640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52560" y="5148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AMCO-GT menos de 55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7 indicadores: qué miden y cómo mejorarlos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TIEMPO — 60%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5" name="Shape 3"/>
          <p:cNvSpPr/>
          <p:nvPr/>
        </p:nvSpPr>
        <p:spPr>
          <a:xfrm>
            <a:off x="804672" y="1755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804672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89888" y="17190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de visitas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376672" y="1737360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9" name="Text 7"/>
          <p:cNvSpPr/>
          <p:nvPr/>
        </p:nvSpPr>
        <p:spPr>
          <a:xfrm>
            <a:off x="5376672" y="17373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89888" y="2103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visitados vs. los programados.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89888" y="23957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cubrir toda la ruta asignada.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798064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13" name="Shape 11"/>
          <p:cNvSpPr/>
          <p:nvPr/>
        </p:nvSpPr>
        <p:spPr>
          <a:xfrm>
            <a:off x="804672" y="29809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4" name="Text 12"/>
          <p:cNvSpPr/>
          <p:nvPr/>
        </p:nvSpPr>
        <p:spPr>
          <a:xfrm>
            <a:off x="804672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89888" y="29443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temprano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376672" y="2962656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7" name="Text 15"/>
          <p:cNvSpPr/>
          <p:nvPr/>
        </p:nvSpPr>
        <p:spPr>
          <a:xfrm>
            <a:off x="5376672" y="2962656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89888" y="33284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del primer pedido del día.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89888" y="36210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pedido a las 8:15 o antes.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21" name="Shape 19"/>
          <p:cNvSpPr/>
          <p:nvPr/>
        </p:nvSpPr>
        <p:spPr>
          <a:xfrm>
            <a:off x="804672" y="4206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2" name="Text 20"/>
          <p:cNvSpPr/>
          <p:nvPr/>
        </p:nvSpPr>
        <p:spPr>
          <a:xfrm>
            <a:off x="804672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89888" y="41696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no prematuro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376672" y="4187952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5" name="Text 23"/>
          <p:cNvSpPr/>
          <p:nvPr/>
        </p:nvSpPr>
        <p:spPr>
          <a:xfrm>
            <a:off x="5376672" y="418795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89888" y="4553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del último pedido.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89888" y="4846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cerrar la ruta antes de las 3:30 pm.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EJECUCIÓN — 40%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1572768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30" name="Shape 28"/>
          <p:cNvSpPr/>
          <p:nvPr/>
        </p:nvSpPr>
        <p:spPr>
          <a:xfrm>
            <a:off x="6473952" y="1755648"/>
            <a:ext cx="457200" cy="457200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1" name="Text 29"/>
          <p:cNvSpPr/>
          <p:nvPr/>
        </p:nvSpPr>
        <p:spPr>
          <a:xfrm>
            <a:off x="6473952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59168" y="17190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de ventas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10817352" y="1737360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4" name="Text 32"/>
          <p:cNvSpPr/>
          <p:nvPr/>
        </p:nvSpPr>
        <p:spPr>
          <a:xfrm>
            <a:off x="10817352" y="17373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59168" y="210312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con pedido; ideal 55–65%.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59168" y="239572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necesidades y cerrar.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2798064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38" name="Shape 36"/>
          <p:cNvSpPr/>
          <p:nvPr/>
        </p:nvSpPr>
        <p:spPr>
          <a:xfrm>
            <a:off x="6473952" y="2980944"/>
            <a:ext cx="457200" cy="457200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9" name="Text 37"/>
          <p:cNvSpPr/>
          <p:nvPr/>
        </p:nvSpPr>
        <p:spPr>
          <a:xfrm>
            <a:off x="6473952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059168" y="29443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ruta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10817352" y="2962656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42" name="Text 40"/>
          <p:cNvSpPr/>
          <p:nvPr/>
        </p:nvSpPr>
        <p:spPr>
          <a:xfrm>
            <a:off x="10817352" y="2962656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59168" y="3328416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a clientes fuera de ruta.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59168" y="362102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siguiendo el ruteo del día.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09360" y="40233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46" name="Shape 44"/>
          <p:cNvSpPr/>
          <p:nvPr/>
        </p:nvSpPr>
        <p:spPr>
          <a:xfrm>
            <a:off x="6473952" y="4206240"/>
            <a:ext cx="457200" cy="457200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47" name="Text 45"/>
          <p:cNvSpPr/>
          <p:nvPr/>
        </p:nvSpPr>
        <p:spPr>
          <a:xfrm>
            <a:off x="6473952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059168" y="416966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en PDV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10817352" y="4187952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50" name="Text 48"/>
          <p:cNvSpPr/>
          <p:nvPr/>
        </p:nvSpPr>
        <p:spPr>
          <a:xfrm>
            <a:off x="10817352" y="418795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059168" y="455371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hechas fuera del punto de venta.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059168" y="484632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dentro del local del cliente.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309360" y="5248656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54" name="Shape 52"/>
          <p:cNvSpPr/>
          <p:nvPr/>
        </p:nvSpPr>
        <p:spPr>
          <a:xfrm>
            <a:off x="6473952" y="5431536"/>
            <a:ext cx="457200" cy="457200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55" name="Text 53"/>
          <p:cNvSpPr/>
          <p:nvPr/>
        </p:nvSpPr>
        <p:spPr>
          <a:xfrm>
            <a:off x="6473952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059168" y="53949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de visita</a:t>
            </a:r>
            <a:endParaRPr lang="en-US" sz="1450" dirty="0"/>
          </a:p>
        </p:txBody>
      </p:sp>
      <p:sp>
        <p:nvSpPr>
          <p:cNvPr id="57" name="Shape 55"/>
          <p:cNvSpPr/>
          <p:nvPr/>
        </p:nvSpPr>
        <p:spPr>
          <a:xfrm>
            <a:off x="10817352" y="5413248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58" name="Text 56"/>
          <p:cNvSpPr/>
          <p:nvPr/>
        </p:nvSpPr>
        <p:spPr>
          <a:xfrm>
            <a:off x="10817352" y="541324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059168" y="577900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por visita vs. sus pares.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059168" y="6071616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parejo, ni muy corto ni muy largo.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preparar el abordaje al vendedor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este orden antes de la reunión semanal. El informe ya te da la conclusión y el plan escritos.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</a:t>
            </a:r>
            <a:r>
              <a:rPr lang="en-US" sz="1450" b="1" dirty="0" err="1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AMCO-GT y la banda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093976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 la ruta: ¿sólida, aceptable, irregular o deficiente? Prioriza rojas y naranjas.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532888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10" name="Shape 8"/>
          <p:cNvSpPr/>
          <p:nvPr/>
        </p:nvSpPr>
        <p:spPr>
          <a:xfrm>
            <a:off x="822960" y="2670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1" name="Text 9"/>
          <p:cNvSpPr/>
          <p:nvPr/>
        </p:nvSpPr>
        <p:spPr>
          <a:xfrm>
            <a:off x="82296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262432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la cascada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63040" y="2935224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los indicadores en orden fijo para encontrar la CAUSA, no solo el síntoma.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374136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15" name="Shape 13"/>
          <p:cNvSpPr/>
          <p:nvPr/>
        </p:nvSpPr>
        <p:spPr>
          <a:xfrm>
            <a:off x="822960" y="3511296"/>
            <a:ext cx="457200" cy="457200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6" name="Text 14"/>
          <p:cNvSpPr/>
          <p:nvPr/>
        </p:nvSpPr>
        <p:spPr>
          <a:xfrm>
            <a:off x="8229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34655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la conclusión y el foco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377647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informe redacta el patrón y el "foco de la semana". Es tu guion para la conversación.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215384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20" name="Shape 18"/>
          <p:cNvSpPr/>
          <p:nvPr/>
        </p:nvSpPr>
        <p:spPr>
          <a:xfrm>
            <a:off x="822960" y="4352544"/>
            <a:ext cx="457200" cy="457200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1" name="Text 19"/>
          <p:cNvSpPr/>
          <p:nvPr/>
        </p:nvSpPr>
        <p:spPr>
          <a:xfrm>
            <a:off x="82296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430682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el plan de acción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63040" y="4617720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desvío ya viene con una tarea concreta (auditar ruteo, comprometer 1er pedido…).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56632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25" name="Shape 23"/>
          <p:cNvSpPr/>
          <p:nvPr/>
        </p:nvSpPr>
        <p:spPr>
          <a:xfrm>
            <a:off x="822960" y="5193792"/>
            <a:ext cx="457200" cy="457200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6" name="Text 24"/>
          <p:cNvSpPr/>
          <p:nvPr/>
        </p:nvSpPr>
        <p:spPr>
          <a:xfrm>
            <a:off x="82296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63040" y="51480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Compromete y da seguimiento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63040" y="5458968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Acuerda una meta medible y revísala la próxima semana con el mismo informe.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818120" y="1691640"/>
            <a:ext cx="3703320" cy="4160520"/>
          </a:xfrm>
          <a:prstGeom prst="roundRect">
            <a:avLst>
              <a:gd name="adj" fmla="val 1975"/>
            </a:avLst>
          </a:prstGeom>
          <a:solidFill>
            <a:srgbClr val="0E1626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30" name="Text 28"/>
          <p:cNvSpPr/>
          <p:nvPr/>
        </p:nvSpPr>
        <p:spPr>
          <a:xfrm>
            <a:off x="809244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VERTICAL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fijo que revela la causa: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92440" y="2651760"/>
            <a:ext cx="256032" cy="256032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3" name="Text 31"/>
          <p:cNvSpPr/>
          <p:nvPr/>
        </p:nvSpPr>
        <p:spPr>
          <a:xfrm>
            <a:off x="8092440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58200" y="26609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de visitas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92440" y="3081528"/>
            <a:ext cx="256032" cy="256032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6" name="Text 34"/>
          <p:cNvSpPr/>
          <p:nvPr/>
        </p:nvSpPr>
        <p:spPr>
          <a:xfrm>
            <a:off x="8092440" y="3081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58200" y="3090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de ventas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92440" y="3511296"/>
            <a:ext cx="256032" cy="256032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9" name="Text 37"/>
          <p:cNvSpPr/>
          <p:nvPr/>
        </p:nvSpPr>
        <p:spPr>
          <a:xfrm>
            <a:off x="8092440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5820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fuera de ruta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92440" y="3941064"/>
            <a:ext cx="256032" cy="256032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42" name="Text 40"/>
          <p:cNvSpPr/>
          <p:nvPr/>
        </p:nvSpPr>
        <p:spPr>
          <a:xfrm>
            <a:off x="8092440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458200" y="3950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sin venta / razón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092440" y="4370832"/>
            <a:ext cx="256032" cy="256032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45" name="Text 43"/>
          <p:cNvSpPr/>
          <p:nvPr/>
        </p:nvSpPr>
        <p:spPr>
          <a:xfrm>
            <a:off x="809244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458200" y="43799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del 1er pedido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092440" y="4800600"/>
            <a:ext cx="256032" cy="256032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48" name="Text 46"/>
          <p:cNvSpPr/>
          <p:nvPr/>
        </p:nvSpPr>
        <p:spPr>
          <a:xfrm>
            <a:off x="8092440" y="4800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458200" y="48097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del último pedido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092440" y="5230368"/>
            <a:ext cx="256032" cy="256032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51" name="Text 49"/>
          <p:cNvSpPr/>
          <p:nvPr/>
        </p:nvSpPr>
        <p:spPr>
          <a:xfrm>
            <a:off x="8092440" y="5230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458200" y="5239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promedio de visita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mejora el resultado cada rol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1B2440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VENDEDOR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Cubre toda su ruta y arranca temprano (1er pedido ≤ 8:15).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Vende dentro de la ruta del día y registra en el punto de venta.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Detecta necesidades para subir la efectividad de ventas.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1B2440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8" name="Shape 6"/>
          <p:cNvSpPr/>
          <p:nvPr/>
        </p:nvSpPr>
        <p:spPr>
          <a:xfrm>
            <a:off x="4663440" y="169164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9" name="Text 7"/>
          <p:cNvSpPr/>
          <p:nvPr/>
        </p:nvSpPr>
        <p:spPr>
          <a:xfrm>
            <a:off x="4663440" y="1691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SUPERVISOR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09160" y="237744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6DCFB"/>
                </a:solidFill>
              </a:rPr>
              <a:t>Prioriza rutas rojas/naranjas y usa la conclusión como guion.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6DCFB"/>
                </a:solidFill>
              </a:rPr>
              <a:t>Acompaña medio día donde cae la efectividad o la disciplina.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6DCFB"/>
                </a:solidFill>
              </a:rPr>
              <a:t>Acuerda metas y da seguimiento con el informe cada semana.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1B2440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12" name="Shape 10"/>
          <p:cNvSpPr/>
          <p:nvPr/>
        </p:nvSpPr>
        <p:spPr>
          <a:xfrm>
            <a:off x="8412480" y="169164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3" name="Text 11"/>
          <p:cNvSpPr/>
          <p:nvPr/>
        </p:nvSpPr>
        <p:spPr>
          <a:xfrm>
            <a:off x="8412480" y="1691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GERENTE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58200" y="237744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9EAD3"/>
                </a:solidFill>
              </a:rPr>
              <a:t>Compara centros y supervisores por </a:t>
            </a:r>
            <a:r>
              <a:rPr lang="en-US" sz="1300" dirty="0" err="1">
                <a:solidFill>
                  <a:srgbClr val="C9EAD3"/>
                </a:solidFill>
              </a:rPr>
              <a:t>su</a:t>
            </a:r>
            <a:r>
              <a:rPr lang="en-US" sz="1300" dirty="0">
                <a:solidFill>
                  <a:srgbClr val="C9EAD3"/>
                </a:solidFill>
              </a:rPr>
              <a:t> AMCO-GT y tendencia.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9EAD3"/>
                </a:solidFill>
              </a:rPr>
              <a:t>Detecta patrones repetidos para decisiones de ruteo y foco.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9EAD3"/>
                </a:solidFill>
              </a:rPr>
              <a:t>Reconoce lo sólido y dirige el acompañamiento a lo deficiente.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4864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6" name="Text 14"/>
          <p:cNvSpPr/>
          <p:nvPr/>
        </p:nvSpPr>
        <p:spPr>
          <a:xfrm>
            <a:off x="822960" y="5486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oro: 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→ causa → acción → seguimiento.  15 minutos por ruta cada semana.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33553-27AF-2464-4A70-E332AAB1E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63D42D9-E873-5D68-2951-035039D91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621486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A5BF1E5-C10A-90DD-CFD3-69E8922AD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5362" y="0"/>
            <a:ext cx="4366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683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00C6935-D800-5D6B-9F56-133360E75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241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892</Words>
  <Application>Microsoft Office PowerPoint</Application>
  <PresentationFormat>Panorámica</PresentationFormat>
  <Paragraphs>128</Paragraphs>
  <Slides>7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Rudy Mercedes</cp:lastModifiedBy>
  <cp:revision>2</cp:revision>
  <dcterms:created xsi:type="dcterms:W3CDTF">2026-07-20T14:38:56Z</dcterms:created>
  <dcterms:modified xsi:type="dcterms:W3CDTF">2026-08-25T21:51:18Z</dcterms:modified>
</cp:coreProperties>
</file>