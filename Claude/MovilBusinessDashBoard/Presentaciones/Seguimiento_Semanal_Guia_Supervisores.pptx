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y Mercedes" userId="0002f573-7c95-4ace-b876-97296f6b7a87" providerId="ADAL" clId="{AF80936C-1C5B-4879-B83E-BACF5C4FB5D6}"/>
    <pc:docChg chg="delSld">
      <pc:chgData name="Rudy Mercedes" userId="0002f573-7c95-4ace-b876-97296f6b7a87" providerId="ADAL" clId="{AF80936C-1C5B-4879-B83E-BACF5C4FB5D6}" dt="2026-08-25T21:44:29.619" v="0" actId="47"/>
      <pc:docMkLst>
        <pc:docMk/>
      </pc:docMkLst>
      <pc:sldChg chg="del">
        <pc:chgData name="Rudy Mercedes" userId="0002f573-7c95-4ace-b876-97296f6b7a87" providerId="ADAL" clId="{AF80936C-1C5B-4879-B83E-BACF5C4FB5D6}" dt="2026-08-25T21:44:29.619" v="0" actId="47"/>
        <pc:sldMkLst>
          <pc:docMk/>
          <pc:sldMk cId="4056283835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19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El IEGT resume la semana de cada ruta en un número de 0 a 100 y una banda de color. Esta guía enseña a leerlo y a usarlo para hablar con el vendedor.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IEGT pondera 60% la gestión del tiempo (que el vendedor cubra su ruta, arranque temprano y no cierre antes de tiempo) y 40% la calidad de ejecución. El color dice de un vistazo a quién atender primero.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indicador por indicador. Lo importante para el supervisor: cada uno tiene una acción concreta de mejora. El peso indica cuánto mueve el IEGT.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flujo del supervisor: número, causa (cascada), conclusión, plan y seguimiento. La cascada evita quedarse en el síntoma.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cada rol tiene palancas concretas. El hábito semanal de 15 minutos por ruta —número, causa, acción, seguimiento— es lo que mueve los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176E4-4D3F-0504-66D4-FC3BE576C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C83FF-E4B5-1BBE-842D-CEC18256DD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17968-3528-4AB5-DE64-2B22122F3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El IEGT resume la semana de cada ruta en un número de 0 a 100 y una banda de color. Esta guía enseña a leerlo y a usarlo para hablar con el vendedor.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B22DE-6309-594D-3453-049E11FCA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94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COMERCIAL, S.A.S.  ·  PREVENTA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</a:t>
            </a: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Semanal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58368" y="2286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Eficiencia de la Gestión del Tiempo (IEGT)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para el supervisor: cómo usar el informe para preparar el abordaje a cada vendedor.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1A7F37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7" name="Shape 5"/>
          <p:cNvSpPr/>
          <p:nvPr/>
        </p:nvSpPr>
        <p:spPr>
          <a:xfrm>
            <a:off x="896112" y="4370832"/>
            <a:ext cx="310896" cy="310896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132588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IEGT ≥ 85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2900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B5810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1" name="Shape 9"/>
          <p:cNvSpPr/>
          <p:nvPr/>
        </p:nvSpPr>
        <p:spPr>
          <a:xfrm>
            <a:off x="3685032" y="4370832"/>
            <a:ext cx="310896" cy="310896"/>
          </a:xfrm>
          <a:prstGeom prst="ellipse">
            <a:avLst/>
          </a:prstGeom>
          <a:solidFill>
            <a:srgbClr val="B58100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2" name="Text 10"/>
          <p:cNvSpPr/>
          <p:nvPr/>
        </p:nvSpPr>
        <p:spPr>
          <a:xfrm>
            <a:off x="411480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0332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IEGT 70–84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C15A12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5" name="Shape 13"/>
          <p:cNvSpPr/>
          <p:nvPr/>
        </p:nvSpPr>
        <p:spPr>
          <a:xfrm>
            <a:off x="6473952" y="4370832"/>
            <a:ext cx="310896" cy="310896"/>
          </a:xfrm>
          <a:prstGeom prst="ellipse">
            <a:avLst/>
          </a:prstGeom>
          <a:solidFill>
            <a:srgbClr val="C15A12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4"/>
          <p:cNvSpPr/>
          <p:nvPr/>
        </p:nvSpPr>
        <p:spPr>
          <a:xfrm>
            <a:off x="690372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IEGT 55–69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06840" y="41148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B2440"/>
          </a:solidFill>
          <a:ln w="25400">
            <a:solidFill>
              <a:srgbClr val="CF222E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9" name="Shape 17"/>
          <p:cNvSpPr/>
          <p:nvPr/>
        </p:nvSpPr>
        <p:spPr>
          <a:xfrm>
            <a:off x="9262872" y="4370832"/>
            <a:ext cx="310896" cy="310896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0" name="Text 18"/>
          <p:cNvSpPr/>
          <p:nvPr/>
        </p:nvSpPr>
        <p:spPr>
          <a:xfrm>
            <a:off x="9692640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8116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IEGT &lt; 55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100  ·  un solo número por ruta cada semana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IEGT y cómo se lee?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número (0–100) que resume qué tan bien trabajó la ruta durante la semana. Se arma de 7 indicadores agrupados en dos bloques: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4443984" cy="640080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4443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Tiempo  ·  60%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38928" y="2331720"/>
            <a:ext cx="2907792" cy="640080"/>
          </a:xfrm>
          <a:prstGeom prst="roundRect">
            <a:avLst>
              <a:gd name="adj" fmla="val 7143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7" name="Text 5"/>
          <p:cNvSpPr/>
          <p:nvPr/>
        </p:nvSpPr>
        <p:spPr>
          <a:xfrm>
            <a:off x="5138928" y="233172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Ejecución  ·  40%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visitas · arranque temprano · cierre no prematuro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38928" y="30632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en banda · ruta · punto de venta · ritmo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023360"/>
            <a:ext cx="7406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/ Sólida: la ruta trabaja bien, reconócelo y sostén.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/ Aceptable: buen desempeño con detalles a pulir.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 / Irregular: desvíos que restan resultado, hay que corregir.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/ Deficiente: ruta prioritaria, acompañamiento inmediato.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75320" y="1280160"/>
            <a:ext cx="3246120" cy="44805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3" name="Text 11"/>
          <p:cNvSpPr/>
          <p:nvPr/>
        </p:nvSpPr>
        <p:spPr>
          <a:xfrm>
            <a:off x="85496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BANDAS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49640" y="2020824"/>
            <a:ext cx="365760" cy="36576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5" name="Text 13"/>
          <p:cNvSpPr/>
          <p:nvPr/>
        </p:nvSpPr>
        <p:spPr>
          <a:xfrm>
            <a:off x="9052560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52560" y="2350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IEGT ≥ 85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49640" y="2953512"/>
            <a:ext cx="365760" cy="365760"/>
          </a:xfrm>
          <a:prstGeom prst="ellipse">
            <a:avLst/>
          </a:prstGeom>
          <a:solidFill>
            <a:srgbClr val="B58100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8" name="Text 16"/>
          <p:cNvSpPr/>
          <p:nvPr/>
        </p:nvSpPr>
        <p:spPr>
          <a:xfrm>
            <a:off x="9052560" y="2898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0" y="32826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IEGT 70 – 84.9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49640" y="3886200"/>
            <a:ext cx="365760" cy="365760"/>
          </a:xfrm>
          <a:prstGeom prst="ellipse">
            <a:avLst/>
          </a:prstGeom>
          <a:solidFill>
            <a:srgbClr val="C15A12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1" name="Text 19"/>
          <p:cNvSpPr/>
          <p:nvPr/>
        </p:nvSpPr>
        <p:spPr>
          <a:xfrm>
            <a:off x="9052560" y="3831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52560" y="4215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IEGT 55 – 69.9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49640" y="4818888"/>
            <a:ext cx="365760" cy="365760"/>
          </a:xfrm>
          <a:prstGeom prst="ellipse">
            <a:avLst/>
          </a:prstGeom>
          <a:solidFill>
            <a:srgbClr val="CF222E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4" name="Text 22"/>
          <p:cNvSpPr/>
          <p:nvPr/>
        </p:nvSpPr>
        <p:spPr>
          <a:xfrm>
            <a:off x="9052560" y="47640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2560" y="5148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IEGT menos de 55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7 indicadores: qué miden y cómo mejorarlos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TIEMPO — 60%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5" name="Shape 3"/>
          <p:cNvSpPr/>
          <p:nvPr/>
        </p:nvSpPr>
        <p:spPr>
          <a:xfrm>
            <a:off x="804672" y="1755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0467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9888" y="1719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visitas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76672" y="173736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9" name="Text 7"/>
          <p:cNvSpPr/>
          <p:nvPr/>
        </p:nvSpPr>
        <p:spPr>
          <a:xfrm>
            <a:off x="5376672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89888" y="2103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visitados vs. los programados.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888" y="23957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cubrir toda la ruta asignada.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798064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3" name="Shape 11"/>
          <p:cNvSpPr/>
          <p:nvPr/>
        </p:nvSpPr>
        <p:spPr>
          <a:xfrm>
            <a:off x="804672" y="298094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4" name="Text 12"/>
          <p:cNvSpPr/>
          <p:nvPr/>
        </p:nvSpPr>
        <p:spPr>
          <a:xfrm>
            <a:off x="804672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89888" y="29443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temprano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376672" y="2962656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7" name="Text 15"/>
          <p:cNvSpPr/>
          <p:nvPr/>
        </p:nvSpPr>
        <p:spPr>
          <a:xfrm>
            <a:off x="5376672" y="296265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89888" y="33284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primer pedido del día.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89888" y="3621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pedido a las 8:15 o antes.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1" name="Shape 19"/>
          <p:cNvSpPr/>
          <p:nvPr/>
        </p:nvSpPr>
        <p:spPr>
          <a:xfrm>
            <a:off x="804672" y="4206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2" name="Text 20"/>
          <p:cNvSpPr/>
          <p:nvPr/>
        </p:nvSpPr>
        <p:spPr>
          <a:xfrm>
            <a:off x="80467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89888" y="41696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no prematuro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376672" y="4187952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5" name="Text 23"/>
          <p:cNvSpPr/>
          <p:nvPr/>
        </p:nvSpPr>
        <p:spPr>
          <a:xfrm>
            <a:off x="5376672" y="41879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89888" y="4553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último pedido.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89888" y="4846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cerrar la ruta antes de las 3:30 pm.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EJECUCIÓN — 40%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1572768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30" name="Shape 28"/>
          <p:cNvSpPr/>
          <p:nvPr/>
        </p:nvSpPr>
        <p:spPr>
          <a:xfrm>
            <a:off x="6473952" y="1755648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1" name="Text 29"/>
          <p:cNvSpPr/>
          <p:nvPr/>
        </p:nvSpPr>
        <p:spPr>
          <a:xfrm>
            <a:off x="6473952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9168" y="171907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ventas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10817352" y="1737360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4" name="Text 32"/>
          <p:cNvSpPr/>
          <p:nvPr/>
        </p:nvSpPr>
        <p:spPr>
          <a:xfrm>
            <a:off x="10817352" y="173736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59168" y="210312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con pedido; ideal 55–65%.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59168" y="239572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necesidades y cerrar.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2798064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38" name="Shape 36"/>
          <p:cNvSpPr/>
          <p:nvPr/>
        </p:nvSpPr>
        <p:spPr>
          <a:xfrm>
            <a:off x="6473952" y="2980944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9" name="Text 37"/>
          <p:cNvSpPr/>
          <p:nvPr/>
        </p:nvSpPr>
        <p:spPr>
          <a:xfrm>
            <a:off x="6473952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59168" y="29443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ruta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10817352" y="2962656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2" name="Text 40"/>
          <p:cNvSpPr/>
          <p:nvPr/>
        </p:nvSpPr>
        <p:spPr>
          <a:xfrm>
            <a:off x="10817352" y="296265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059168" y="332841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 clientes fuera de ruta.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059168" y="3621024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siguiendo el ruteo del día.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09360" y="40233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46" name="Shape 44"/>
          <p:cNvSpPr/>
          <p:nvPr/>
        </p:nvSpPr>
        <p:spPr>
          <a:xfrm>
            <a:off x="6473952" y="4206240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7" name="Text 45"/>
          <p:cNvSpPr/>
          <p:nvPr/>
        </p:nvSpPr>
        <p:spPr>
          <a:xfrm>
            <a:off x="6473952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059168" y="416966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en PDV</a:t>
            </a:r>
            <a:endParaRPr lang="en-US" sz="1450" dirty="0"/>
          </a:p>
        </p:txBody>
      </p:sp>
      <p:sp>
        <p:nvSpPr>
          <p:cNvPr id="49" name="Shape 47"/>
          <p:cNvSpPr/>
          <p:nvPr/>
        </p:nvSpPr>
        <p:spPr>
          <a:xfrm>
            <a:off x="10817352" y="4187952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0" name="Text 48"/>
          <p:cNvSpPr/>
          <p:nvPr/>
        </p:nvSpPr>
        <p:spPr>
          <a:xfrm>
            <a:off x="10817352" y="418795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059168" y="4553712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hechas fuera del punto de venta.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059168" y="4846320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dentro del local del cliente.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309360" y="5248656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54" name="Shape 52"/>
          <p:cNvSpPr/>
          <p:nvPr/>
        </p:nvSpPr>
        <p:spPr>
          <a:xfrm>
            <a:off x="6473952" y="5431536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5" name="Text 53"/>
          <p:cNvSpPr/>
          <p:nvPr/>
        </p:nvSpPr>
        <p:spPr>
          <a:xfrm>
            <a:off x="6473952" y="5431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059168" y="53949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de visita</a:t>
            </a:r>
            <a:endParaRPr lang="en-US" sz="1450" dirty="0"/>
          </a:p>
        </p:txBody>
      </p:sp>
      <p:sp>
        <p:nvSpPr>
          <p:cNvPr id="57" name="Shape 55"/>
          <p:cNvSpPr/>
          <p:nvPr/>
        </p:nvSpPr>
        <p:spPr>
          <a:xfrm>
            <a:off x="10817352" y="5413248"/>
            <a:ext cx="621792" cy="274320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8" name="Text 56"/>
          <p:cNvSpPr/>
          <p:nvPr/>
        </p:nvSpPr>
        <p:spPr>
          <a:xfrm>
            <a:off x="10817352" y="541324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059168" y="577900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por visita vs. sus pares.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059168" y="6071616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Mejora: </a:t>
            </a:r>
            <a:r>
              <a:rPr lang="en-US" sz="11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parejo, ni muy corto ni muy largo.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preparar el abordaje al vendedor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este orden antes de la reunión semanal. El informe ya te da la conclusión y el plan escritos.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 el IEGT y la banda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093976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la ruta: ¿sólida, aceptable, irregular o deficiente? Prioriza rojas y naranjas.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0" name="Shape 8"/>
          <p:cNvSpPr/>
          <p:nvPr/>
        </p:nvSpPr>
        <p:spPr>
          <a:xfrm>
            <a:off x="822960" y="2670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1" name="Text 9"/>
          <p:cNvSpPr/>
          <p:nvPr/>
        </p:nvSpPr>
        <p:spPr>
          <a:xfrm>
            <a:off x="82296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6243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la cascada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63040" y="2935224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Recorre los indicadores en orden fijo para encontrar la CAUSA, no solo el síntoma.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374136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5" name="Shape 13"/>
          <p:cNvSpPr/>
          <p:nvPr/>
        </p:nvSpPr>
        <p:spPr>
          <a:xfrm>
            <a:off x="822960" y="3511296"/>
            <a:ext cx="457200" cy="457200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4"/>
          <p:cNvSpPr/>
          <p:nvPr/>
        </p:nvSpPr>
        <p:spPr>
          <a:xfrm>
            <a:off x="82296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46557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conclusión y el foco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77647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informe redacta el patrón y el "foco de la semana". Es tu guion para la conversación.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215384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0" name="Shape 18"/>
          <p:cNvSpPr/>
          <p:nvPr/>
        </p:nvSpPr>
        <p:spPr>
          <a:xfrm>
            <a:off x="822960" y="4352544"/>
            <a:ext cx="457200" cy="457200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1" name="Text 19"/>
          <p:cNvSpPr/>
          <p:nvPr/>
        </p:nvSpPr>
        <p:spPr>
          <a:xfrm>
            <a:off x="82296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3068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plan de acción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63040" y="461772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desvío ya viene con una tarea concreta (auditar ruteo, comprometer 1er pedido…).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56632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25" name="Shape 23"/>
          <p:cNvSpPr/>
          <p:nvPr/>
        </p:nvSpPr>
        <p:spPr>
          <a:xfrm>
            <a:off x="822960" y="5193792"/>
            <a:ext cx="457200" cy="457200"/>
          </a:xfrm>
          <a:prstGeom prst="ellipse">
            <a:avLst/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6" name="Text 24"/>
          <p:cNvSpPr/>
          <p:nvPr/>
        </p:nvSpPr>
        <p:spPr>
          <a:xfrm>
            <a:off x="82296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51480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 y da seguimiento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45896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Acuerda una meta medible y revísala la próxima semana con el mismo informe.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818120" y="1691640"/>
            <a:ext cx="3703320" cy="4160520"/>
          </a:xfrm>
          <a:prstGeom prst="roundRect">
            <a:avLst>
              <a:gd name="adj" fmla="val 1975"/>
            </a:avLst>
          </a:prstGeom>
          <a:solidFill>
            <a:srgbClr val="0E1626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30" name="Text 28"/>
          <p:cNvSpPr/>
          <p:nvPr/>
        </p:nvSpPr>
        <p:spPr>
          <a:xfrm>
            <a:off x="809244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VERTICAL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fijo que revela la causa: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92440" y="2651760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3" name="Text 31"/>
          <p:cNvSpPr/>
          <p:nvPr/>
        </p:nvSpPr>
        <p:spPr>
          <a:xfrm>
            <a:off x="809244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58200" y="2660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visitas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92440" y="3081528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6" name="Text 34"/>
          <p:cNvSpPr/>
          <p:nvPr/>
        </p:nvSpPr>
        <p:spPr>
          <a:xfrm>
            <a:off x="8092440" y="3081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58200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Efectividad de ventas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92440" y="3511296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9" name="Text 37"/>
          <p:cNvSpPr/>
          <p:nvPr/>
        </p:nvSpPr>
        <p:spPr>
          <a:xfrm>
            <a:off x="8092440" y="3511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5820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fuera de ruta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092440" y="3941064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2" name="Text 40"/>
          <p:cNvSpPr/>
          <p:nvPr/>
        </p:nvSpPr>
        <p:spPr>
          <a:xfrm>
            <a:off x="8092440" y="39410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458200" y="3950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sin venta / razón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92440" y="4370832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5" name="Text 43"/>
          <p:cNvSpPr/>
          <p:nvPr/>
        </p:nvSpPr>
        <p:spPr>
          <a:xfrm>
            <a:off x="809244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458200" y="4379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1er pedido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092440" y="4800600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48" name="Text 46"/>
          <p:cNvSpPr/>
          <p:nvPr/>
        </p:nvSpPr>
        <p:spPr>
          <a:xfrm>
            <a:off x="8092440" y="4800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58200" y="4809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del último pedido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092440" y="5230368"/>
            <a:ext cx="256032" cy="256032"/>
          </a:xfrm>
          <a:prstGeom prst="ellipse">
            <a:avLst/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1" name="Text 49"/>
          <p:cNvSpPr/>
          <p:nvPr/>
        </p:nvSpPr>
        <p:spPr>
          <a:xfrm>
            <a:off x="8092440" y="5230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58200" y="5239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de visita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mejora el resultado cada rol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B2440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Cubre toda su ruta y arranca temprano (1er pedido ≤ 8:15).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Vende dentro de la ruta del día y registra en el punto de venta.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</a:rPr>
              <a:t>Detecta necesidades para subir la efectividad de ventas.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B2440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3B4FC4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9" name="Text 7"/>
          <p:cNvSpPr/>
          <p:nvPr/>
        </p:nvSpPr>
        <p:spPr>
          <a:xfrm>
            <a:off x="466344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SUPERVISOR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0916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CFB"/>
                </a:solidFill>
              </a:rPr>
              <a:t>Prioriza rutas rojas/naranjas y usa la conclusión como guion.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CFB"/>
                </a:solidFill>
              </a:rPr>
              <a:t>Acompaña medio día donde cae la efectividad o la disciplina.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D6DCFB"/>
                </a:solidFill>
              </a:rPr>
              <a:t>Acuerda metas y da seguimiento con el informe cada semana.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1B2440"/>
          </a:solidFill>
          <a:ln w="12700">
            <a:solidFill>
              <a:srgbClr val="DCE3F2"/>
            </a:solidFill>
            <a:prstDash val="solid"/>
          </a:ln>
          <a:effectLst>
            <a:outerShdw blurRad="101600" dist="38100" dir="5400000" algn="bl" rotWithShape="0">
              <a:srgbClr val="8590AD">
                <a:alpha val="28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sp>
        <p:nvSpPr>
          <p:cNvPr id="12" name="Shape 10"/>
          <p:cNvSpPr/>
          <p:nvPr/>
        </p:nvSpPr>
        <p:spPr>
          <a:xfrm>
            <a:off x="8412480" y="169164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1A7F37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3" name="Text 11"/>
          <p:cNvSpPr/>
          <p:nvPr/>
        </p:nvSpPr>
        <p:spPr>
          <a:xfrm>
            <a:off x="8412480" y="16916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GERENTE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58200" y="237744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EAD3"/>
                </a:solidFill>
              </a:rPr>
              <a:t>Compara centros y supervisores por su IEGT y tendencia.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EAD3"/>
                </a:solidFill>
              </a:rPr>
              <a:t>Detecta patrones repetidos para decisiones de ruteo y foco.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EAD3"/>
                </a:solidFill>
              </a:rPr>
              <a:t>Reconoce lo sólido y dirige el acompañamiento a lo deficiente.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4864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oro: 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→ causa → acción → seguimiento.  15 minutos por ruta cada semana.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FD17D-1194-AE78-44E5-8D9AB4859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3EBFD3-C19C-6EEE-7E61-2EA679E28CE5}"/>
              </a:ext>
            </a:extLst>
          </p:cNvPr>
          <p:cNvSpPr/>
          <p:nvPr/>
        </p:nvSpPr>
        <p:spPr>
          <a:xfrm>
            <a:off x="80581" y="81951"/>
            <a:ext cx="4717561" cy="7027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+mj-lt"/>
                <a:ea typeface="+mj-ea"/>
                <a:cs typeface="+mj-cs"/>
              </a:rPr>
              <a:t>Nueva Ruta Minimarkets</a:t>
            </a:r>
            <a:endParaRPr lang="en-US" sz="3600" dirty="0">
              <a:latin typeface="+mj-lt"/>
              <a:ea typeface="+mj-ea"/>
              <a:cs typeface="+mj-cs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316E3DAA-0C07-9A0E-6325-40212FE29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595" y="970384"/>
            <a:ext cx="8484172" cy="5728996"/>
          </a:xfrm>
          <a:prstGeom prst="rect">
            <a:avLst/>
          </a:prstGeom>
        </p:spPr>
      </p:pic>
      <p:grpSp>
        <p:nvGrpSpPr>
          <p:cNvPr id="23" name="Grupo 22">
            <a:extLst>
              <a:ext uri="{FF2B5EF4-FFF2-40B4-BE49-F238E27FC236}">
                <a16:creationId xmlns:a16="http://schemas.microsoft.com/office/drawing/2014/main" id="{09C6A9C9-DADA-937F-D2DA-BA7EE16C72ED}"/>
              </a:ext>
            </a:extLst>
          </p:cNvPr>
          <p:cNvGrpSpPr/>
          <p:nvPr/>
        </p:nvGrpSpPr>
        <p:grpSpPr>
          <a:xfrm>
            <a:off x="272116" y="2957665"/>
            <a:ext cx="2982362" cy="2007625"/>
            <a:chOff x="9006840" y="4114800"/>
            <a:chExt cx="1928638" cy="1143000"/>
          </a:xfrm>
        </p:grpSpPr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EDA7A972-22D8-4FE9-D1AF-D7ADD55D44A0}"/>
                </a:ext>
              </a:extLst>
            </p:cNvPr>
            <p:cNvSpPr/>
            <p:nvPr/>
          </p:nvSpPr>
          <p:spPr>
            <a:xfrm>
              <a:off x="9006840" y="4114800"/>
              <a:ext cx="1928638" cy="1143000"/>
            </a:xfrm>
            <a:prstGeom prst="roundRect">
              <a:avLst>
                <a:gd name="adj" fmla="val 6667"/>
              </a:avLst>
            </a:prstGeom>
            <a:solidFill>
              <a:srgbClr val="1B2440"/>
            </a:solidFill>
            <a:ln w="25400">
              <a:solidFill>
                <a:srgbClr val="CF222E"/>
              </a:solidFill>
              <a:prstDash val="solid"/>
            </a:ln>
          </p:spPr>
          <p:txBody>
            <a:bodyPr/>
            <a:lstStyle/>
            <a:p>
              <a:pPr algn="ctr"/>
              <a:endParaRPr lang="es-DO" sz="90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4CECCF8C-6409-D9AF-9C62-F61793EED478}"/>
                </a:ext>
              </a:extLst>
            </p:cNvPr>
            <p:cNvSpPr/>
            <p:nvPr/>
          </p:nvSpPr>
          <p:spPr>
            <a:xfrm>
              <a:off x="9198118" y="4311116"/>
              <a:ext cx="1737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defTabSz="2670048">
                <a:spcAft>
                  <a:spcPts val="600"/>
                </a:spcAft>
              </a:pPr>
              <a:r>
                <a:rPr lang="en-US" sz="2000" b="1" kern="1200">
                  <a:solidFill>
                    <a:srgbClr val="FFFFFF"/>
                  </a:solidFill>
                  <a:latin typeface="Calibri" pitchFamily="34" charset="0"/>
                  <a:ea typeface="+mn-ea"/>
                  <a:cs typeface="Calibri" pitchFamily="34" charset="-120"/>
                </a:rPr>
                <a:t>Total de </a:t>
              </a:r>
              <a:r>
                <a:rPr lang="en-US" sz="2000" b="1" kern="1200" err="1">
                  <a:solidFill>
                    <a:srgbClr val="FFFFFF"/>
                  </a:solidFill>
                  <a:latin typeface="Calibri" pitchFamily="34" charset="0"/>
                  <a:ea typeface="+mn-ea"/>
                  <a:cs typeface="Calibri" pitchFamily="34" charset="-120"/>
                </a:rPr>
                <a:t>Clientes</a:t>
              </a:r>
              <a:endParaRPr lang="en-US" sz="80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220F08DB-F088-41EC-D21F-48CA53DDA585}"/>
                </a:ext>
              </a:extLst>
            </p:cNvPr>
            <p:cNvSpPr/>
            <p:nvPr/>
          </p:nvSpPr>
          <p:spPr>
            <a:xfrm>
              <a:off x="9198118" y="4652787"/>
              <a:ext cx="1568205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defTabSz="2670048">
                <a:spcAft>
                  <a:spcPts val="600"/>
                </a:spcAft>
              </a:pPr>
              <a:r>
                <a:rPr lang="en-US" kern="1200">
                  <a:solidFill>
                    <a:srgbClr val="CADCFC"/>
                  </a:solidFill>
                  <a:latin typeface="Calibri" pitchFamily="34" charset="0"/>
                  <a:ea typeface="+mn-ea"/>
                  <a:cs typeface="Calibri" pitchFamily="34" charset="-120"/>
                </a:rPr>
                <a:t>230 </a:t>
              </a:r>
              <a:r>
                <a:rPr lang="en-US" kern="1200" err="1">
                  <a:solidFill>
                    <a:srgbClr val="CADCFC"/>
                  </a:solidFill>
                  <a:latin typeface="Calibri" pitchFamily="34" charset="0"/>
                  <a:ea typeface="+mn-ea"/>
                  <a:cs typeface="Calibri" pitchFamily="34" charset="-120"/>
                </a:rPr>
                <a:t>en</a:t>
              </a:r>
              <a:r>
                <a:rPr lang="en-US" kern="1200">
                  <a:solidFill>
                    <a:srgbClr val="CADCFC"/>
                  </a:solidFill>
                  <a:latin typeface="Calibri" pitchFamily="34" charset="0"/>
                  <a:ea typeface="+mn-ea"/>
                  <a:cs typeface="Calibri" pitchFamily="34" charset="-120"/>
                </a:rPr>
                <a:t> </a:t>
              </a:r>
              <a:r>
                <a:rPr lang="en-US" kern="1200" err="1">
                  <a:solidFill>
                    <a:srgbClr val="CADCFC"/>
                  </a:solidFill>
                  <a:latin typeface="Calibri" pitchFamily="34" charset="0"/>
                  <a:ea typeface="+mn-ea"/>
                  <a:cs typeface="Calibri" pitchFamily="34" charset="-120"/>
                </a:rPr>
                <a:t>desarrollo</a:t>
              </a:r>
              <a:endParaRPr lang="en-US" sz="700"/>
            </a:p>
          </p:txBody>
        </p:sp>
      </p:grpSp>
    </p:spTree>
    <p:extLst>
      <p:ext uri="{BB962C8B-B14F-4D97-AF65-F5344CB8AC3E}">
        <p14:creationId xmlns:p14="http://schemas.microsoft.com/office/powerpoint/2010/main" val="1455713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939</Words>
  <Application>Microsoft Office PowerPoint</Application>
  <PresentationFormat>Panorámica</PresentationFormat>
  <Paragraphs>133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Rudy Mercedes</cp:lastModifiedBy>
  <cp:revision>2</cp:revision>
  <dcterms:created xsi:type="dcterms:W3CDTF">2026-07-20T14:38:56Z</dcterms:created>
  <dcterms:modified xsi:type="dcterms:W3CDTF">2026-08-25T21:44:38Z</dcterms:modified>
</cp:coreProperties>
</file>