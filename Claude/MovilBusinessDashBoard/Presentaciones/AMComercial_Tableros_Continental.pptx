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93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para Continental de Negocios: los tableros y controles de AM Comercial dan visibilidad y disciplina sobre la fuerza de ventas, y eso beneficia la distribución de las marcas de Continental. Cada tablero incluye una captura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general de los cuatro tableros.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Visitas: captura real del monitor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Productividad: la captura real muestra el filtro Suplidor = Continental de Negocios.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Geo: captura real de Oportunidades por Suplidor.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Torre de Control: captura real del monitor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cuatro beneficios concretos para Continental.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 y </a:t>
            </a:r>
            <a:r>
              <a:rPr lang="en-US" sz="4600" b="1" dirty="0">
                <a:solidFill>
                  <a:srgbClr val="1CA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Fuerza de Ventas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04088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tableros y controles que hoy respaldan la distribución y ejecución de tus marcas en el punto de venta.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931920"/>
            <a:ext cx="4754880" cy="640080"/>
          </a:xfrm>
          <a:prstGeom prst="roundRect">
            <a:avLst>
              <a:gd name="adj" fmla="val 14286"/>
            </a:avLst>
          </a:prstGeom>
          <a:solidFill>
            <a:srgbClr val="12324B"/>
          </a:solidFill>
          <a:ln w="12700">
            <a:solidFill>
              <a:srgbClr val="1CA7C4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de Negocios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507492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24B"/>
          </a:solidFill>
          <a:ln w="25400">
            <a:solidFill>
              <a:srgbClr val="1CA7C4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507492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24B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3447288" y="5074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8776" y="507492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24B"/>
          </a:solidFill>
          <a:ln w="25400">
            <a:solidFill>
              <a:srgbClr val="8E7CC3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2" name="Text 10"/>
          <p:cNvSpPr/>
          <p:nvPr/>
        </p:nvSpPr>
        <p:spPr>
          <a:xfrm>
            <a:off x="6208776" y="5074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507492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2324B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8970264" y="5074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 · con datos reales · todos los días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tableros, un mismo objetivo: ejecución en el punto de venta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7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vivo de la ruta: quién visita, quién pide, a qué hora.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236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7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Productividad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efectividad por vendedor, supervisor y por suplidor.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4" name="Shape 12"/>
          <p:cNvSpPr/>
          <p:nvPr/>
        </p:nvSpPr>
        <p:spPr>
          <a:xfrm>
            <a:off x="960120" y="4160520"/>
            <a:ext cx="640080" cy="640080"/>
          </a:xfrm>
          <a:prstGeom prst="ellipse">
            <a:avLst/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7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Geolocalización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754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vivo: ubicación, ventas, oportunidades y rutas.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4EA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6583680" y="41605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65836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236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7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de Control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4754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diaria con alarmas y metas dirigidas por producto.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tablero funciona en el navegador, sobre datos reales del día — sin esperas ni reportes manuales.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53312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vivo de la ruta y los pedidos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508760"/>
            <a:ext cx="7580376" cy="3255264"/>
          </a:xfrm>
          <a:prstGeom prst="roundRect">
            <a:avLst>
              <a:gd name="adj" fmla="val 1966"/>
            </a:avLst>
          </a:prstGeom>
          <a:solidFill>
            <a:srgbClr val="0B1F2A"/>
          </a:solidFill>
          <a:ln w="15875">
            <a:solidFill>
              <a:srgbClr val="12435C"/>
            </a:solidFill>
            <a:prstDash val="solid"/>
          </a:ln>
          <a:effectLst>
            <a:outerShdw blurRad="127000" dist="50800" dir="5400000" algn="bl" rotWithShape="0">
              <a:srgbClr val="6E8290">
                <a:alpha val="45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7" name="Image 0" descr="C:\Users\Rudy\OneDrive - AM COMERCIAL\Rudy\Claude\MovilBusinessDashBoard\Presentaciones\capturas\Visit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72768"/>
            <a:ext cx="745236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097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tablero en operación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102412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la ruta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programados que se visitaron.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0"/>
          <p:cNvSpPr/>
          <p:nvPr/>
        </p:nvSpPr>
        <p:spPr>
          <a:xfrm>
            <a:off x="481888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la visita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1888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visitas terminan en pedido.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3"/>
          <p:cNvSpPr/>
          <p:nvPr/>
        </p:nvSpPr>
        <p:spPr>
          <a:xfrm>
            <a:off x="102412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y último pedido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temprano y cierre a tiempo.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9" name="Text 16"/>
          <p:cNvSpPr/>
          <p:nvPr/>
        </p:nvSpPr>
        <p:spPr>
          <a:xfrm>
            <a:off x="481888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1888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del día, al momento.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1572768"/>
            <a:ext cx="3246120" cy="4892040"/>
          </a:xfrm>
          <a:prstGeom prst="roundRect">
            <a:avLst>
              <a:gd name="adj" fmla="val 2535"/>
            </a:avLst>
          </a:prstGeom>
          <a:solidFill>
            <a:srgbClr val="ECF7FA"/>
          </a:solidFill>
          <a:ln w="12700">
            <a:solidFill>
              <a:srgbClr val="1CA7C4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2" name="Shape 19"/>
          <p:cNvSpPr/>
          <p:nvPr/>
        </p:nvSpPr>
        <p:spPr>
          <a:xfrm>
            <a:off x="8595360" y="181051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3" name="Text 20"/>
          <p:cNvSpPr/>
          <p:nvPr/>
        </p:nvSpPr>
        <p:spPr>
          <a:xfrm>
            <a:off x="8595360" y="1810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CONTINENTAL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32520" y="2450592"/>
            <a:ext cx="2788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Tus clientes se visitan según el plan → más presencia de tus marcas en el anaquel.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Menos clientes sin atender = menos ventas perdidas de Continental.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53312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Productividad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efectividad — también por suplidor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508760"/>
            <a:ext cx="7580376" cy="3255264"/>
          </a:xfrm>
          <a:prstGeom prst="roundRect">
            <a:avLst>
              <a:gd name="adj" fmla="val 1966"/>
            </a:avLst>
          </a:prstGeom>
          <a:solidFill>
            <a:srgbClr val="0B1F2A"/>
          </a:solidFill>
          <a:ln w="15875">
            <a:solidFill>
              <a:srgbClr val="12435C"/>
            </a:solidFill>
            <a:prstDash val="solid"/>
          </a:ln>
          <a:effectLst>
            <a:outerShdw blurRad="127000" dist="50800" dir="5400000" algn="bl" rotWithShape="0">
              <a:srgbClr val="6E8290">
                <a:alpha val="45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7" name="Image 0" descr="C:\Users\Rudy\OneDrive - AM COMERCIAL\Rudy\Claude\MovilBusinessDashBoard\Presentaciones\capturas\Productivid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72768"/>
            <a:ext cx="745236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097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tablero en operación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102412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con semáforo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Verde/amarillo/rojo + "Sin Visitas".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0"/>
          <p:cNvSpPr/>
          <p:nvPr/>
        </p:nvSpPr>
        <p:spPr>
          <a:xfrm>
            <a:off x="481888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con drill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1888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→ Supervisor → Vendedor.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3"/>
          <p:cNvSpPr/>
          <p:nvPr/>
        </p:nvSpPr>
        <p:spPr>
          <a:xfrm>
            <a:off x="102412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SUPLIDOR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y efectividad de tu suplidor.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9" name="Text 16"/>
          <p:cNvSpPr/>
          <p:nvPr/>
        </p:nvSpPr>
        <p:spPr>
          <a:xfrm>
            <a:off x="481888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Imprimible y exportable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1888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reuniones de resultados.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1572768"/>
            <a:ext cx="3246120" cy="4892040"/>
          </a:xfrm>
          <a:prstGeom prst="roundRect">
            <a:avLst>
              <a:gd name="adj" fmla="val 2535"/>
            </a:avLst>
          </a:prstGeom>
          <a:solidFill>
            <a:srgbClr val="ECF7FA"/>
          </a:solidFill>
          <a:ln w="12700">
            <a:solidFill>
              <a:srgbClr val="1CA7C4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2" name="Shape 19"/>
          <p:cNvSpPr/>
          <p:nvPr/>
        </p:nvSpPr>
        <p:spPr>
          <a:xfrm>
            <a:off x="8595360" y="181051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3" name="Text 20"/>
          <p:cNvSpPr/>
          <p:nvPr/>
        </p:nvSpPr>
        <p:spPr>
          <a:xfrm>
            <a:off x="8595360" y="1810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CONTINENTAL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32520" y="2450592"/>
            <a:ext cx="2788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La captura ya está filtrada por Continental de Negocios: ves aislado tu cumplimiento y efectividad.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Datos objetivos para acordar planes de crecimiento de tus categorías.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53312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Geolocalización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en vivo de la operación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508760"/>
            <a:ext cx="7580376" cy="3255264"/>
          </a:xfrm>
          <a:prstGeom prst="roundRect">
            <a:avLst>
              <a:gd name="adj" fmla="val 1966"/>
            </a:avLst>
          </a:prstGeom>
          <a:solidFill>
            <a:srgbClr val="0B1F2A"/>
          </a:solidFill>
          <a:ln w="15875">
            <a:solidFill>
              <a:srgbClr val="12435C"/>
            </a:solidFill>
            <a:prstDash val="solid"/>
          </a:ln>
          <a:effectLst>
            <a:outerShdw blurRad="127000" dist="50800" dir="5400000" algn="bl" rotWithShape="0">
              <a:srgbClr val="6E8290">
                <a:alpha val="45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7" name="Image 0" descr="C:\Users\Rudy\OneDrive - AM COMERCIAL\Rudy\Claude\MovilBusinessDashBoard\Presentaciones\capturas\Ge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72768"/>
            <a:ext cx="745236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097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tablero en operación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102412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vendedores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Coloreados por frescura de GPS.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0"/>
          <p:cNvSpPr/>
          <p:nvPr/>
        </p:nvSpPr>
        <p:spPr>
          <a:xfrm>
            <a:off x="481888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/ sin pedido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1888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por cliente, quién compró.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3"/>
          <p:cNvSpPr/>
          <p:nvPr/>
        </p:nvSpPr>
        <p:spPr>
          <a:xfrm>
            <a:off x="102412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por suplidor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compran, pero no tu marca.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9" name="Text 16"/>
          <p:cNvSpPr/>
          <p:nvPr/>
        </p:nvSpPr>
        <p:spPr>
          <a:xfrm>
            <a:off x="481888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fuera de ruta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1888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secuencia del día.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1572768"/>
            <a:ext cx="3246120" cy="4892040"/>
          </a:xfrm>
          <a:prstGeom prst="roundRect">
            <a:avLst>
              <a:gd name="adj" fmla="val 2535"/>
            </a:avLst>
          </a:prstGeom>
          <a:solidFill>
            <a:srgbClr val="ECF7FA"/>
          </a:solidFill>
          <a:ln w="12700">
            <a:solidFill>
              <a:srgbClr val="1CA7C4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2" name="Shape 19"/>
          <p:cNvSpPr/>
          <p:nvPr/>
        </p:nvSpPr>
        <p:spPr>
          <a:xfrm>
            <a:off x="8595360" y="181051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3" name="Text 20"/>
          <p:cNvSpPr/>
          <p:nvPr/>
        </p:nvSpPr>
        <p:spPr>
          <a:xfrm>
            <a:off x="8595360" y="1810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CONTINENTAL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32520" y="2450592"/>
            <a:ext cx="2788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La captura muestra las oportunidades por suplidor: dónde NO se está vendiendo tu marca.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Identificas clientes a recuperar y zonas con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53312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de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diaria con alarmas y metas dirigidas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" y="1508760"/>
            <a:ext cx="7580376" cy="3255264"/>
          </a:xfrm>
          <a:prstGeom prst="roundRect">
            <a:avLst>
              <a:gd name="adj" fmla="val 1966"/>
            </a:avLst>
          </a:prstGeom>
          <a:solidFill>
            <a:srgbClr val="0B1F2A"/>
          </a:solidFill>
          <a:ln w="15875">
            <a:solidFill>
              <a:srgbClr val="12435C"/>
            </a:solidFill>
            <a:prstDash val="solid"/>
          </a:ln>
          <a:effectLst>
            <a:outerShdw blurRad="127000" dist="50800" dir="5400000" algn="bl" rotWithShape="0">
              <a:srgbClr val="6E8290">
                <a:alpha val="45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7" name="Image 0" descr="C:\Users\Rudy\OneDrive - AM COMERCIAL\Rudy\Claude\MovilBusinessDashBoard\Presentaciones\capturas\Torre Contro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72768"/>
            <a:ext cx="745236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097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tablero en operación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102412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monitores en vivo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Arranque, cumplimiento, sync, ruta…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0"/>
          <p:cNvSpPr/>
          <p:nvPr/>
        </p:nvSpPr>
        <p:spPr>
          <a:xfrm>
            <a:off x="481888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cada 30 minutos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18888" y="5248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8:20 a 4:00 pm, con histórico.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3"/>
          <p:cNvSpPr/>
          <p:nvPr/>
        </p:nvSpPr>
        <p:spPr>
          <a:xfrm>
            <a:off x="102412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seguimiento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atendida queda en bitácora.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5806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9" name="Text 16"/>
          <p:cNvSpPr/>
          <p:nvPr/>
        </p:nvSpPr>
        <p:spPr>
          <a:xfrm>
            <a:off x="4818888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personalizados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18888" y="6071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venta por producto/línea.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1572768"/>
            <a:ext cx="3246120" cy="4892040"/>
          </a:xfrm>
          <a:prstGeom prst="roundRect">
            <a:avLst>
              <a:gd name="adj" fmla="val 2535"/>
            </a:avLst>
          </a:prstGeom>
          <a:solidFill>
            <a:srgbClr val="ECF7FA"/>
          </a:solidFill>
          <a:ln w="12700">
            <a:solidFill>
              <a:srgbClr val="1CA7C4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2" name="Shape 19"/>
          <p:cNvSpPr/>
          <p:nvPr/>
        </p:nvSpPr>
        <p:spPr>
          <a:xfrm>
            <a:off x="8595360" y="181051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3" name="Text 20"/>
          <p:cNvSpPr/>
          <p:nvPr/>
        </p:nvSpPr>
        <p:spPr>
          <a:xfrm>
            <a:off x="8595360" y="1810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CONTINENTAL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32520" y="2450592"/>
            <a:ext cx="2788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Podemos fijar una META diaria para tus categorías (ej. activar N clientes de una línea) y vigilarla como alarma.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72A36"/>
                </a:solidFill>
              </a:rPr>
              <a:t>Foco real y medible sobre tus productos.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significa para Continental de Negocios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324B"/>
          </a:solidFill>
          <a:ln w="12700">
            <a:solidFill>
              <a:srgbClr val="1CA7C4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932688" y="2103120"/>
            <a:ext cx="457200" cy="457200"/>
          </a:xfrm>
          <a:prstGeom prst="ellipse">
            <a:avLst/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9326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garantizada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clientes se visitan según el plan; menos ventas perdidas por no llegar.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324B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9" name="Shape 7"/>
          <p:cNvSpPr/>
          <p:nvPr/>
        </p:nvSpPr>
        <p:spPr>
          <a:xfrm>
            <a:off x="6556248" y="21031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65562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en el PDV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313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ruta y de captura dentro del punto de venta.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324B"/>
          </a:solidFill>
          <a:ln w="12700">
            <a:solidFill>
              <a:srgbClr val="8E7CC3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4" name="Shape 12"/>
          <p:cNvSpPr/>
          <p:nvPr/>
        </p:nvSpPr>
        <p:spPr>
          <a:xfrm>
            <a:off x="932688" y="3886200"/>
            <a:ext cx="457200" cy="457200"/>
          </a:xfrm>
          <a:prstGeom prst="ellipse">
            <a:avLst/>
          </a:prstGeom>
          <a:solidFill>
            <a:srgbClr val="8E7CC3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93268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oportunidades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096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dónde no se vende Continental y a qué clientes recuperar.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324B"/>
          </a:solidFill>
          <a:ln w="12700">
            <a:solidFill>
              <a:srgbClr val="C98A00"/>
            </a:solidFill>
            <a:prstDash val="solid"/>
          </a:ln>
          <a:effectLst>
            <a:outerShdw blurRad="101600" dist="38100" dir="5400000" algn="bl" rotWithShape="0">
              <a:srgbClr val="8CA2B0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6556248" y="388620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65562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dirigidas a tus marcas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096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B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Fijamos y vigilamos objetivos diarios para tus categorías.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CA7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 de nuestra parte  =  más venta y presencia de las tuyas.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706</Words>
  <Application>Microsoft Office PowerPoint</Application>
  <PresentationFormat>Panorámica</PresentationFormat>
  <Paragraphs>111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Mercedes</cp:lastModifiedBy>
  <cp:revision>1</cp:revision>
  <dcterms:created xsi:type="dcterms:W3CDTF">2026-07-24T03:20:16Z</dcterms:created>
  <dcterms:modified xsi:type="dcterms:W3CDTF">2026-07-24T03:23:30Z</dcterms:modified>
</cp:coreProperties>
</file>