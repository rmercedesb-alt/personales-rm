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4A90D9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0" y="0"/>
            <a:ext cx="320040" cy="6858000"/>
          </a:xfrm>
          <a:prstGeom prst="rect">
            <a:avLst/>
          </a:prstGeom>
          <a:solidFill>
            <a:srgbClr val="4A90D9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89120" y="0"/>
            <a:ext cx="228600" cy="6858000"/>
          </a:xfrm>
          <a:prstGeom prst="rect">
            <a:avLst/>
          </a:prstGeom>
          <a:solidFill>
            <a:srgbClr val="4A90D9">
              <a:alpha val="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0"/>
            <a:ext cx="365760" cy="6858000"/>
          </a:xfrm>
          <a:prstGeom prst="rect">
            <a:avLst/>
          </a:prstGeom>
          <a:solidFill>
            <a:srgbClr val="4A90D9">
              <a:alpha val="9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0" y="0"/>
            <a:ext cx="274320" cy="6858000"/>
          </a:xfrm>
          <a:prstGeom prst="rect">
            <a:avLst/>
          </a:prstGeom>
          <a:solidFill>
            <a:srgbClr val="4A90D9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0" y="0"/>
            <a:ext cx="731520" cy="6858000"/>
          </a:xfrm>
          <a:prstGeom prst="rect">
            <a:avLst/>
          </a:prstGeom>
          <a:solidFill>
            <a:srgbClr val="4A90D9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6172200"/>
            <a:ext cx="12161520" cy="685800"/>
          </a:xfrm>
          <a:prstGeom prst="rect">
            <a:avLst/>
          </a:prstGeom>
          <a:solidFill>
            <a:srgbClr val="F5A6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4A90D9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0" name="Image 0" descr="C:\Users\Rudy\OneDrive - AM COMERCIAL\Rudy\Claude\logo_am_comerci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09160" y="164592"/>
            <a:ext cx="2743200" cy="10058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13258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4A90D9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🌧️  🌧️  🌧️  🌧️  🌧️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365760" y="1783080"/>
            <a:ext cx="11430000" cy="155448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JOCEANDO MIS CUARTOS 💰</a:t>
            </a:r>
            <a:endParaRPr lang="en-US" sz="5200" dirty="0"/>
          </a:p>
        </p:txBody>
      </p:sp>
      <p:sp>
        <p:nvSpPr>
          <p:cNvPr id="13" name="Shape 10"/>
          <p:cNvSpPr/>
          <p:nvPr/>
        </p:nvSpPr>
        <p:spPr>
          <a:xfrm>
            <a:off x="3200400" y="3401568"/>
            <a:ext cx="576072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" y="35204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Incentivo de Lluvias | Canal Minorista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365760" y="41148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 2026 — Últimos 5 Días del Mes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3794760" y="4709160"/>
            <a:ext cx="4572000" cy="685800"/>
          </a:xfrm>
          <a:prstGeom prst="rect">
            <a:avLst/>
          </a:prstGeom>
          <a:solidFill>
            <a:srgbClr val="4A90D9">
              <a:alpha val="75000"/>
            </a:srgbClr>
          </a:solidFill>
          <a:ln w="1905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3794760" y="470916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🌧️  ¡El que sale, GANA!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365760" y="6208776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Comercial, S.A.S.  ·  Incentivos Comerciales  ·  Confidencial  ·  Mayo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1B3A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11430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funciona el Incentivo? 💡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694944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justo y emocionante — ¡Cada día cuenta!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5349240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9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5349240" cy="530352"/>
          </a:xfrm>
          <a:prstGeom prst="rect">
            <a:avLst/>
          </a:prstGeom>
          <a:solidFill>
            <a:srgbClr val="4A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34440"/>
            <a:ext cx="5349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VENDEDORES MINORISTAS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" y="1892808"/>
            <a:ext cx="5020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</a:t>
            </a:r>
            <a:pPr indent="0" marL="0">
              <a:buNone/>
            </a:pPr>
            <a:r>
              <a:rPr lang="en-US" sz="12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Período: </a:t>
            </a:r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al 31 de Mayo, 2026 (5 días hábiles)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0352" y="2386584"/>
            <a:ext cx="5020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</a:t>
            </a:r>
            <a:pPr indent="0" marL="0">
              <a:buNone/>
            </a:pPr>
            <a:r>
              <a:rPr lang="en-US" sz="12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</a:t>
            </a:r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Lograr el presupuesto diario asignado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0352" y="2880360"/>
            <a:ext cx="5020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💵  </a:t>
            </a:r>
            <a:pPr indent="0" marL="0">
              <a:buNone/>
            </a:pPr>
            <a:r>
              <a:rPr lang="en-US" sz="12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Premio por día cumplido: </a:t>
            </a:r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RD$ 500.00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0352" y="3374136"/>
            <a:ext cx="5020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</a:t>
            </a:r>
            <a:pPr indent="0" marL="0">
              <a:buNone/>
            </a:pPr>
            <a:r>
              <a:rPr lang="en-US" sz="12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Premio máximo acumulado: </a:t>
            </a:r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RD$ 2,500.00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0352" y="3867912"/>
            <a:ext cx="5020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pPr indent="0" marL="0">
              <a:buNone/>
            </a:pPr>
            <a:r>
              <a:rPr lang="en-US" sz="12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funciona? </a:t>
            </a:r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¡Es ACUMULATIVO! Cada día que cumplas tu meta, sumas RD$ 500 más.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" y="4480560"/>
            <a:ext cx="50200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Ejemplo — ¿Cuánto Ganas?</a:t>
            </a:r>
            <a:endParaRPr lang="en-US" sz="12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4846320"/>
          <a:ext cx="3886200" cy="1664208"/>
        </p:xfrm>
        <a:graphic>
          <a:graphicData uri="http://schemas.openxmlformats.org/drawingml/2006/table">
            <a:tbl>
              <a:tblPr/>
              <a:tblGrid>
                <a:gridCol w="1943100"/>
                <a:gridCol w="19431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Días Cumplidos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Premio Ganado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1 día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RD$ 500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2 días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RD$ 1,000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3 días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RD$ 1,500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4 días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RD$ 2,000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</a:rPr>
                        <a:t>5 días 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</a:rPr>
                        <a:t>RD$ 2,500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EF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6446520" y="1234440"/>
            <a:ext cx="5349240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E0A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46520" y="1234440"/>
            <a:ext cx="5349240" cy="530352"/>
          </a:xfrm>
          <a:prstGeom prst="rect">
            <a:avLst/>
          </a:prstGeom>
          <a:solidFill>
            <a:srgbClr val="F5A6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46520" y="1234440"/>
            <a:ext cx="5349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SUPERVISORES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611112" y="1892808"/>
            <a:ext cx="5020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</a:t>
            </a:r>
            <a:pPr indent="0" marL="0">
              <a:buNone/>
            </a:pPr>
            <a:r>
              <a:rPr lang="en-US" sz="12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Período: </a:t>
            </a:r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al 31 de Mayo, 2026 (5 días hábiles)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611112" y="2386584"/>
            <a:ext cx="5020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</a:t>
            </a:r>
            <a:pPr indent="0" marL="0">
              <a:buNone/>
            </a:pPr>
            <a:r>
              <a:rPr lang="en-US" sz="12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</a:t>
            </a:r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Apoyar a su equipo a lograr las metas diarias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611112" y="2880360"/>
            <a:ext cx="5020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💵  </a:t>
            </a:r>
            <a:pPr indent="0" marL="0">
              <a:buNone/>
            </a:pPr>
            <a:r>
              <a:rPr lang="en-US" sz="12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Premio por día cumplido: </a:t>
            </a:r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RD$ 1,000.00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611112" y="3374136"/>
            <a:ext cx="5020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</a:t>
            </a:r>
            <a:pPr indent="0" marL="0">
              <a:buNone/>
            </a:pPr>
            <a:r>
              <a:rPr lang="en-US" sz="12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Premio máximo acumulado: </a:t>
            </a:r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RD$ 5,000.00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611112" y="3867912"/>
            <a:ext cx="5020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pPr indent="0" marL="0">
              <a:buNone/>
            </a:pPr>
            <a:r>
              <a:rPr lang="en-US" sz="12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funciona? </a:t>
            </a:r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¡También ACUMULATIVO! Gana RD$ 1,000 por cada día que su equipo cumpla.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611112" y="4480560"/>
            <a:ext cx="50200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Ejemplo — ¿Cuánto Ganas?</a:t>
            </a:r>
            <a:endParaRPr lang="en-US" sz="125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4846320"/>
          <a:ext cx="3886200" cy="1097280"/>
        </p:xfrm>
        <a:graphic>
          <a:graphicData uri="http://schemas.openxmlformats.org/drawingml/2006/table">
            <a:tbl>
              <a:tblPr/>
              <a:tblGrid>
                <a:gridCol w="1943100"/>
                <a:gridCol w="19431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Días Cumplidos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9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Premio Ganado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91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1 día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RD$ 1,000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3 días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RD$ 3,000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</a:rPr>
                        <a:t>5 días 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</a:rPr>
                        <a:t>RD$ 5,000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EF"/>
                    </a:solidFill>
                  </a:tcPr>
                </a:tc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365760" y="65653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El logro se evalúa diariamente con base en el presupuesto calculado del mes.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Negocio del Incentivo 📊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1143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vs. Retorno — Canal Minorista | 5 Días | Mayo 2026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3611880" cy="1298448"/>
          </a:xfrm>
          <a:prstGeom prst="rect">
            <a:avLst/>
          </a:prstGeom>
          <a:solidFill>
            <a:srgbClr val="1F4B8E"/>
          </a:solidFill>
          <a:ln w="254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70432"/>
            <a:ext cx="3611880" cy="64008"/>
          </a:xfrm>
          <a:prstGeom prst="rect">
            <a:avLst/>
          </a:prstGeom>
          <a:solidFill>
            <a:srgbClr val="4A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24358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1609344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de Ventas (5 Días)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RD$ 12,843,542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" y="228600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vendedores · 5 días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79392" y="1170432"/>
            <a:ext cx="3611880" cy="1298448"/>
          </a:xfrm>
          <a:prstGeom prst="rect">
            <a:avLst/>
          </a:prstGeom>
          <a:solidFill>
            <a:srgbClr val="7A4A00"/>
          </a:solidFill>
          <a:ln w="254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79392" y="1170432"/>
            <a:ext cx="361188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124358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370832" y="1609344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Total en Incentivos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70832" y="192024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RD$ 167,500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370832" y="228600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Reps: RD$132,500  |  Sups: RD$35,000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275320" y="1170432"/>
            <a:ext cx="3657600" cy="1298448"/>
          </a:xfrm>
          <a:prstGeom prst="rect">
            <a:avLst/>
          </a:prstGeom>
          <a:solidFill>
            <a:srgbClr val="1A5C36"/>
          </a:solidFill>
          <a:ln w="254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75320" y="1170432"/>
            <a:ext cx="3657600" cy="64008"/>
          </a:xfrm>
          <a:prstGeom prst="rect">
            <a:avLst/>
          </a:prstGeom>
          <a:solidFill>
            <a:srgbClr val="27A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85048" y="124358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366760" y="160934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Incidencia de la Inversión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366760" y="192024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1.30%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366760" y="22860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RD$1.30 invertidos por cada RD$100 vendidos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4320" y="257860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Detalle por Supervisor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907792"/>
          <a:ext cx="11612880" cy="2331720"/>
        </p:xfrm>
        <a:graphic>
          <a:graphicData uri="http://schemas.openxmlformats.org/drawingml/2006/table">
            <a:tbl>
              <a:tblPr/>
              <a:tblGrid>
                <a:gridCol w="2880360"/>
                <a:gridCol w="548640"/>
                <a:gridCol w="1783080"/>
                <a:gridCol w="1600200"/>
                <a:gridCol w="1600200"/>
                <a:gridCol w="1737360"/>
                <a:gridCol w="146304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5 Días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Incent. Reps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Incent. Sup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Incent.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Incidencia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Disponible Sur Corto (SC)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RD$ 2,881,732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RD$ 30,000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RD$ 5,000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RD$ 35,000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Fernando Martinez (DN)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RD$ 1,033,256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RD$ 12,500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RD$ 5,000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RD$ 17,500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Fernando Martinez (SDO)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RD$ 1,172,896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RD$ 12,500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RD$ 5,000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RD$ 17,500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Narciso Pina Bello (Sur Largo)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RD$ 4,109,700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RD$ 35,000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RD$ 5,000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RD$ 40,000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Ramon E. Pimentel (BC)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RD$ 543,953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RD$ 5,000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RD$ 5,000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RD$ 10,000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Ramon E. Pimentel (SDE)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RD$ 1,696,750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RD$ 20,000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RD$ 5,000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RD$ 25,000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Samuel Valenzuela (SDN)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RD$ 1,405,256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RD$ 17,500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RD$ 5,000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RD$ 22,500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COMPAÑÍA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RD$ 12,843,542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RD$ 132,500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RD$ 35,000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RD$ 167,500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274320" y="5394960"/>
            <a:ext cx="11612880" cy="932688"/>
          </a:xfrm>
          <a:prstGeom prst="rect">
            <a:avLst/>
          </a:prstGeom>
          <a:solidFill>
            <a:srgbClr val="1F4B8E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274320" y="5394960"/>
            <a:ext cx="73152" cy="932688"/>
          </a:xfrm>
          <a:prstGeom prst="rect">
            <a:avLst/>
          </a:prstGeom>
          <a:solidFill>
            <a:srgbClr val="F5A6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2920" y="5422392"/>
            <a:ext cx="112014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 Ejecutiva: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una inversión de RD$ 167,500 activamos a 53 vendedores y 7 supervisores del canal Minorista durante los últimos 5 días de Mayo 2026. La incidencia total del incentivo es del 1.30% sobre la meta de ventas — una inversión de alto impacto con bajo riesgo financiero.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1B3A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65760" y="6601968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Comercial, S.A.S.  ·  Incentivos Comerciales  ·  Mayo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Joceando mis cuartos - Incentivo Lluvias Mayo 2026</dc:title>
  <dc:subject>PptxGenJS Presentation</dc:subject>
  <dc:creator>AM Comercial, S.A.S.</dc:creator>
  <cp:lastModifiedBy>AM Comercial, S.A.S.</cp:lastModifiedBy>
  <cp:revision>1</cp:revision>
  <dcterms:created xsi:type="dcterms:W3CDTF">2026-05-26T17:26:14Z</dcterms:created>
  <dcterms:modified xsi:type="dcterms:W3CDTF">2026-05-26T17:26:14Z</dcterms:modified>
</cp:coreProperties>
</file>