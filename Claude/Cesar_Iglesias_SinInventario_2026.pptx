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864"/>
        </a:solidFill>
        <a:effectLst/>
      </p:bgPr>
    </p:bg>
    <p:spTree>
      <p:nvGrpSpPr>
        <p:cNvPr id="1" name=""/>
        <p:cNvGrpSpPr/>
        <p:nvPr/>
      </p:nvGrpSpPr>
      <p:grpSpPr/>
      <p:sp>
        <p:nvSpPr>
          <p:cNvPr id="2" name="TextBox 1"/>
          <p:cNvSpPr txBox="1"/>
          <p:nvPr/>
        </p:nvSpPr>
        <p:spPr>
          <a:xfrm>
            <a:off x="822960" y="1737360"/>
            <a:ext cx="10515600" cy="1371600"/>
          </a:xfrm>
          <a:prstGeom prst="rect">
            <a:avLst/>
          </a:prstGeom>
          <a:noFill/>
        </p:spPr>
        <p:txBody>
          <a:bodyPr wrap="square" anchor="t" lIns="0" rIns="0" tIns="0" bIns="0">
            <a:spAutoFit/>
          </a:bodyPr>
          <a:lstStyle/>
          <a:p>
            <a:pPr algn="l"/>
            <a:r>
              <a:rPr sz="4400" b="1" i="0">
                <a:solidFill>
                  <a:srgbClr val="FFFFFF"/>
                </a:solidFill>
                <a:latin typeface="Georgia"/>
              </a:rPr>
              <a:t>Cesar Iglesias (Unilever)</a:t>
            </a:r>
          </a:p>
        </p:txBody>
      </p:sp>
      <p:sp>
        <p:nvSpPr>
          <p:cNvPr id="3" name="TextBox 2"/>
          <p:cNvSpPr txBox="1"/>
          <p:nvPr/>
        </p:nvSpPr>
        <p:spPr>
          <a:xfrm>
            <a:off x="822960" y="2606040"/>
            <a:ext cx="10515600" cy="822960"/>
          </a:xfrm>
          <a:prstGeom prst="rect">
            <a:avLst/>
          </a:prstGeom>
          <a:noFill/>
        </p:spPr>
        <p:txBody>
          <a:bodyPr wrap="square" anchor="t" lIns="0" rIns="0" tIns="0" bIns="0">
            <a:spAutoFit/>
          </a:bodyPr>
          <a:lstStyle/>
          <a:p>
            <a:pPr algn="l"/>
            <a:r>
              <a:rPr sz="2100" b="0" i="0">
                <a:solidFill>
                  <a:srgbClr val="C9D4EE"/>
                </a:solidFill>
                <a:latin typeface="Calibri"/>
              </a:rPr>
              <a:t>Devoluciones por falta de inventario + pedidos eliminados — Enero a Septiembre 2026</a:t>
            </a:r>
          </a:p>
        </p:txBody>
      </p:sp>
      <p:sp>
        <p:nvSpPr>
          <p:cNvPr id="4" name="TextBox 3"/>
          <p:cNvSpPr txBox="1"/>
          <p:nvPr/>
        </p:nvSpPr>
        <p:spPr>
          <a:xfrm>
            <a:off x="822960" y="5212080"/>
            <a:ext cx="10515600" cy="548640"/>
          </a:xfrm>
          <a:prstGeom prst="rect">
            <a:avLst/>
          </a:prstGeom>
          <a:noFill/>
        </p:spPr>
        <p:txBody>
          <a:bodyPr wrap="square" anchor="t" lIns="0" rIns="0" tIns="0" bIns="0">
            <a:spAutoFit/>
          </a:bodyPr>
          <a:lstStyle/>
          <a:p>
            <a:pPr algn="l"/>
            <a:r>
              <a:rPr sz="1350" b="0" i="0">
                <a:solidFill>
                  <a:srgbClr val="9AA6D6"/>
                </a:solidFill>
                <a:latin typeface="Calibri"/>
              </a:rPr>
              <a:t>AM Comercial  ·  Fuente: VWVentasResumen2026 + PedidosDetallesEliminados_RM + VwPedidosVsFacutadosMenosDevolucionRM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0972800" cy="731520"/>
          </a:xfrm>
          <a:prstGeom prst="rect">
            <a:avLst/>
          </a:prstGeom>
          <a:noFill/>
        </p:spPr>
        <p:txBody>
          <a:bodyPr wrap="square" anchor="t" lIns="0" rIns="0" tIns="0" bIns="0">
            <a:spAutoFit/>
          </a:bodyPr>
          <a:lstStyle/>
          <a:p>
            <a:pPr algn="l"/>
            <a:r>
              <a:rPr sz="3000" b="1" i="0">
                <a:solidFill>
                  <a:srgbClr val="1F3864"/>
                </a:solidFill>
                <a:latin typeface="Georgia"/>
              </a:rPr>
              <a:t>Qué se está midiendo</a:t>
            </a:r>
          </a:p>
        </p:txBody>
      </p:sp>
      <p:sp>
        <p:nvSpPr>
          <p:cNvPr id="3" name="TextBox 2"/>
          <p:cNvSpPr txBox="1"/>
          <p:nvPr/>
        </p:nvSpPr>
        <p:spPr>
          <a:xfrm>
            <a:off x="640080" y="1371600"/>
            <a:ext cx="10881360" cy="5029200"/>
          </a:xfrm>
          <a:prstGeom prst="rect">
            <a:avLst/>
          </a:prstGeom>
          <a:noFill/>
        </p:spPr>
        <p:txBody>
          <a:bodyPr wrap="square" lIns="0" rIns="0" tIns="0" bIns="0">
            <a:spAutoFit/>
          </a:bodyPr>
          <a:lstStyle/>
          <a:p>
            <a:pPr>
              <a:spcAft>
                <a:spcPts val="1400"/>
              </a:spcAft>
            </a:pPr>
            <a:r>
              <a:rPr sz="1550">
                <a:solidFill>
                  <a:srgbClr val="0B0B0B"/>
                </a:solidFill>
                <a:latin typeface="Calibri"/>
              </a:rPr>
              <a:t>•  Devolución Sin Inventario: devoluciones de Cesar Iglesias (Unilever) cuyo motivo registrado es "PROD. FACTURADO SIN EXISTENCIA FISICA EN ALMACEN" (se facturó sin tener el producto en almacén). Fuente: VWVentasResumen2026.</a:t>
            </a:r>
          </a:p>
          <a:p>
            <a:pPr>
              <a:spcAft>
                <a:spcPts val="1400"/>
              </a:spcAft>
            </a:pPr>
            <a:r>
              <a:rPr sz="1550">
                <a:solidFill>
                  <a:srgbClr val="0B0B0B"/>
                </a:solidFill>
                <a:latin typeface="Calibri"/>
              </a:rPr>
              <a:t>•  Eliminado de Pedidos: valor de líneas de producto de Cesar Iglesias que el sistema quitó del pedido antes de facturar (tabla PedidosDetallesEliminados_RM). Se suma a la devolución bajo el criterio de que, si se hubiera facturado sin existencia, habría terminado igual como una devolución por falta de inventario.</a:t>
            </a:r>
          </a:p>
          <a:p>
            <a:pPr>
              <a:spcAft>
                <a:spcPts val="1400"/>
              </a:spcAft>
            </a:pPr>
            <a:r>
              <a:rPr sz="1550">
                <a:solidFill>
                  <a:srgbClr val="0B0B0B"/>
                </a:solidFill>
                <a:latin typeface="Calibri"/>
              </a:rPr>
              <a:t>•  Impacto Total = Devolución Sin Inventario + Eliminado de Pedidos, comparado cada mes contra: (1) la Venta Facturada del suplidor ese mes, y (2) lo Prevendido (monto bruto de pedido) ese mes.</a:t>
            </a:r>
          </a:p>
          <a:p>
            <a:pPr>
              <a:spcAft>
                <a:spcPts val="1400"/>
              </a:spcAft>
            </a:pPr>
            <a:r>
              <a:rPr sz="1550">
                <a:solidFill>
                  <a:srgbClr val="0B0B0B"/>
                </a:solidFill>
                <a:latin typeface="Calibri"/>
              </a:rPr>
              <a:t>•  Limitación importante: la tabla de eliminados solo tiene historial desde el 17-sep-2026 — por eso ese valor solo aparece en Septiembre. Septiembre además está incompleto (datos al 28-sep) y "Prevendido" solo existe desde Abril. Estas diferencias de cobertura hacen que Septiembre no sea directamente comparable con los meses anteriores — se señala explícitamente en cada vista.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0972800" cy="731520"/>
          </a:xfrm>
          <a:prstGeom prst="rect">
            <a:avLst/>
          </a:prstGeom>
          <a:noFill/>
        </p:spPr>
        <p:txBody>
          <a:bodyPr wrap="square" anchor="t" lIns="0" rIns="0" tIns="0" bIns="0">
            <a:spAutoFit/>
          </a:bodyPr>
          <a:lstStyle/>
          <a:p>
            <a:pPr algn="l"/>
            <a:r>
              <a:rPr sz="3000" b="1" i="0">
                <a:solidFill>
                  <a:srgbClr val="1F3864"/>
                </a:solidFill>
                <a:latin typeface="Georgia"/>
              </a:rPr>
              <a:t>Resumen ejecutivo</a:t>
            </a:r>
          </a:p>
        </p:txBody>
      </p:sp>
      <p:sp>
        <p:nvSpPr>
          <p:cNvPr id="3" name="Rounded Rectangle 2"/>
          <p:cNvSpPr/>
          <p:nvPr/>
        </p:nvSpPr>
        <p:spPr>
          <a:xfrm>
            <a:off x="548640" y="1417320"/>
            <a:ext cx="2697480" cy="1600200"/>
          </a:xfrm>
          <a:prstGeom prst="roundRect">
            <a:avLst/>
          </a:prstGeom>
          <a:solidFill>
            <a:srgbClr val="F2F4FB"/>
          </a:solidFill>
          <a:ln w="9525">
            <a:solidFill>
              <a:srgbClr val="E0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73352"/>
            <a:ext cx="2423160" cy="868680"/>
          </a:xfrm>
          <a:prstGeom prst="rect">
            <a:avLst/>
          </a:prstGeom>
          <a:noFill/>
        </p:spPr>
        <p:txBody>
          <a:bodyPr wrap="square" anchor="ctr" lIns="0" rIns="0" tIns="0" bIns="0">
            <a:spAutoFit/>
          </a:bodyPr>
          <a:lstStyle/>
          <a:p>
            <a:pPr algn="ctr"/>
            <a:r>
              <a:rPr sz="3000" b="1" i="0">
                <a:solidFill>
                  <a:srgbClr val="1F3864"/>
                </a:solidFill>
                <a:latin typeface="Georgia"/>
              </a:rPr>
              <a:t>RD$ 3.14M</a:t>
            </a:r>
          </a:p>
        </p:txBody>
      </p:sp>
      <p:sp>
        <p:nvSpPr>
          <p:cNvPr id="5" name="TextBox 4"/>
          <p:cNvSpPr txBox="1"/>
          <p:nvPr/>
        </p:nvSpPr>
        <p:spPr>
          <a:xfrm>
            <a:off x="685800" y="2377440"/>
            <a:ext cx="2423160" cy="548640"/>
          </a:xfrm>
          <a:prstGeom prst="rect">
            <a:avLst/>
          </a:prstGeom>
          <a:noFill/>
        </p:spPr>
        <p:txBody>
          <a:bodyPr wrap="square" anchor="t" lIns="0" rIns="0" tIns="0" bIns="0">
            <a:spAutoFit/>
          </a:bodyPr>
          <a:lstStyle/>
          <a:p>
            <a:pPr algn="ctr"/>
            <a:r>
              <a:rPr sz="1200" b="0" i="0">
                <a:solidFill>
                  <a:srgbClr val="52514E"/>
                </a:solidFill>
                <a:latin typeface="Calibri"/>
              </a:rPr>
              <a:t>Devolución sin inventario
(Ene-Sep)</a:t>
            </a:r>
          </a:p>
        </p:txBody>
      </p:sp>
      <p:sp>
        <p:nvSpPr>
          <p:cNvPr id="6" name="Rounded Rectangle 5"/>
          <p:cNvSpPr/>
          <p:nvPr/>
        </p:nvSpPr>
        <p:spPr>
          <a:xfrm>
            <a:off x="3410712" y="1417320"/>
            <a:ext cx="2697480" cy="1600200"/>
          </a:xfrm>
          <a:prstGeom prst="roundRect">
            <a:avLst/>
          </a:prstGeom>
          <a:solidFill>
            <a:srgbClr val="F2F4FB"/>
          </a:solidFill>
          <a:ln w="9525">
            <a:solidFill>
              <a:srgbClr val="E0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47872" y="1673352"/>
            <a:ext cx="2423160" cy="868680"/>
          </a:xfrm>
          <a:prstGeom prst="rect">
            <a:avLst/>
          </a:prstGeom>
          <a:noFill/>
        </p:spPr>
        <p:txBody>
          <a:bodyPr wrap="square" anchor="ctr" lIns="0" rIns="0" tIns="0" bIns="0">
            <a:spAutoFit/>
          </a:bodyPr>
          <a:lstStyle/>
          <a:p>
            <a:pPr algn="ctr"/>
            <a:r>
              <a:rPr sz="3000" b="1" i="0">
                <a:solidFill>
                  <a:srgbClr val="EB6834"/>
                </a:solidFill>
                <a:latin typeface="Georgia"/>
              </a:rPr>
              <a:t>RD$ 1.36M</a:t>
            </a:r>
          </a:p>
        </p:txBody>
      </p:sp>
      <p:sp>
        <p:nvSpPr>
          <p:cNvPr id="8" name="TextBox 7"/>
          <p:cNvSpPr txBox="1"/>
          <p:nvPr/>
        </p:nvSpPr>
        <p:spPr>
          <a:xfrm>
            <a:off x="3547872" y="2377440"/>
            <a:ext cx="2423160" cy="548640"/>
          </a:xfrm>
          <a:prstGeom prst="rect">
            <a:avLst/>
          </a:prstGeom>
          <a:noFill/>
        </p:spPr>
        <p:txBody>
          <a:bodyPr wrap="square" anchor="t" lIns="0" rIns="0" tIns="0" bIns="0">
            <a:spAutoFit/>
          </a:bodyPr>
          <a:lstStyle/>
          <a:p>
            <a:pPr algn="ctr"/>
            <a:r>
              <a:rPr sz="1200" b="0" i="0">
                <a:solidFill>
                  <a:srgbClr val="52514E"/>
                </a:solidFill>
                <a:latin typeface="Calibri"/>
              </a:rPr>
              <a:t>Eliminado de pedidos
(solo Sep, 17-28)</a:t>
            </a:r>
          </a:p>
        </p:txBody>
      </p:sp>
      <p:sp>
        <p:nvSpPr>
          <p:cNvPr id="9" name="Rounded Rectangle 8"/>
          <p:cNvSpPr/>
          <p:nvPr/>
        </p:nvSpPr>
        <p:spPr>
          <a:xfrm>
            <a:off x="6272784" y="1417320"/>
            <a:ext cx="2697480" cy="1600200"/>
          </a:xfrm>
          <a:prstGeom prst="roundRect">
            <a:avLst/>
          </a:prstGeom>
          <a:solidFill>
            <a:srgbClr val="F2F4FB"/>
          </a:solidFill>
          <a:ln w="9525">
            <a:solidFill>
              <a:srgbClr val="E0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9944" y="1673352"/>
            <a:ext cx="2423160" cy="868680"/>
          </a:xfrm>
          <a:prstGeom prst="rect">
            <a:avLst/>
          </a:prstGeom>
          <a:noFill/>
        </p:spPr>
        <p:txBody>
          <a:bodyPr wrap="square" anchor="ctr" lIns="0" rIns="0" tIns="0" bIns="0">
            <a:spAutoFit/>
          </a:bodyPr>
          <a:lstStyle/>
          <a:p>
            <a:pPr algn="ctr"/>
            <a:r>
              <a:rPr sz="3000" b="1" i="0">
                <a:solidFill>
                  <a:srgbClr val="1F3864"/>
                </a:solidFill>
                <a:latin typeface="Georgia"/>
              </a:rPr>
              <a:t>RD$ 4.50M</a:t>
            </a:r>
          </a:p>
        </p:txBody>
      </p:sp>
      <p:sp>
        <p:nvSpPr>
          <p:cNvPr id="11" name="TextBox 10"/>
          <p:cNvSpPr txBox="1"/>
          <p:nvPr/>
        </p:nvSpPr>
        <p:spPr>
          <a:xfrm>
            <a:off x="6409944" y="2377440"/>
            <a:ext cx="2423160" cy="548640"/>
          </a:xfrm>
          <a:prstGeom prst="rect">
            <a:avLst/>
          </a:prstGeom>
          <a:noFill/>
        </p:spPr>
        <p:txBody>
          <a:bodyPr wrap="square" anchor="t" lIns="0" rIns="0" tIns="0" bIns="0">
            <a:spAutoFit/>
          </a:bodyPr>
          <a:lstStyle/>
          <a:p>
            <a:pPr algn="ctr"/>
            <a:r>
              <a:rPr sz="1200" b="0" i="0">
                <a:solidFill>
                  <a:srgbClr val="52514E"/>
                </a:solidFill>
                <a:latin typeface="Calibri"/>
              </a:rPr>
              <a:t>Impacto total Ene-Sep</a:t>
            </a:r>
          </a:p>
        </p:txBody>
      </p:sp>
      <p:sp>
        <p:nvSpPr>
          <p:cNvPr id="12" name="Rounded Rectangle 11"/>
          <p:cNvSpPr/>
          <p:nvPr/>
        </p:nvSpPr>
        <p:spPr>
          <a:xfrm>
            <a:off x="9134856" y="1417320"/>
            <a:ext cx="2697480" cy="1600200"/>
          </a:xfrm>
          <a:prstGeom prst="roundRect">
            <a:avLst/>
          </a:prstGeom>
          <a:solidFill>
            <a:srgbClr val="F2F4FB"/>
          </a:solidFill>
          <a:ln w="9525">
            <a:solidFill>
              <a:srgbClr val="E0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72016" y="1673352"/>
            <a:ext cx="2423160" cy="868680"/>
          </a:xfrm>
          <a:prstGeom prst="rect">
            <a:avLst/>
          </a:prstGeom>
          <a:noFill/>
        </p:spPr>
        <p:txBody>
          <a:bodyPr wrap="square" anchor="ctr" lIns="0" rIns="0" tIns="0" bIns="0">
            <a:spAutoFit/>
          </a:bodyPr>
          <a:lstStyle/>
          <a:p>
            <a:pPr algn="ctr"/>
            <a:r>
              <a:rPr sz="3000" b="1" i="0">
                <a:solidFill>
                  <a:srgbClr val="2A78D6"/>
                </a:solidFill>
                <a:latin typeface="Georgia"/>
              </a:rPr>
              <a:t>6.7%</a:t>
            </a:r>
          </a:p>
        </p:txBody>
      </p:sp>
      <p:sp>
        <p:nvSpPr>
          <p:cNvPr id="14" name="TextBox 13"/>
          <p:cNvSpPr txBox="1"/>
          <p:nvPr/>
        </p:nvSpPr>
        <p:spPr>
          <a:xfrm>
            <a:off x="9272016" y="2377440"/>
            <a:ext cx="2423160" cy="548640"/>
          </a:xfrm>
          <a:prstGeom prst="rect">
            <a:avLst/>
          </a:prstGeom>
          <a:noFill/>
        </p:spPr>
        <p:txBody>
          <a:bodyPr wrap="square" anchor="t" lIns="0" rIns="0" tIns="0" bIns="0">
            <a:spAutoFit/>
          </a:bodyPr>
          <a:lstStyle/>
          <a:p>
            <a:pPr algn="ctr"/>
            <a:r>
              <a:rPr sz="1200" b="0" i="0">
                <a:solidFill>
                  <a:srgbClr val="52514E"/>
                </a:solidFill>
                <a:latin typeface="Calibri"/>
              </a:rPr>
              <a:t>Impacto vs. venta
facturada del período</a:t>
            </a:r>
          </a:p>
        </p:txBody>
      </p:sp>
      <p:sp>
        <p:nvSpPr>
          <p:cNvPr id="15" name="TextBox 14"/>
          <p:cNvSpPr txBox="1"/>
          <p:nvPr/>
        </p:nvSpPr>
        <p:spPr>
          <a:xfrm>
            <a:off x="548640" y="3429000"/>
            <a:ext cx="11064240" cy="457200"/>
          </a:xfrm>
          <a:prstGeom prst="rect">
            <a:avLst/>
          </a:prstGeom>
          <a:noFill/>
        </p:spPr>
        <p:txBody>
          <a:bodyPr wrap="square" anchor="t" lIns="0" rIns="0" tIns="0" bIns="0">
            <a:spAutoFit/>
          </a:bodyPr>
          <a:lstStyle/>
          <a:p>
            <a:pPr algn="l"/>
            <a:r>
              <a:rPr sz="1800" b="1" i="0">
                <a:solidFill>
                  <a:srgbClr val="1F3864"/>
                </a:solidFill>
                <a:latin typeface="Georgia"/>
              </a:rPr>
              <a:t>Hallazgos principales</a:t>
            </a:r>
          </a:p>
        </p:txBody>
      </p:sp>
      <p:sp>
        <p:nvSpPr>
          <p:cNvPr id="16" name="TextBox 15"/>
          <p:cNvSpPr txBox="1"/>
          <p:nvPr/>
        </p:nvSpPr>
        <p:spPr>
          <a:xfrm>
            <a:off x="640080" y="3931920"/>
            <a:ext cx="10881360" cy="2560320"/>
          </a:xfrm>
          <a:prstGeom prst="rect">
            <a:avLst/>
          </a:prstGeom>
          <a:noFill/>
        </p:spPr>
        <p:txBody>
          <a:bodyPr wrap="square" lIns="0" rIns="0" tIns="0" bIns="0">
            <a:spAutoFit/>
          </a:bodyPr>
          <a:lstStyle/>
          <a:p>
            <a:pPr>
              <a:spcAft>
                <a:spcPts val="1000"/>
              </a:spcAft>
            </a:pPr>
            <a:r>
              <a:rPr sz="1500">
                <a:solidFill>
                  <a:srgbClr val="0B0B0B"/>
                </a:solidFill>
                <a:latin typeface="Calibri"/>
              </a:rPr>
              <a:t>•  En 9 meses, Cesar Iglesias generó RD$4.5M en devoluciones/pérdidas por falta de inventario — equivalente al 6.7% de todo lo que se le facturó en el período.</a:t>
            </a:r>
          </a:p>
          <a:p>
            <a:pPr>
              <a:spcAft>
                <a:spcPts val="1000"/>
              </a:spcAft>
            </a:pPr>
            <a:r>
              <a:rPr sz="1500">
                <a:solidFill>
                  <a:srgbClr val="0B0B0B"/>
                </a:solidFill>
                <a:latin typeface="Calibri"/>
              </a:rPr>
              <a:t>•  Mayo (6.9%) y Julio (5.9%) fueron los peores meses "normales" — coincide con la caída de cumplimiento de pedidos vs facturado ya identificada en el informe de faltantes en despachos.</a:t>
            </a:r>
          </a:p>
          <a:p>
            <a:pPr>
              <a:spcAft>
                <a:spcPts val="1000"/>
              </a:spcAft>
            </a:pPr>
            <a:r>
              <a:rPr sz="1500">
                <a:solidFill>
                  <a:srgbClr val="0B0B0B"/>
                </a:solidFill>
                <a:latin typeface="Calibri"/>
              </a:rPr>
              <a:t>•  Septiembre muestra una escalada muy fuerte: solo en los últimos 12 días del mes se acumularon RD$1.36M en pedidos eliminados por falta de inventario — más que la devolución de cualquier mes completo anterior.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640080"/>
          </a:xfrm>
          <a:prstGeom prst="rect">
            <a:avLst/>
          </a:prstGeom>
          <a:noFill/>
        </p:spPr>
        <p:txBody>
          <a:bodyPr wrap="square" anchor="t" lIns="0" rIns="0" tIns="0" bIns="0">
            <a:spAutoFit/>
          </a:bodyPr>
          <a:lstStyle/>
          <a:p>
            <a:pPr algn="l"/>
            <a:r>
              <a:rPr sz="2700" b="1" i="0">
                <a:solidFill>
                  <a:srgbClr val="1F3864"/>
                </a:solidFill>
                <a:latin typeface="Georgia"/>
              </a:rPr>
              <a:t>Devolución sin inventario + Eliminados por mes</a:t>
            </a:r>
          </a:p>
        </p:txBody>
      </p:sp>
      <p:sp>
        <p:nvSpPr>
          <p:cNvPr id="3" name="TextBox 2"/>
          <p:cNvSpPr txBox="1"/>
          <p:nvPr/>
        </p:nvSpPr>
        <p:spPr>
          <a:xfrm>
            <a:off x="548640" y="1005840"/>
            <a:ext cx="11064240" cy="457200"/>
          </a:xfrm>
          <a:prstGeom prst="rect">
            <a:avLst/>
          </a:prstGeom>
          <a:noFill/>
        </p:spPr>
        <p:txBody>
          <a:bodyPr wrap="square" anchor="t" lIns="0" rIns="0" tIns="0" bIns="0">
            <a:spAutoFit/>
          </a:bodyPr>
          <a:lstStyle/>
          <a:p>
            <a:pPr algn="l"/>
            <a:r>
              <a:rPr sz="1350" b="0" i="1">
                <a:solidFill>
                  <a:srgbClr val="52514E"/>
                </a:solidFill>
                <a:latin typeface="Calibri"/>
              </a:rPr>
              <a:t>RD$ por mes — Septiembre incluye el valor de pedidos eliminados desde el 17-sep (no comparable 1:1 con meses previos)</a:t>
            </a:r>
          </a:p>
        </p:txBody>
      </p:sp>
      <p:pic>
        <p:nvPicPr>
          <p:cNvPr id="4" name="Picture 3" descr="01_impacto_mensual.png"/>
          <p:cNvPicPr>
            <a:picLocks noChangeAspect="1"/>
          </p:cNvPicPr>
          <p:nvPr/>
        </p:nvPicPr>
        <p:blipFill>
          <a:blip r:embed="rId2"/>
          <a:stretch>
            <a:fillRect/>
          </a:stretch>
        </p:blipFill>
        <p:spPr>
          <a:xfrm>
            <a:off x="692331" y="1417320"/>
            <a:ext cx="10776857" cy="51206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640080"/>
          </a:xfrm>
          <a:prstGeom prst="rect">
            <a:avLst/>
          </a:prstGeom>
          <a:noFill/>
        </p:spPr>
        <p:txBody>
          <a:bodyPr wrap="square" anchor="t" lIns="0" rIns="0" tIns="0" bIns="0">
            <a:spAutoFit/>
          </a:bodyPr>
          <a:lstStyle/>
          <a:p>
            <a:pPr algn="l"/>
            <a:r>
              <a:rPr sz="2700" b="1" i="0">
                <a:solidFill>
                  <a:srgbClr val="1F3864"/>
                </a:solidFill>
                <a:latin typeface="Georgia"/>
              </a:rPr>
              <a:t>% de impacto sobre la venta facturada</a:t>
            </a:r>
          </a:p>
        </p:txBody>
      </p:sp>
      <p:sp>
        <p:nvSpPr>
          <p:cNvPr id="3" name="TextBox 2"/>
          <p:cNvSpPr txBox="1"/>
          <p:nvPr/>
        </p:nvSpPr>
        <p:spPr>
          <a:xfrm>
            <a:off x="548640" y="1005840"/>
            <a:ext cx="11064240" cy="457200"/>
          </a:xfrm>
          <a:prstGeom prst="rect">
            <a:avLst/>
          </a:prstGeom>
          <a:noFill/>
        </p:spPr>
        <p:txBody>
          <a:bodyPr wrap="square" anchor="t" lIns="0" rIns="0" tIns="0" bIns="0">
            <a:spAutoFit/>
          </a:bodyPr>
          <a:lstStyle/>
          <a:p>
            <a:pPr algn="l"/>
            <a:r>
              <a:rPr sz="1350" b="0" i="1">
                <a:solidFill>
                  <a:srgbClr val="52514E"/>
                </a:solidFill>
                <a:latin typeface="Calibri"/>
              </a:rPr>
              <a:t>Impacto Total (devolución sin inventario + eliminados) como % de la venta facturada de Cesar Iglesias cada mes</a:t>
            </a:r>
          </a:p>
        </p:txBody>
      </p:sp>
      <p:pic>
        <p:nvPicPr>
          <p:cNvPr id="4" name="Picture 3" descr="02_pct_vs_venta.png"/>
          <p:cNvPicPr>
            <a:picLocks noChangeAspect="1"/>
          </p:cNvPicPr>
          <p:nvPr/>
        </p:nvPicPr>
        <p:blipFill>
          <a:blip r:embed="rId2"/>
          <a:stretch>
            <a:fillRect/>
          </a:stretch>
        </p:blipFill>
        <p:spPr>
          <a:xfrm>
            <a:off x="691137" y="1417320"/>
            <a:ext cx="10779246" cy="51206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640080"/>
          </a:xfrm>
          <a:prstGeom prst="rect">
            <a:avLst/>
          </a:prstGeom>
          <a:noFill/>
        </p:spPr>
        <p:txBody>
          <a:bodyPr wrap="square" anchor="t" lIns="0" rIns="0" tIns="0" bIns="0">
            <a:spAutoFit/>
          </a:bodyPr>
          <a:lstStyle/>
          <a:p>
            <a:pPr algn="l"/>
            <a:r>
              <a:rPr sz="2600" b="1" i="0">
                <a:solidFill>
                  <a:srgbClr val="1F3864"/>
                </a:solidFill>
                <a:latin typeface="Georgia"/>
              </a:rPr>
              <a:t>Detalle mensual completo</a:t>
            </a:r>
          </a:p>
        </p:txBody>
      </p:sp>
      <p:graphicFrame>
        <p:nvGraphicFramePr>
          <p:cNvPr id="3" name="Table 2"/>
          <p:cNvGraphicFramePr>
            <a:graphicFrameLocks noGrp="1"/>
          </p:cNvGraphicFramePr>
          <p:nvPr/>
        </p:nvGraphicFramePr>
        <p:xfrm>
          <a:off x="365760" y="1097280"/>
          <a:ext cx="11430000" cy="5120640"/>
        </p:xfrm>
        <a:graphic>
          <a:graphicData uri="http://schemas.openxmlformats.org/drawingml/2006/table">
            <a:tbl>
              <a:tblPr firstRow="1" bandRow="1">
                <a:tableStyleId>{5C22544A-7EE6-4342-B048-85BDC9FD1C3A}</a:tableStyleId>
              </a:tblPr>
              <a:tblGrid>
                <a:gridCol w="1280160"/>
                <a:gridCol w="1554480"/>
                <a:gridCol w="1600200"/>
                <a:gridCol w="1371600"/>
                <a:gridCol w="1463040"/>
                <a:gridCol w="1051560"/>
                <a:gridCol w="1691640"/>
                <a:gridCol w="1417320"/>
              </a:tblGrid>
              <a:tr h="512064">
                <a:tc>
                  <a:txBody>
                    <a:bodyPr/>
                    <a:lstStyle/>
                    <a:p>
                      <a:pPr algn="ctr"/>
                      <a:r>
                        <a:rPr b="1" sz="1150">
                          <a:solidFill>
                            <a:srgbClr val="FFFFFF"/>
                          </a:solidFill>
                        </a:rPr>
                        <a:t>Mes</a:t>
                      </a:r>
                    </a:p>
                  </a:txBody>
                  <a:tcPr>
                    <a:solidFill>
                      <a:srgbClr val="1F3864"/>
                    </a:solidFill>
                  </a:tcPr>
                </a:tc>
                <a:tc>
                  <a:txBody>
                    <a:bodyPr/>
                    <a:lstStyle/>
                    <a:p>
                      <a:pPr algn="ctr"/>
                      <a:r>
                        <a:rPr b="1" sz="1150">
                          <a:solidFill>
                            <a:srgbClr val="FFFFFF"/>
                          </a:solidFill>
                        </a:rPr>
                        <a:t>Venta RD$</a:t>
                      </a:r>
                    </a:p>
                  </a:txBody>
                  <a:tcPr>
                    <a:solidFill>
                      <a:srgbClr val="1F3864"/>
                    </a:solidFill>
                  </a:tcPr>
                </a:tc>
                <a:tc>
                  <a:txBody>
                    <a:bodyPr/>
                    <a:lstStyle/>
                    <a:p>
                      <a:pPr algn="ctr"/>
                      <a:r>
                        <a:rPr b="1" sz="1150">
                          <a:solidFill>
                            <a:srgbClr val="FFFFFF"/>
                          </a:solidFill>
                        </a:rPr>
                        <a:t>Dev. Sin Inv. RD$</a:t>
                      </a:r>
                    </a:p>
                  </a:txBody>
                  <a:tcPr>
                    <a:solidFill>
                      <a:srgbClr val="1F3864"/>
                    </a:solidFill>
                  </a:tcPr>
                </a:tc>
                <a:tc>
                  <a:txBody>
                    <a:bodyPr/>
                    <a:lstStyle/>
                    <a:p>
                      <a:pPr algn="ctr"/>
                      <a:r>
                        <a:rPr b="1" sz="1150">
                          <a:solidFill>
                            <a:srgbClr val="FFFFFF"/>
                          </a:solidFill>
                        </a:rPr>
                        <a:t>Eliminado RD$</a:t>
                      </a:r>
                    </a:p>
                  </a:txBody>
                  <a:tcPr>
                    <a:solidFill>
                      <a:srgbClr val="1F3864"/>
                    </a:solidFill>
                  </a:tcPr>
                </a:tc>
                <a:tc>
                  <a:txBody>
                    <a:bodyPr/>
                    <a:lstStyle/>
                    <a:p>
                      <a:pPr algn="ctr"/>
                      <a:r>
                        <a:rPr b="1" sz="1150">
                          <a:solidFill>
                            <a:srgbClr val="FFFFFF"/>
                          </a:solidFill>
                        </a:rPr>
                        <a:t>Impacto Total</a:t>
                      </a:r>
                    </a:p>
                  </a:txBody>
                  <a:tcPr>
                    <a:solidFill>
                      <a:srgbClr val="1F3864"/>
                    </a:solidFill>
                  </a:tcPr>
                </a:tc>
                <a:tc>
                  <a:txBody>
                    <a:bodyPr/>
                    <a:lstStyle/>
                    <a:p>
                      <a:pPr algn="ctr"/>
                      <a:r>
                        <a:rPr b="1" sz="1150">
                          <a:solidFill>
                            <a:srgbClr val="FFFFFF"/>
                          </a:solidFill>
                        </a:rPr>
                        <a:t>% vs Venta</a:t>
                      </a:r>
                    </a:p>
                  </a:txBody>
                  <a:tcPr>
                    <a:solidFill>
                      <a:srgbClr val="1F3864"/>
                    </a:solidFill>
                  </a:tcPr>
                </a:tc>
                <a:tc>
                  <a:txBody>
                    <a:bodyPr/>
                    <a:lstStyle/>
                    <a:p>
                      <a:pPr algn="ctr"/>
                      <a:r>
                        <a:rPr b="1" sz="1150">
                          <a:solidFill>
                            <a:srgbClr val="FFFFFF"/>
                          </a:solidFill>
                        </a:rPr>
                        <a:t>Prevendido RD$</a:t>
                      </a:r>
                    </a:p>
                  </a:txBody>
                  <a:tcPr>
                    <a:solidFill>
                      <a:srgbClr val="1F3864"/>
                    </a:solidFill>
                  </a:tcPr>
                </a:tc>
                <a:tc>
                  <a:txBody>
                    <a:bodyPr/>
                    <a:lstStyle/>
                    <a:p>
                      <a:pPr algn="ctr"/>
                      <a:r>
                        <a:rPr b="1" sz="1150">
                          <a:solidFill>
                            <a:srgbClr val="FFFFFF"/>
                          </a:solidFill>
                        </a:rPr>
                        <a:t>% vs Prevendido</a:t>
                      </a:r>
                    </a:p>
                  </a:txBody>
                  <a:tcPr>
                    <a:solidFill>
                      <a:srgbClr val="1F3864"/>
                    </a:solidFill>
                  </a:tcPr>
                </a:tc>
              </a:tr>
              <a:tr h="512064">
                <a:tc>
                  <a:txBody>
                    <a:bodyPr/>
                    <a:lstStyle/>
                    <a:p>
                      <a:pPr algn="l"/>
                      <a:r>
                        <a:rPr sz="1150">
                          <a:solidFill>
                            <a:srgbClr val="0B0B0B"/>
                          </a:solidFill>
                        </a:rPr>
                        <a:t>Enero</a:t>
                      </a:r>
                    </a:p>
                  </a:txBody>
                  <a:tcPr>
                    <a:solidFill>
                      <a:srgbClr val="F7F8FC"/>
                    </a:solidFill>
                  </a:tcPr>
                </a:tc>
                <a:tc>
                  <a:txBody>
                    <a:bodyPr/>
                    <a:lstStyle/>
                    <a:p>
                      <a:pPr algn="ctr"/>
                      <a:r>
                        <a:rPr sz="1150">
                          <a:solidFill>
                            <a:srgbClr val="0B0B0B"/>
                          </a:solidFill>
                        </a:rPr>
                        <a:t>9,158,964</a:t>
                      </a:r>
                    </a:p>
                  </a:txBody>
                  <a:tcPr>
                    <a:solidFill>
                      <a:srgbClr val="F7F8FC"/>
                    </a:solidFill>
                  </a:tcPr>
                </a:tc>
                <a:tc>
                  <a:txBody>
                    <a:bodyPr/>
                    <a:lstStyle/>
                    <a:p>
                      <a:pPr algn="ctr"/>
                      <a:r>
                        <a:rPr sz="1150">
                          <a:solidFill>
                            <a:srgbClr val="0B0B0B"/>
                          </a:solidFill>
                        </a:rPr>
                        <a:t>338,821</a:t>
                      </a:r>
                    </a:p>
                  </a:txBody>
                  <a:tcPr>
                    <a:solidFill>
                      <a:srgbClr val="F7F8FC"/>
                    </a:solidFill>
                  </a:tcPr>
                </a:tc>
                <a:tc>
                  <a:txBody>
                    <a:bodyPr/>
                    <a:lstStyle/>
                    <a:p>
                      <a:pPr algn="ctr"/>
                      <a:r>
                        <a:rPr sz="1150">
                          <a:solidFill>
                            <a:srgbClr val="0B0B0B"/>
                          </a:solidFill>
                        </a:rPr>
                        <a:t>0</a:t>
                      </a:r>
                    </a:p>
                  </a:txBody>
                  <a:tcPr>
                    <a:solidFill>
                      <a:srgbClr val="F7F8FC"/>
                    </a:solidFill>
                  </a:tcPr>
                </a:tc>
                <a:tc>
                  <a:txBody>
                    <a:bodyPr/>
                    <a:lstStyle/>
                    <a:p>
                      <a:pPr algn="ctr"/>
                      <a:r>
                        <a:rPr sz="1150">
                          <a:solidFill>
                            <a:srgbClr val="0B0B0B"/>
                          </a:solidFill>
                        </a:rPr>
                        <a:t>338,821</a:t>
                      </a:r>
                    </a:p>
                  </a:txBody>
                  <a:tcPr>
                    <a:solidFill>
                      <a:srgbClr val="F7F8FC"/>
                    </a:solidFill>
                  </a:tcPr>
                </a:tc>
                <a:tc>
                  <a:txBody>
                    <a:bodyPr/>
                    <a:lstStyle/>
                    <a:p>
                      <a:pPr algn="ctr"/>
                      <a:r>
                        <a:rPr sz="1150">
                          <a:solidFill>
                            <a:srgbClr val="0B0B0B"/>
                          </a:solidFill>
                        </a:rPr>
                        <a:t>3.7%</a:t>
                      </a:r>
                    </a:p>
                  </a:txBody>
                  <a:tcPr>
                    <a:solidFill>
                      <a:srgbClr val="F7F8FC"/>
                    </a:solidFill>
                  </a:tcPr>
                </a:tc>
                <a:tc>
                  <a:txBody>
                    <a:bodyPr/>
                    <a:lstStyle/>
                    <a:p>
                      <a:pPr algn="ctr"/>
                      <a:r>
                        <a:rPr sz="1150">
                          <a:solidFill>
                            <a:srgbClr val="0B0B0B"/>
                          </a:solidFill>
                        </a:rPr>
                        <a:t>n/d</a:t>
                      </a:r>
                    </a:p>
                  </a:txBody>
                  <a:tcPr>
                    <a:solidFill>
                      <a:srgbClr val="F7F8FC"/>
                    </a:solidFill>
                  </a:tcPr>
                </a:tc>
                <a:tc>
                  <a:txBody>
                    <a:bodyPr/>
                    <a:lstStyle/>
                    <a:p>
                      <a:pPr algn="ctr"/>
                      <a:r>
                        <a:rPr sz="1150">
                          <a:solidFill>
                            <a:srgbClr val="0B0B0B"/>
                          </a:solidFill>
                        </a:rPr>
                        <a:t>n/d</a:t>
                      </a:r>
                    </a:p>
                  </a:txBody>
                  <a:tcPr>
                    <a:solidFill>
                      <a:srgbClr val="F7F8FC"/>
                    </a:solidFill>
                  </a:tcPr>
                </a:tc>
              </a:tr>
              <a:tr h="512064">
                <a:tc>
                  <a:txBody>
                    <a:bodyPr/>
                    <a:lstStyle/>
                    <a:p>
                      <a:pPr algn="l"/>
                      <a:r>
                        <a:rPr sz="1150">
                          <a:solidFill>
                            <a:srgbClr val="0B0B0B"/>
                          </a:solidFill>
                        </a:rPr>
                        <a:t>Febrero</a:t>
                      </a:r>
                    </a:p>
                  </a:txBody>
                  <a:tcPr>
                    <a:solidFill>
                      <a:srgbClr val="FFFFFF"/>
                    </a:solidFill>
                  </a:tcPr>
                </a:tc>
                <a:tc>
                  <a:txBody>
                    <a:bodyPr/>
                    <a:lstStyle/>
                    <a:p>
                      <a:pPr algn="ctr"/>
                      <a:r>
                        <a:rPr sz="1150">
                          <a:solidFill>
                            <a:srgbClr val="0B0B0B"/>
                          </a:solidFill>
                        </a:rPr>
                        <a:t>5,680,364</a:t>
                      </a:r>
                    </a:p>
                  </a:txBody>
                  <a:tcPr>
                    <a:solidFill>
                      <a:srgbClr val="FFFFFF"/>
                    </a:solidFill>
                  </a:tcPr>
                </a:tc>
                <a:tc>
                  <a:txBody>
                    <a:bodyPr/>
                    <a:lstStyle/>
                    <a:p>
                      <a:pPr algn="ctr"/>
                      <a:r>
                        <a:rPr sz="1150">
                          <a:solidFill>
                            <a:srgbClr val="0B0B0B"/>
                          </a:solidFill>
                        </a:rPr>
                        <a:t>192,767</a:t>
                      </a:r>
                    </a:p>
                  </a:txBody>
                  <a:tcPr>
                    <a:solidFill>
                      <a:srgbClr val="FFFFFF"/>
                    </a:solidFill>
                  </a:tcPr>
                </a:tc>
                <a:tc>
                  <a:txBody>
                    <a:bodyPr/>
                    <a:lstStyle/>
                    <a:p>
                      <a:pPr algn="ctr"/>
                      <a:r>
                        <a:rPr sz="1150">
                          <a:solidFill>
                            <a:srgbClr val="0B0B0B"/>
                          </a:solidFill>
                        </a:rPr>
                        <a:t>0</a:t>
                      </a:r>
                    </a:p>
                  </a:txBody>
                  <a:tcPr>
                    <a:solidFill>
                      <a:srgbClr val="FFFFFF"/>
                    </a:solidFill>
                  </a:tcPr>
                </a:tc>
                <a:tc>
                  <a:txBody>
                    <a:bodyPr/>
                    <a:lstStyle/>
                    <a:p>
                      <a:pPr algn="ctr"/>
                      <a:r>
                        <a:rPr sz="1150">
                          <a:solidFill>
                            <a:srgbClr val="0B0B0B"/>
                          </a:solidFill>
                        </a:rPr>
                        <a:t>192,767</a:t>
                      </a:r>
                    </a:p>
                  </a:txBody>
                  <a:tcPr>
                    <a:solidFill>
                      <a:srgbClr val="FFFFFF"/>
                    </a:solidFill>
                  </a:tcPr>
                </a:tc>
                <a:tc>
                  <a:txBody>
                    <a:bodyPr/>
                    <a:lstStyle/>
                    <a:p>
                      <a:pPr algn="ctr"/>
                      <a:r>
                        <a:rPr sz="1150">
                          <a:solidFill>
                            <a:srgbClr val="0B0B0B"/>
                          </a:solidFill>
                        </a:rPr>
                        <a:t>3.4%</a:t>
                      </a:r>
                    </a:p>
                  </a:txBody>
                  <a:tcPr>
                    <a:solidFill>
                      <a:srgbClr val="FFFFFF"/>
                    </a:solidFill>
                  </a:tcPr>
                </a:tc>
                <a:tc>
                  <a:txBody>
                    <a:bodyPr/>
                    <a:lstStyle/>
                    <a:p>
                      <a:pPr algn="ctr"/>
                      <a:r>
                        <a:rPr sz="1150">
                          <a:solidFill>
                            <a:srgbClr val="0B0B0B"/>
                          </a:solidFill>
                        </a:rPr>
                        <a:t>n/d</a:t>
                      </a:r>
                    </a:p>
                  </a:txBody>
                  <a:tcPr>
                    <a:solidFill>
                      <a:srgbClr val="FFFFFF"/>
                    </a:solidFill>
                  </a:tcPr>
                </a:tc>
                <a:tc>
                  <a:txBody>
                    <a:bodyPr/>
                    <a:lstStyle/>
                    <a:p>
                      <a:pPr algn="ctr"/>
                      <a:r>
                        <a:rPr sz="1150">
                          <a:solidFill>
                            <a:srgbClr val="0B0B0B"/>
                          </a:solidFill>
                        </a:rPr>
                        <a:t>n/d</a:t>
                      </a:r>
                    </a:p>
                  </a:txBody>
                  <a:tcPr>
                    <a:solidFill>
                      <a:srgbClr val="FFFFFF"/>
                    </a:solidFill>
                  </a:tcPr>
                </a:tc>
              </a:tr>
              <a:tr h="512064">
                <a:tc>
                  <a:txBody>
                    <a:bodyPr/>
                    <a:lstStyle/>
                    <a:p>
                      <a:pPr algn="l"/>
                      <a:r>
                        <a:rPr sz="1150">
                          <a:solidFill>
                            <a:srgbClr val="0B0B0B"/>
                          </a:solidFill>
                        </a:rPr>
                        <a:t>Marzo</a:t>
                      </a:r>
                    </a:p>
                  </a:txBody>
                  <a:tcPr>
                    <a:solidFill>
                      <a:srgbClr val="F7F8FC"/>
                    </a:solidFill>
                  </a:tcPr>
                </a:tc>
                <a:tc>
                  <a:txBody>
                    <a:bodyPr/>
                    <a:lstStyle/>
                    <a:p>
                      <a:pPr algn="ctr"/>
                      <a:r>
                        <a:rPr sz="1150">
                          <a:solidFill>
                            <a:srgbClr val="0B0B0B"/>
                          </a:solidFill>
                        </a:rPr>
                        <a:t>7,628,115</a:t>
                      </a:r>
                    </a:p>
                  </a:txBody>
                  <a:tcPr>
                    <a:solidFill>
                      <a:srgbClr val="F7F8FC"/>
                    </a:solidFill>
                  </a:tcPr>
                </a:tc>
                <a:tc>
                  <a:txBody>
                    <a:bodyPr/>
                    <a:lstStyle/>
                    <a:p>
                      <a:pPr algn="ctr"/>
                      <a:r>
                        <a:rPr sz="1150">
                          <a:solidFill>
                            <a:srgbClr val="0B0B0B"/>
                          </a:solidFill>
                        </a:rPr>
                        <a:t>135,416</a:t>
                      </a:r>
                    </a:p>
                  </a:txBody>
                  <a:tcPr>
                    <a:solidFill>
                      <a:srgbClr val="F7F8FC"/>
                    </a:solidFill>
                  </a:tcPr>
                </a:tc>
                <a:tc>
                  <a:txBody>
                    <a:bodyPr/>
                    <a:lstStyle/>
                    <a:p>
                      <a:pPr algn="ctr"/>
                      <a:r>
                        <a:rPr sz="1150">
                          <a:solidFill>
                            <a:srgbClr val="0B0B0B"/>
                          </a:solidFill>
                        </a:rPr>
                        <a:t>0</a:t>
                      </a:r>
                    </a:p>
                  </a:txBody>
                  <a:tcPr>
                    <a:solidFill>
                      <a:srgbClr val="F7F8FC"/>
                    </a:solidFill>
                  </a:tcPr>
                </a:tc>
                <a:tc>
                  <a:txBody>
                    <a:bodyPr/>
                    <a:lstStyle/>
                    <a:p>
                      <a:pPr algn="ctr"/>
                      <a:r>
                        <a:rPr sz="1150">
                          <a:solidFill>
                            <a:srgbClr val="0B0B0B"/>
                          </a:solidFill>
                        </a:rPr>
                        <a:t>135,416</a:t>
                      </a:r>
                    </a:p>
                  </a:txBody>
                  <a:tcPr>
                    <a:solidFill>
                      <a:srgbClr val="F7F8FC"/>
                    </a:solidFill>
                  </a:tcPr>
                </a:tc>
                <a:tc>
                  <a:txBody>
                    <a:bodyPr/>
                    <a:lstStyle/>
                    <a:p>
                      <a:pPr algn="ctr"/>
                      <a:r>
                        <a:rPr sz="1150">
                          <a:solidFill>
                            <a:srgbClr val="0B0B0B"/>
                          </a:solidFill>
                        </a:rPr>
                        <a:t>1.8%</a:t>
                      </a:r>
                    </a:p>
                  </a:txBody>
                  <a:tcPr>
                    <a:solidFill>
                      <a:srgbClr val="F7F8FC"/>
                    </a:solidFill>
                  </a:tcPr>
                </a:tc>
                <a:tc>
                  <a:txBody>
                    <a:bodyPr/>
                    <a:lstStyle/>
                    <a:p>
                      <a:pPr algn="ctr"/>
                      <a:r>
                        <a:rPr sz="1150">
                          <a:solidFill>
                            <a:srgbClr val="0B0B0B"/>
                          </a:solidFill>
                        </a:rPr>
                        <a:t>n/d</a:t>
                      </a:r>
                    </a:p>
                  </a:txBody>
                  <a:tcPr>
                    <a:solidFill>
                      <a:srgbClr val="F7F8FC"/>
                    </a:solidFill>
                  </a:tcPr>
                </a:tc>
                <a:tc>
                  <a:txBody>
                    <a:bodyPr/>
                    <a:lstStyle/>
                    <a:p>
                      <a:pPr algn="ctr"/>
                      <a:r>
                        <a:rPr sz="1150">
                          <a:solidFill>
                            <a:srgbClr val="0B0B0B"/>
                          </a:solidFill>
                        </a:rPr>
                        <a:t>n/d</a:t>
                      </a:r>
                    </a:p>
                  </a:txBody>
                  <a:tcPr>
                    <a:solidFill>
                      <a:srgbClr val="F7F8FC"/>
                    </a:solidFill>
                  </a:tcPr>
                </a:tc>
              </a:tr>
              <a:tr h="512064">
                <a:tc>
                  <a:txBody>
                    <a:bodyPr/>
                    <a:lstStyle/>
                    <a:p>
                      <a:pPr algn="l"/>
                      <a:r>
                        <a:rPr sz="1150">
                          <a:solidFill>
                            <a:srgbClr val="0B0B0B"/>
                          </a:solidFill>
                        </a:rPr>
                        <a:t>Abril</a:t>
                      </a:r>
                    </a:p>
                  </a:txBody>
                  <a:tcPr>
                    <a:solidFill>
                      <a:srgbClr val="FFFFFF"/>
                    </a:solidFill>
                  </a:tcPr>
                </a:tc>
                <a:tc>
                  <a:txBody>
                    <a:bodyPr/>
                    <a:lstStyle/>
                    <a:p>
                      <a:pPr algn="ctr"/>
                      <a:r>
                        <a:rPr sz="1150">
                          <a:solidFill>
                            <a:srgbClr val="0B0B0B"/>
                          </a:solidFill>
                        </a:rPr>
                        <a:t>7,159,688</a:t>
                      </a:r>
                    </a:p>
                  </a:txBody>
                  <a:tcPr>
                    <a:solidFill>
                      <a:srgbClr val="FFFFFF"/>
                    </a:solidFill>
                  </a:tcPr>
                </a:tc>
                <a:tc>
                  <a:txBody>
                    <a:bodyPr/>
                    <a:lstStyle/>
                    <a:p>
                      <a:pPr algn="ctr"/>
                      <a:r>
                        <a:rPr sz="1150">
                          <a:solidFill>
                            <a:srgbClr val="0B0B0B"/>
                          </a:solidFill>
                        </a:rPr>
                        <a:t>113,190</a:t>
                      </a:r>
                    </a:p>
                  </a:txBody>
                  <a:tcPr>
                    <a:solidFill>
                      <a:srgbClr val="FFFFFF"/>
                    </a:solidFill>
                  </a:tcPr>
                </a:tc>
                <a:tc>
                  <a:txBody>
                    <a:bodyPr/>
                    <a:lstStyle/>
                    <a:p>
                      <a:pPr algn="ctr"/>
                      <a:r>
                        <a:rPr sz="1150">
                          <a:solidFill>
                            <a:srgbClr val="0B0B0B"/>
                          </a:solidFill>
                        </a:rPr>
                        <a:t>0</a:t>
                      </a:r>
                    </a:p>
                  </a:txBody>
                  <a:tcPr>
                    <a:solidFill>
                      <a:srgbClr val="FFFFFF"/>
                    </a:solidFill>
                  </a:tcPr>
                </a:tc>
                <a:tc>
                  <a:txBody>
                    <a:bodyPr/>
                    <a:lstStyle/>
                    <a:p>
                      <a:pPr algn="ctr"/>
                      <a:r>
                        <a:rPr sz="1150">
                          <a:solidFill>
                            <a:srgbClr val="0B0B0B"/>
                          </a:solidFill>
                        </a:rPr>
                        <a:t>113,190</a:t>
                      </a:r>
                    </a:p>
                  </a:txBody>
                  <a:tcPr>
                    <a:solidFill>
                      <a:srgbClr val="FFFFFF"/>
                    </a:solidFill>
                  </a:tcPr>
                </a:tc>
                <a:tc>
                  <a:txBody>
                    <a:bodyPr/>
                    <a:lstStyle/>
                    <a:p>
                      <a:pPr algn="ctr"/>
                      <a:r>
                        <a:rPr sz="1150">
                          <a:solidFill>
                            <a:srgbClr val="0B0B0B"/>
                          </a:solidFill>
                        </a:rPr>
                        <a:t>1.6%</a:t>
                      </a:r>
                    </a:p>
                  </a:txBody>
                  <a:tcPr>
                    <a:solidFill>
                      <a:srgbClr val="FFFFFF"/>
                    </a:solidFill>
                  </a:tcPr>
                </a:tc>
                <a:tc>
                  <a:txBody>
                    <a:bodyPr/>
                    <a:lstStyle/>
                    <a:p>
                      <a:pPr algn="ctr"/>
                      <a:r>
                        <a:rPr sz="1150">
                          <a:solidFill>
                            <a:srgbClr val="0B0B0B"/>
                          </a:solidFill>
                        </a:rPr>
                        <a:t>RD$ 6,646,454</a:t>
                      </a:r>
                    </a:p>
                  </a:txBody>
                  <a:tcPr>
                    <a:solidFill>
                      <a:srgbClr val="FFFFFF"/>
                    </a:solidFill>
                  </a:tcPr>
                </a:tc>
                <a:tc>
                  <a:txBody>
                    <a:bodyPr/>
                    <a:lstStyle/>
                    <a:p>
                      <a:pPr algn="ctr"/>
                      <a:r>
                        <a:rPr sz="1150">
                          <a:solidFill>
                            <a:srgbClr val="0B0B0B"/>
                          </a:solidFill>
                        </a:rPr>
                        <a:t>1.7%</a:t>
                      </a:r>
                    </a:p>
                  </a:txBody>
                  <a:tcPr>
                    <a:solidFill>
                      <a:srgbClr val="FFFFFF"/>
                    </a:solidFill>
                  </a:tcPr>
                </a:tc>
              </a:tr>
              <a:tr h="512064">
                <a:tc>
                  <a:txBody>
                    <a:bodyPr/>
                    <a:lstStyle/>
                    <a:p>
                      <a:pPr algn="l"/>
                      <a:r>
                        <a:rPr sz="1150">
                          <a:solidFill>
                            <a:srgbClr val="0B0B0B"/>
                          </a:solidFill>
                        </a:rPr>
                        <a:t>Mayo</a:t>
                      </a:r>
                    </a:p>
                  </a:txBody>
                  <a:tcPr>
                    <a:solidFill>
                      <a:srgbClr val="F7F8FC"/>
                    </a:solidFill>
                  </a:tcPr>
                </a:tc>
                <a:tc>
                  <a:txBody>
                    <a:bodyPr/>
                    <a:lstStyle/>
                    <a:p>
                      <a:pPr algn="ctr"/>
                      <a:r>
                        <a:rPr sz="1150">
                          <a:solidFill>
                            <a:srgbClr val="0B0B0B"/>
                          </a:solidFill>
                        </a:rPr>
                        <a:t>7,731,872</a:t>
                      </a:r>
                    </a:p>
                  </a:txBody>
                  <a:tcPr>
                    <a:solidFill>
                      <a:srgbClr val="F7F8FC"/>
                    </a:solidFill>
                  </a:tcPr>
                </a:tc>
                <a:tc>
                  <a:txBody>
                    <a:bodyPr/>
                    <a:lstStyle/>
                    <a:p>
                      <a:pPr algn="ctr"/>
                      <a:r>
                        <a:rPr sz="1150">
                          <a:solidFill>
                            <a:srgbClr val="0B0B0B"/>
                          </a:solidFill>
                        </a:rPr>
                        <a:t>535,418</a:t>
                      </a:r>
                    </a:p>
                  </a:txBody>
                  <a:tcPr>
                    <a:solidFill>
                      <a:srgbClr val="F7F8FC"/>
                    </a:solidFill>
                  </a:tcPr>
                </a:tc>
                <a:tc>
                  <a:txBody>
                    <a:bodyPr/>
                    <a:lstStyle/>
                    <a:p>
                      <a:pPr algn="ctr"/>
                      <a:r>
                        <a:rPr sz="1150">
                          <a:solidFill>
                            <a:srgbClr val="0B0B0B"/>
                          </a:solidFill>
                        </a:rPr>
                        <a:t>0</a:t>
                      </a:r>
                    </a:p>
                  </a:txBody>
                  <a:tcPr>
                    <a:solidFill>
                      <a:srgbClr val="F7F8FC"/>
                    </a:solidFill>
                  </a:tcPr>
                </a:tc>
                <a:tc>
                  <a:txBody>
                    <a:bodyPr/>
                    <a:lstStyle/>
                    <a:p>
                      <a:pPr algn="ctr"/>
                      <a:r>
                        <a:rPr sz="1150">
                          <a:solidFill>
                            <a:srgbClr val="0B0B0B"/>
                          </a:solidFill>
                        </a:rPr>
                        <a:t>535,418</a:t>
                      </a:r>
                    </a:p>
                  </a:txBody>
                  <a:tcPr>
                    <a:solidFill>
                      <a:srgbClr val="F7F8FC"/>
                    </a:solidFill>
                  </a:tcPr>
                </a:tc>
                <a:tc>
                  <a:txBody>
                    <a:bodyPr/>
                    <a:lstStyle/>
                    <a:p>
                      <a:pPr algn="ctr"/>
                      <a:r>
                        <a:rPr sz="1150">
                          <a:solidFill>
                            <a:srgbClr val="0B0B0B"/>
                          </a:solidFill>
                        </a:rPr>
                        <a:t>6.9%</a:t>
                      </a:r>
                    </a:p>
                  </a:txBody>
                  <a:tcPr>
                    <a:solidFill>
                      <a:srgbClr val="F7F8FC"/>
                    </a:solidFill>
                  </a:tcPr>
                </a:tc>
                <a:tc>
                  <a:txBody>
                    <a:bodyPr/>
                    <a:lstStyle/>
                    <a:p>
                      <a:pPr algn="ctr"/>
                      <a:r>
                        <a:rPr sz="1150">
                          <a:solidFill>
                            <a:srgbClr val="0B0B0B"/>
                          </a:solidFill>
                        </a:rPr>
                        <a:t>RD$ 9,078,425</a:t>
                      </a:r>
                    </a:p>
                  </a:txBody>
                  <a:tcPr>
                    <a:solidFill>
                      <a:srgbClr val="F7F8FC"/>
                    </a:solidFill>
                  </a:tcPr>
                </a:tc>
                <a:tc>
                  <a:txBody>
                    <a:bodyPr/>
                    <a:lstStyle/>
                    <a:p>
                      <a:pPr algn="ctr"/>
                      <a:r>
                        <a:rPr sz="1150">
                          <a:solidFill>
                            <a:srgbClr val="0B0B0B"/>
                          </a:solidFill>
                        </a:rPr>
                        <a:t>5.9%</a:t>
                      </a:r>
                    </a:p>
                  </a:txBody>
                  <a:tcPr>
                    <a:solidFill>
                      <a:srgbClr val="F7F8FC"/>
                    </a:solidFill>
                  </a:tcPr>
                </a:tc>
              </a:tr>
              <a:tr h="512064">
                <a:tc>
                  <a:txBody>
                    <a:bodyPr/>
                    <a:lstStyle/>
                    <a:p>
                      <a:pPr algn="l"/>
                      <a:r>
                        <a:rPr sz="1150">
                          <a:solidFill>
                            <a:srgbClr val="0B0B0B"/>
                          </a:solidFill>
                        </a:rPr>
                        <a:t>Junio</a:t>
                      </a:r>
                    </a:p>
                  </a:txBody>
                  <a:tcPr>
                    <a:solidFill>
                      <a:srgbClr val="FFFFFF"/>
                    </a:solidFill>
                  </a:tcPr>
                </a:tc>
                <a:tc>
                  <a:txBody>
                    <a:bodyPr/>
                    <a:lstStyle/>
                    <a:p>
                      <a:pPr algn="ctr"/>
                      <a:r>
                        <a:rPr sz="1150">
                          <a:solidFill>
                            <a:srgbClr val="0B0B0B"/>
                          </a:solidFill>
                        </a:rPr>
                        <a:t>7,752,816</a:t>
                      </a:r>
                    </a:p>
                  </a:txBody>
                  <a:tcPr>
                    <a:solidFill>
                      <a:srgbClr val="FFFFFF"/>
                    </a:solidFill>
                  </a:tcPr>
                </a:tc>
                <a:tc>
                  <a:txBody>
                    <a:bodyPr/>
                    <a:lstStyle/>
                    <a:p>
                      <a:pPr algn="ctr"/>
                      <a:r>
                        <a:rPr sz="1150">
                          <a:solidFill>
                            <a:srgbClr val="0B0B0B"/>
                          </a:solidFill>
                        </a:rPr>
                        <a:t>174,050</a:t>
                      </a:r>
                    </a:p>
                  </a:txBody>
                  <a:tcPr>
                    <a:solidFill>
                      <a:srgbClr val="FFFFFF"/>
                    </a:solidFill>
                  </a:tcPr>
                </a:tc>
                <a:tc>
                  <a:txBody>
                    <a:bodyPr/>
                    <a:lstStyle/>
                    <a:p>
                      <a:pPr algn="ctr"/>
                      <a:r>
                        <a:rPr sz="1150">
                          <a:solidFill>
                            <a:srgbClr val="0B0B0B"/>
                          </a:solidFill>
                        </a:rPr>
                        <a:t>0</a:t>
                      </a:r>
                    </a:p>
                  </a:txBody>
                  <a:tcPr>
                    <a:solidFill>
                      <a:srgbClr val="FFFFFF"/>
                    </a:solidFill>
                  </a:tcPr>
                </a:tc>
                <a:tc>
                  <a:txBody>
                    <a:bodyPr/>
                    <a:lstStyle/>
                    <a:p>
                      <a:pPr algn="ctr"/>
                      <a:r>
                        <a:rPr sz="1150">
                          <a:solidFill>
                            <a:srgbClr val="0B0B0B"/>
                          </a:solidFill>
                        </a:rPr>
                        <a:t>174,050</a:t>
                      </a:r>
                    </a:p>
                  </a:txBody>
                  <a:tcPr>
                    <a:solidFill>
                      <a:srgbClr val="FFFFFF"/>
                    </a:solidFill>
                  </a:tcPr>
                </a:tc>
                <a:tc>
                  <a:txBody>
                    <a:bodyPr/>
                    <a:lstStyle/>
                    <a:p>
                      <a:pPr algn="ctr"/>
                      <a:r>
                        <a:rPr sz="1150">
                          <a:solidFill>
                            <a:srgbClr val="0B0B0B"/>
                          </a:solidFill>
                        </a:rPr>
                        <a:t>2.2%</a:t>
                      </a:r>
                    </a:p>
                  </a:txBody>
                  <a:tcPr>
                    <a:solidFill>
                      <a:srgbClr val="FFFFFF"/>
                    </a:solidFill>
                  </a:tcPr>
                </a:tc>
                <a:tc>
                  <a:txBody>
                    <a:bodyPr/>
                    <a:lstStyle/>
                    <a:p>
                      <a:pPr algn="ctr"/>
                      <a:r>
                        <a:rPr sz="1150">
                          <a:solidFill>
                            <a:srgbClr val="0B0B0B"/>
                          </a:solidFill>
                        </a:rPr>
                        <a:t>RD$ 10,586,559</a:t>
                      </a:r>
                    </a:p>
                  </a:txBody>
                  <a:tcPr>
                    <a:solidFill>
                      <a:srgbClr val="FFFFFF"/>
                    </a:solidFill>
                  </a:tcPr>
                </a:tc>
                <a:tc>
                  <a:txBody>
                    <a:bodyPr/>
                    <a:lstStyle/>
                    <a:p>
                      <a:pPr algn="ctr"/>
                      <a:r>
                        <a:rPr sz="1150">
                          <a:solidFill>
                            <a:srgbClr val="0B0B0B"/>
                          </a:solidFill>
                        </a:rPr>
                        <a:t>1.6%</a:t>
                      </a:r>
                    </a:p>
                  </a:txBody>
                  <a:tcPr>
                    <a:solidFill>
                      <a:srgbClr val="FFFFFF"/>
                    </a:solidFill>
                  </a:tcPr>
                </a:tc>
              </a:tr>
              <a:tr h="512064">
                <a:tc>
                  <a:txBody>
                    <a:bodyPr/>
                    <a:lstStyle/>
                    <a:p>
                      <a:pPr algn="l"/>
                      <a:r>
                        <a:rPr sz="1150">
                          <a:solidFill>
                            <a:srgbClr val="0B0B0B"/>
                          </a:solidFill>
                        </a:rPr>
                        <a:t>Julio</a:t>
                      </a:r>
                    </a:p>
                  </a:txBody>
                  <a:tcPr>
                    <a:solidFill>
                      <a:srgbClr val="F7F8FC"/>
                    </a:solidFill>
                  </a:tcPr>
                </a:tc>
                <a:tc>
                  <a:txBody>
                    <a:bodyPr/>
                    <a:lstStyle/>
                    <a:p>
                      <a:pPr algn="ctr"/>
                      <a:r>
                        <a:rPr sz="1150">
                          <a:solidFill>
                            <a:srgbClr val="0B0B0B"/>
                          </a:solidFill>
                        </a:rPr>
                        <a:t>9,359,159</a:t>
                      </a:r>
                    </a:p>
                  </a:txBody>
                  <a:tcPr>
                    <a:solidFill>
                      <a:srgbClr val="F7F8FC"/>
                    </a:solidFill>
                  </a:tcPr>
                </a:tc>
                <a:tc>
                  <a:txBody>
                    <a:bodyPr/>
                    <a:lstStyle/>
                    <a:p>
                      <a:pPr algn="ctr"/>
                      <a:r>
                        <a:rPr sz="1150">
                          <a:solidFill>
                            <a:srgbClr val="0B0B0B"/>
                          </a:solidFill>
                        </a:rPr>
                        <a:t>553,789</a:t>
                      </a:r>
                    </a:p>
                  </a:txBody>
                  <a:tcPr>
                    <a:solidFill>
                      <a:srgbClr val="F7F8FC"/>
                    </a:solidFill>
                  </a:tcPr>
                </a:tc>
                <a:tc>
                  <a:txBody>
                    <a:bodyPr/>
                    <a:lstStyle/>
                    <a:p>
                      <a:pPr algn="ctr"/>
                      <a:r>
                        <a:rPr sz="1150">
                          <a:solidFill>
                            <a:srgbClr val="0B0B0B"/>
                          </a:solidFill>
                        </a:rPr>
                        <a:t>0</a:t>
                      </a:r>
                    </a:p>
                  </a:txBody>
                  <a:tcPr>
                    <a:solidFill>
                      <a:srgbClr val="F7F8FC"/>
                    </a:solidFill>
                  </a:tcPr>
                </a:tc>
                <a:tc>
                  <a:txBody>
                    <a:bodyPr/>
                    <a:lstStyle/>
                    <a:p>
                      <a:pPr algn="ctr"/>
                      <a:r>
                        <a:rPr sz="1150">
                          <a:solidFill>
                            <a:srgbClr val="0B0B0B"/>
                          </a:solidFill>
                        </a:rPr>
                        <a:t>553,789</a:t>
                      </a:r>
                    </a:p>
                  </a:txBody>
                  <a:tcPr>
                    <a:solidFill>
                      <a:srgbClr val="F7F8FC"/>
                    </a:solidFill>
                  </a:tcPr>
                </a:tc>
                <a:tc>
                  <a:txBody>
                    <a:bodyPr/>
                    <a:lstStyle/>
                    <a:p>
                      <a:pPr algn="ctr"/>
                      <a:r>
                        <a:rPr sz="1150">
                          <a:solidFill>
                            <a:srgbClr val="0B0B0B"/>
                          </a:solidFill>
                        </a:rPr>
                        <a:t>5.9%</a:t>
                      </a:r>
                    </a:p>
                  </a:txBody>
                  <a:tcPr>
                    <a:solidFill>
                      <a:srgbClr val="F7F8FC"/>
                    </a:solidFill>
                  </a:tcPr>
                </a:tc>
                <a:tc>
                  <a:txBody>
                    <a:bodyPr/>
                    <a:lstStyle/>
                    <a:p>
                      <a:pPr algn="ctr"/>
                      <a:r>
                        <a:rPr sz="1150">
                          <a:solidFill>
                            <a:srgbClr val="0B0B0B"/>
                          </a:solidFill>
                        </a:rPr>
                        <a:t>RD$ 9,491,993</a:t>
                      </a:r>
                    </a:p>
                  </a:txBody>
                  <a:tcPr>
                    <a:solidFill>
                      <a:srgbClr val="F7F8FC"/>
                    </a:solidFill>
                  </a:tcPr>
                </a:tc>
                <a:tc>
                  <a:txBody>
                    <a:bodyPr/>
                    <a:lstStyle/>
                    <a:p>
                      <a:pPr algn="ctr"/>
                      <a:r>
                        <a:rPr sz="1150">
                          <a:solidFill>
                            <a:srgbClr val="0B0B0B"/>
                          </a:solidFill>
                        </a:rPr>
                        <a:t>5.8%</a:t>
                      </a:r>
                    </a:p>
                  </a:txBody>
                  <a:tcPr>
                    <a:solidFill>
                      <a:srgbClr val="F7F8FC"/>
                    </a:solidFill>
                  </a:tcPr>
                </a:tc>
              </a:tr>
              <a:tr h="512064">
                <a:tc>
                  <a:txBody>
                    <a:bodyPr/>
                    <a:lstStyle/>
                    <a:p>
                      <a:pPr algn="l"/>
                      <a:r>
                        <a:rPr sz="1150">
                          <a:solidFill>
                            <a:srgbClr val="0B0B0B"/>
                          </a:solidFill>
                        </a:rPr>
                        <a:t>Agosto</a:t>
                      </a:r>
                    </a:p>
                  </a:txBody>
                  <a:tcPr>
                    <a:solidFill>
                      <a:srgbClr val="FFFFFF"/>
                    </a:solidFill>
                  </a:tcPr>
                </a:tc>
                <a:tc>
                  <a:txBody>
                    <a:bodyPr/>
                    <a:lstStyle/>
                    <a:p>
                      <a:pPr algn="ctr"/>
                      <a:r>
                        <a:rPr sz="1150">
                          <a:solidFill>
                            <a:srgbClr val="0B0B0B"/>
                          </a:solidFill>
                        </a:rPr>
                        <a:t>8,201,583</a:t>
                      </a:r>
                    </a:p>
                  </a:txBody>
                  <a:tcPr>
                    <a:solidFill>
                      <a:srgbClr val="FFFFFF"/>
                    </a:solidFill>
                  </a:tcPr>
                </a:tc>
                <a:tc>
                  <a:txBody>
                    <a:bodyPr/>
                    <a:lstStyle/>
                    <a:p>
                      <a:pPr algn="ctr"/>
                      <a:r>
                        <a:rPr sz="1150">
                          <a:solidFill>
                            <a:srgbClr val="0B0B0B"/>
                          </a:solidFill>
                        </a:rPr>
                        <a:t>488,695</a:t>
                      </a:r>
                    </a:p>
                  </a:txBody>
                  <a:tcPr>
                    <a:solidFill>
                      <a:srgbClr val="FFFFFF"/>
                    </a:solidFill>
                  </a:tcPr>
                </a:tc>
                <a:tc>
                  <a:txBody>
                    <a:bodyPr/>
                    <a:lstStyle/>
                    <a:p>
                      <a:pPr algn="ctr"/>
                      <a:r>
                        <a:rPr sz="1150">
                          <a:solidFill>
                            <a:srgbClr val="0B0B0B"/>
                          </a:solidFill>
                        </a:rPr>
                        <a:t>0</a:t>
                      </a:r>
                    </a:p>
                  </a:txBody>
                  <a:tcPr>
                    <a:solidFill>
                      <a:srgbClr val="FFFFFF"/>
                    </a:solidFill>
                  </a:tcPr>
                </a:tc>
                <a:tc>
                  <a:txBody>
                    <a:bodyPr/>
                    <a:lstStyle/>
                    <a:p>
                      <a:pPr algn="ctr"/>
                      <a:r>
                        <a:rPr sz="1150">
                          <a:solidFill>
                            <a:srgbClr val="0B0B0B"/>
                          </a:solidFill>
                        </a:rPr>
                        <a:t>488,695</a:t>
                      </a:r>
                    </a:p>
                  </a:txBody>
                  <a:tcPr>
                    <a:solidFill>
                      <a:srgbClr val="FFFFFF"/>
                    </a:solidFill>
                  </a:tcPr>
                </a:tc>
                <a:tc>
                  <a:txBody>
                    <a:bodyPr/>
                    <a:lstStyle/>
                    <a:p>
                      <a:pPr algn="ctr"/>
                      <a:r>
                        <a:rPr sz="1150">
                          <a:solidFill>
                            <a:srgbClr val="0B0B0B"/>
                          </a:solidFill>
                        </a:rPr>
                        <a:t>6.0%</a:t>
                      </a:r>
                    </a:p>
                  </a:txBody>
                  <a:tcPr>
                    <a:solidFill>
                      <a:srgbClr val="FFFFFF"/>
                    </a:solidFill>
                  </a:tcPr>
                </a:tc>
                <a:tc>
                  <a:txBody>
                    <a:bodyPr/>
                    <a:lstStyle/>
                    <a:p>
                      <a:pPr algn="ctr"/>
                      <a:r>
                        <a:rPr sz="1150">
                          <a:solidFill>
                            <a:srgbClr val="0B0B0B"/>
                          </a:solidFill>
                        </a:rPr>
                        <a:t>RD$ 10,566,905</a:t>
                      </a:r>
                    </a:p>
                  </a:txBody>
                  <a:tcPr>
                    <a:solidFill>
                      <a:srgbClr val="FFFFFF"/>
                    </a:solidFill>
                  </a:tcPr>
                </a:tc>
                <a:tc>
                  <a:txBody>
                    <a:bodyPr/>
                    <a:lstStyle/>
                    <a:p>
                      <a:pPr algn="ctr"/>
                      <a:r>
                        <a:rPr sz="1150">
                          <a:solidFill>
                            <a:srgbClr val="0B0B0B"/>
                          </a:solidFill>
                        </a:rPr>
                        <a:t>4.6%</a:t>
                      </a:r>
                    </a:p>
                  </a:txBody>
                  <a:tcPr>
                    <a:solidFill>
                      <a:srgbClr val="FFFFFF"/>
                    </a:solidFill>
                  </a:tcPr>
                </a:tc>
              </a:tr>
              <a:tr h="512064">
                <a:tc>
                  <a:txBody>
                    <a:bodyPr/>
                    <a:lstStyle/>
                    <a:p>
                      <a:pPr algn="l"/>
                      <a:r>
                        <a:rPr sz="1150">
                          <a:solidFill>
                            <a:srgbClr val="0B0B0B"/>
                          </a:solidFill>
                        </a:rPr>
                        <a:t>Septiembre</a:t>
                      </a:r>
                    </a:p>
                  </a:txBody>
                  <a:tcPr>
                    <a:solidFill>
                      <a:srgbClr val="F7F8FC"/>
                    </a:solidFill>
                  </a:tcPr>
                </a:tc>
                <a:tc>
                  <a:txBody>
                    <a:bodyPr/>
                    <a:lstStyle/>
                    <a:p>
                      <a:pPr algn="ctr"/>
                      <a:r>
                        <a:rPr sz="1150">
                          <a:solidFill>
                            <a:srgbClr val="0B0B0B"/>
                          </a:solidFill>
                        </a:rPr>
                        <a:t>4,581,873</a:t>
                      </a:r>
                    </a:p>
                  </a:txBody>
                  <a:tcPr>
                    <a:solidFill>
                      <a:srgbClr val="F7F8FC"/>
                    </a:solidFill>
                  </a:tcPr>
                </a:tc>
                <a:tc>
                  <a:txBody>
                    <a:bodyPr/>
                    <a:lstStyle/>
                    <a:p>
                      <a:pPr algn="ctr"/>
                      <a:r>
                        <a:rPr sz="1150">
                          <a:solidFill>
                            <a:srgbClr val="0B0B0B"/>
                          </a:solidFill>
                        </a:rPr>
                        <a:t>606,354</a:t>
                      </a:r>
                    </a:p>
                  </a:txBody>
                  <a:tcPr>
                    <a:solidFill>
                      <a:srgbClr val="F7F8FC"/>
                    </a:solidFill>
                  </a:tcPr>
                </a:tc>
                <a:tc>
                  <a:txBody>
                    <a:bodyPr/>
                    <a:lstStyle/>
                    <a:p>
                      <a:pPr algn="ctr"/>
                      <a:r>
                        <a:rPr sz="1150">
                          <a:solidFill>
                            <a:srgbClr val="0B0B0B"/>
                          </a:solidFill>
                        </a:rPr>
                        <a:t>1,361,697</a:t>
                      </a:r>
                    </a:p>
                  </a:txBody>
                  <a:tcPr>
                    <a:solidFill>
                      <a:srgbClr val="F7F8FC"/>
                    </a:solidFill>
                  </a:tcPr>
                </a:tc>
                <a:tc>
                  <a:txBody>
                    <a:bodyPr/>
                    <a:lstStyle/>
                    <a:p>
                      <a:pPr algn="ctr"/>
                      <a:r>
                        <a:rPr sz="1150">
                          <a:solidFill>
                            <a:srgbClr val="0B0B0B"/>
                          </a:solidFill>
                        </a:rPr>
                        <a:t>1,968,051</a:t>
                      </a:r>
                    </a:p>
                  </a:txBody>
                  <a:tcPr>
                    <a:solidFill>
                      <a:srgbClr val="F7F8FC"/>
                    </a:solidFill>
                  </a:tcPr>
                </a:tc>
                <a:tc>
                  <a:txBody>
                    <a:bodyPr/>
                    <a:lstStyle/>
                    <a:p>
                      <a:pPr algn="ctr"/>
                      <a:r>
                        <a:rPr sz="1150">
                          <a:solidFill>
                            <a:srgbClr val="0B0B0B"/>
                          </a:solidFill>
                        </a:rPr>
                        <a:t>43.0%</a:t>
                      </a:r>
                    </a:p>
                  </a:txBody>
                  <a:tcPr>
                    <a:solidFill>
                      <a:srgbClr val="F7F8FC"/>
                    </a:solidFill>
                  </a:tcPr>
                </a:tc>
                <a:tc>
                  <a:txBody>
                    <a:bodyPr/>
                    <a:lstStyle/>
                    <a:p>
                      <a:pPr algn="ctr"/>
                      <a:r>
                        <a:rPr sz="1150">
                          <a:solidFill>
                            <a:srgbClr val="0B0B0B"/>
                          </a:solidFill>
                        </a:rPr>
                        <a:t>RD$ 6,110,079</a:t>
                      </a:r>
                    </a:p>
                  </a:txBody>
                  <a:tcPr>
                    <a:solidFill>
                      <a:srgbClr val="F7F8FC"/>
                    </a:solidFill>
                  </a:tcPr>
                </a:tc>
                <a:tc>
                  <a:txBody>
                    <a:bodyPr/>
                    <a:lstStyle/>
                    <a:p>
                      <a:pPr algn="ctr"/>
                      <a:r>
                        <a:rPr sz="1150">
                          <a:solidFill>
                            <a:srgbClr val="0B0B0B"/>
                          </a:solidFill>
                        </a:rPr>
                        <a:t>32.2%</a:t>
                      </a:r>
                    </a:p>
                  </a:txBody>
                  <a:tcPr>
                    <a:solidFill>
                      <a:srgbClr val="F7F8FC"/>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F3864"/>
        </a:solidFill>
        <a:effectLst/>
      </p:bgPr>
    </p:bg>
    <p:spTree>
      <p:nvGrpSpPr>
        <p:cNvPr id="1" name=""/>
        <p:cNvGrpSpPr/>
        <p:nvPr/>
      </p:nvGrpSpPr>
      <p:grpSpPr/>
      <p:sp>
        <p:nvSpPr>
          <p:cNvPr id="2" name="TextBox 1"/>
          <p:cNvSpPr txBox="1"/>
          <p:nvPr/>
        </p:nvSpPr>
        <p:spPr>
          <a:xfrm>
            <a:off x="548640" y="411480"/>
            <a:ext cx="10972800" cy="731520"/>
          </a:xfrm>
          <a:prstGeom prst="rect">
            <a:avLst/>
          </a:prstGeom>
          <a:noFill/>
        </p:spPr>
        <p:txBody>
          <a:bodyPr wrap="square" anchor="t" lIns="0" rIns="0" tIns="0" bIns="0">
            <a:spAutoFit/>
          </a:bodyPr>
          <a:lstStyle/>
          <a:p>
            <a:pPr algn="l"/>
            <a:r>
              <a:rPr sz="3200" b="1" i="0">
                <a:solidFill>
                  <a:srgbClr val="FFFFFF"/>
                </a:solidFill>
                <a:latin typeface="Georgia"/>
              </a:rPr>
              <a:t>Conclusión e impacto</a:t>
            </a:r>
          </a:p>
        </p:txBody>
      </p:sp>
      <p:sp>
        <p:nvSpPr>
          <p:cNvPr id="3" name="TextBox 2"/>
          <p:cNvSpPr txBox="1"/>
          <p:nvPr/>
        </p:nvSpPr>
        <p:spPr>
          <a:xfrm>
            <a:off x="640080" y="1463040"/>
            <a:ext cx="10881360" cy="5029200"/>
          </a:xfrm>
          <a:prstGeom prst="rect">
            <a:avLst/>
          </a:prstGeom>
          <a:noFill/>
        </p:spPr>
        <p:txBody>
          <a:bodyPr wrap="square" lIns="0" rIns="0" tIns="0" bIns="0">
            <a:spAutoFit/>
          </a:bodyPr>
          <a:lstStyle/>
          <a:p>
            <a:pPr>
              <a:spcAft>
                <a:spcPts val="1800"/>
              </a:spcAft>
            </a:pPr>
            <a:r>
              <a:rPr sz="1600">
                <a:solidFill>
                  <a:srgbClr val="EAEDF9"/>
                </a:solidFill>
                <a:latin typeface="Calibri"/>
              </a:rPr>
              <a:t>•  El problema de falta de inventario con Cesar Iglesias/Unilever es recurrente, no puntual: todos los meses de 2026 tuvo devolución por esta causa, con picos en mayo (RD$535K) y julio (RD$554K).</a:t>
            </a:r>
          </a:p>
          <a:p>
            <a:pPr>
              <a:spcAft>
                <a:spcPts val="1800"/>
              </a:spcAft>
            </a:pPr>
            <a:r>
              <a:rPr sz="1600">
                <a:solidFill>
                  <a:srgbClr val="EAEDF9"/>
                </a:solidFill>
                <a:latin typeface="Calibri"/>
              </a:rPr>
              <a:t>•  Comparado contra lo prevendido (Abril-Septiembre), el impacto promedio es de 7.3% del monto pedido — es decir, de cada RD$100 que los vendedores logran prevender de este suplidor, cerca de RD$7 se pierden entre devolución por falta de stock y pedidos que hay que eliminar antes de facturar.</a:t>
            </a:r>
          </a:p>
          <a:p>
            <a:pPr>
              <a:spcAft>
                <a:spcPts val="1800"/>
              </a:spcAft>
            </a:pPr>
            <a:r>
              <a:rPr sz="1600">
                <a:solidFill>
                  <a:srgbClr val="EAEDF9"/>
                </a:solidFill>
                <a:latin typeface="Calibri"/>
              </a:rPr>
              <a:t>•  La aceleración de septiembre (RD$1.36M solo en pedidos eliminados en 12 días) sugiere que el problema de abasto se agravó recientemente, no que se esté resolviendo — amerita seguimiento semanal, no solo mensual.</a:t>
            </a:r>
          </a:p>
          <a:p>
            <a:pPr>
              <a:spcAft>
                <a:spcPts val="1800"/>
              </a:spcAft>
            </a:pPr>
            <a:r>
              <a:rPr sz="1600">
                <a:solidFill>
                  <a:srgbClr val="EAEDF9"/>
                </a:solidFill>
                <a:latin typeface="Calibri"/>
              </a:rPr>
              <a:t>•  Recomendación: dado que ya existe el registro de "eliminados" en tiempo real, vale la pena monitorear ese dato semanalmente como alerta temprana de quiebre de inventario con este suplidor, en vez de esperar al cierre de mes para verlo reflejado en devoluciones.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