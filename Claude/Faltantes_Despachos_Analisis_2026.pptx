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828800"/>
            <a:ext cx="10515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Georgia"/>
              </a:rPr>
              <a:t>Faltantes en Despachos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69748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C9D4EE"/>
                </a:solidFill>
                <a:latin typeface="Calibri"/>
              </a:rPr>
              <a:t>Pedidos preventa vs. facturado — Abril a Septiembre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2120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9AA6D6"/>
                </a:solidFill>
                <a:latin typeface="Calibri"/>
              </a:rPr>
              <a:t>AM Comercial  ·  Fuente: VwPedidosVsFacutadosMenosDevolucionRM  ·  Pedidos facturados y enviados al ERP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F3864"/>
                </a:solidFill>
                <a:latin typeface="Georgia"/>
              </a:rPr>
              <a:t>Alcance y metodología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484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550">
                <a:solidFill>
                  <a:srgbClr val="0B0B0B"/>
                </a:solidFill>
                <a:latin typeface="Calibri"/>
              </a:rPr>
              <a:t>•  Universo: líneas de producto de pedidos ya despachados/facturados (enviados al ERP), comparando unidades pedidas por el vendedor en preventa vs. unidades efectivamente facturadas al cliente.</a:t>
            </a:r>
          </a:p>
          <a:p>
            <a:pPr>
              <a:spcAft>
                <a:spcPts val="1400"/>
              </a:spcAft>
            </a:pPr>
            <a:r>
              <a:rPr sz="1550">
                <a:solidFill>
                  <a:srgbClr val="0B0B0B"/>
                </a:solidFill>
                <a:latin typeface="Calibri"/>
              </a:rPr>
              <a:t>•  Período con datos confiables: Abril 1 – Septiembre 21, 2026. Enero–Marzo no están disponibles en la fuente verificada de este cruce (es una vista de ruteo/despacho con ventana móvil, no histórico completo) y no fue posible reconstruirlos desde las tablas crudas de pedidos: el identificador de pedido (PedSecuencia) se recicla entre clientes distintos (26% de colisión solo en el 1er trimestre) y la tabla de detalle no tiene una fecha propia confiable para desambiguar — reconstruirlo habría mezclado productos de pedidos no relacionados.</a:t>
            </a:r>
          </a:p>
          <a:p>
            <a:pPr>
              <a:spcAft>
                <a:spcPts val="1400"/>
              </a:spcAft>
            </a:pPr>
            <a:r>
              <a:rPr sz="1550">
                <a:solidFill>
                  <a:srgbClr val="0B0B0B"/>
                </a:solidFill>
                <a:latin typeface="Calibri"/>
              </a:rPr>
              <a:t>•  Septiembre se presenta en dos columnas: REAL (datos hasta el 21 de septiembre) y PROYECTADO (extrapolación lineal simple al mes completo, factor 30/21, asumiendo el mismo ritmo diario de pedidos y cumplimiento).</a:t>
            </a:r>
          </a:p>
          <a:p>
            <a:pPr>
              <a:spcAft>
                <a:spcPts val="1400"/>
              </a:spcAft>
            </a:pPr>
            <a:r>
              <a:rPr sz="1550">
                <a:solidFill>
                  <a:srgbClr val="0B0B0B"/>
                </a:solidFill>
                <a:latin typeface="Calibri"/>
              </a:rPr>
              <a:t>•  "Faltante" = Unidades/Monto Pedido − Unidades/Monto Facturado. Incluye toda causa de no-entrega dentro de un pedido ya facturado (quiebre de inventario, ajustes de última hora, etc.), no distingue causa específica.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F3864"/>
                </a:solidFill>
                <a:latin typeface="Georgia"/>
              </a:rPr>
              <a:t>Resumen ejecutivo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17320"/>
            <a:ext cx="2697480" cy="1554480"/>
          </a:xfrm>
          <a:prstGeom prst="roundRect">
            <a:avLst/>
          </a:prstGeom>
          <a:solidFill>
            <a:srgbClr val="F2F4FB"/>
          </a:solidFill>
          <a:ln w="9525">
            <a:solidFill>
              <a:srgbClr val="E0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73352"/>
            <a:ext cx="24231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200" b="1" i="0">
                <a:solidFill>
                  <a:srgbClr val="1F3864"/>
                </a:solidFill>
                <a:latin typeface="Georgia"/>
              </a:rPr>
              <a:t>RD$ 22.8M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331720"/>
            <a:ext cx="2423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52514E"/>
                </a:solidFill>
                <a:latin typeface="Calibri"/>
              </a:rPr>
              <a:t>Faltante real Abr-Sep21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10712" y="1417320"/>
            <a:ext cx="2697480" cy="1554480"/>
          </a:xfrm>
          <a:prstGeom prst="roundRect">
            <a:avLst/>
          </a:prstGeom>
          <a:solidFill>
            <a:srgbClr val="F2F4FB"/>
          </a:solidFill>
          <a:ln w="9525">
            <a:solidFill>
              <a:srgbClr val="E0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47872" y="1673352"/>
            <a:ext cx="24231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200" b="1" i="0">
                <a:solidFill>
                  <a:srgbClr val="2A78D6"/>
                </a:solidFill>
                <a:latin typeface="Georgia"/>
              </a:rPr>
              <a:t>95.4%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47872" y="2331720"/>
            <a:ext cx="2423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52514E"/>
                </a:solidFill>
                <a:latin typeface="Calibri"/>
              </a:rPr>
              <a:t>Cumplimiento promedio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2784" y="1417320"/>
            <a:ext cx="2697480" cy="1554480"/>
          </a:xfrm>
          <a:prstGeom prst="roundRect">
            <a:avLst/>
          </a:prstGeom>
          <a:solidFill>
            <a:srgbClr val="F2F4FB"/>
          </a:solidFill>
          <a:ln w="9525">
            <a:solidFill>
              <a:srgbClr val="E0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9944" y="1673352"/>
            <a:ext cx="24231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200" b="1" i="0">
                <a:solidFill>
                  <a:srgbClr val="EB6834"/>
                </a:solidFill>
                <a:latin typeface="Georgia"/>
              </a:rPr>
              <a:t>310,317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9944" y="2331720"/>
            <a:ext cx="2423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52514E"/>
                </a:solidFill>
                <a:latin typeface="Calibri"/>
              </a:rPr>
              <a:t>Unidades no facturadas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34856" y="1417320"/>
            <a:ext cx="2697480" cy="1554480"/>
          </a:xfrm>
          <a:prstGeom prst="roundRect">
            <a:avLst/>
          </a:prstGeom>
          <a:solidFill>
            <a:srgbClr val="F2F4FB"/>
          </a:solidFill>
          <a:ln w="9525">
            <a:solidFill>
              <a:srgbClr val="E0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72016" y="1673352"/>
            <a:ext cx="24231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200" b="1" i="0">
                <a:solidFill>
                  <a:srgbClr val="1F3864"/>
                </a:solidFill>
                <a:latin typeface="Georgia"/>
              </a:rPr>
              <a:t>RD$ 23.4M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72016" y="2331720"/>
            <a:ext cx="2423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52514E"/>
                </a:solidFill>
                <a:latin typeface="Calibri"/>
              </a:rPr>
              <a:t>Faltante proyectado (Sep completo)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38328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F3864"/>
                </a:solidFill>
                <a:latin typeface="Georgia"/>
              </a:rPr>
              <a:t>Hallazgos principales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886200"/>
            <a:ext cx="1088136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0B0B0B"/>
                </a:solidFill>
                <a:latin typeface="Calibri"/>
              </a:rPr>
              <a:t>•  El cumplimiento mejoró de forma sostenida desde junio (93.8%) hasta septiembre (97.0% al día 21) — la tendencia general es positiva.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0B0B0B"/>
                </a:solidFill>
                <a:latin typeface="Calibri"/>
              </a:rPr>
              <a:t>•  3 suplidores concentran el 63% del faltante en RD$ (Abr-Sep21): Cesar Iglesias/Unilever (RD$7.1M, 89%), Agua Crystal (RD$4.2M, 79%) y DIMAR Dominicana (RD$2.9M, 84%).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0B0B0B"/>
                </a:solidFill>
                <a:latin typeface="Calibri"/>
              </a:rPr>
              <a:t>•  El canal Minorista concentra el mayor faltante absoluto (RD$9.7M), pero Mayorista tiene el peor % de cumplimiento (94.2% vs 95.4%).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F3864"/>
                </a:solidFill>
                <a:latin typeface="Georgia"/>
              </a:rPr>
              <a:t>Tendencia de cumplimiento mensual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1">
                <a:solidFill>
                  <a:srgbClr val="52514E"/>
                </a:solidFill>
                <a:latin typeface="Calibri"/>
              </a:rPr>
              <a:t>% de unidades facturadas sobre unidades pedidas en pedidos ya facturados — Abril a Septiembre (21) 2026</a:t>
            </a:r>
          </a:p>
        </p:txBody>
      </p:sp>
      <p:pic>
        <p:nvPicPr>
          <p:cNvPr id="4" name="Picture 3" descr="01_tendencia_cumplimien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3281" y="1417320"/>
            <a:ext cx="10054958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F3864"/>
                </a:solidFill>
                <a:latin typeface="Georgia"/>
              </a:rPr>
              <a:t>Faltante en RD$ por 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1">
                <a:solidFill>
                  <a:srgbClr val="52514E"/>
                </a:solidFill>
                <a:latin typeface="Calibri"/>
              </a:rPr>
              <a:t>Septiembre se muestra en dos barras: real al día 21 y proyección lineal al mes completo (factor 30/21)</a:t>
            </a:r>
          </a:p>
        </p:txBody>
      </p:sp>
      <p:pic>
        <p:nvPicPr>
          <p:cNvPr id="4" name="Picture 3" descr="02_faltante_mens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770" y="1417320"/>
            <a:ext cx="9941979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F3864"/>
                </a:solidFill>
                <a:latin typeface="Georgia"/>
              </a:rPr>
              <a:t>Septiembre: real vs. proyectado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1">
                <a:solidFill>
                  <a:srgbClr val="52514E"/>
                </a:solidFill>
                <a:latin typeface="Calibri"/>
              </a:rPr>
              <a:t>Datos reales al 21-sep-2026, proyección lineal al mes completo (factor 30/21)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920240"/>
          <a:ext cx="11064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417320"/>
                <a:gridCol w="1508760"/>
                <a:gridCol w="1371600"/>
                <a:gridCol w="1005840"/>
                <a:gridCol w="1645920"/>
                <a:gridCol w="1371600"/>
              </a:tblGrid>
              <a:tr h="487680">
                <a:tc>
                  <a:txBody>
                    <a:bodyPr/>
                    <a:lstStyle/>
                    <a:p>
                      <a:pPr algn="ctr"/>
                      <a:r>
                        <a:rPr b="1" sz="1250">
                          <a:solidFill>
                            <a:srgbClr val="FFFFFF"/>
                          </a:solidFill>
                        </a:rPr>
                        <a:t>Periodo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50">
                          <a:solidFill>
                            <a:srgbClr val="FFFFFF"/>
                          </a:solidFill>
                        </a:rPr>
                        <a:t>Unid. Pedidas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50">
                          <a:solidFill>
                            <a:srgbClr val="FFFFFF"/>
                          </a:solidFill>
                        </a:rPr>
                        <a:t>Unid. Facturadas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50">
                          <a:solidFill>
                            <a:srgbClr val="FFFFFF"/>
                          </a:solidFill>
                        </a:rPr>
                        <a:t>Faltante Unid.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50">
                          <a:solidFill>
                            <a:srgbClr val="FFFFFF"/>
                          </a:solidFill>
                        </a:rPr>
                        <a:t>% Cumpl.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50">
                          <a:solidFill>
                            <a:srgbClr val="FFFFFF"/>
                          </a:solidFill>
                        </a:rPr>
                        <a:t>Monto Pedido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50">
                          <a:solidFill>
                            <a:srgbClr val="FFFFFF"/>
                          </a:solidFill>
                        </a:rPr>
                        <a:t>Faltante RD$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0B0B0B"/>
                          </a:solidFill>
                        </a:rPr>
                        <a:t>Septiembre (al 21-sep, real)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B0B0B"/>
                          </a:solidFill>
                        </a:rPr>
                        <a:t>744,014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B0B0B"/>
                          </a:solidFill>
                        </a:rPr>
                        <a:t>721,807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B0B0B"/>
                          </a:solidFill>
                        </a:rPr>
                        <a:t>22,207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B0B0B"/>
                          </a:solidFill>
                        </a:rPr>
                        <a:t>97.0%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B0B0B"/>
                          </a:solidFill>
                        </a:rPr>
                        <a:t>RD$ 56,302,110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B0B0B"/>
                          </a:solidFill>
                        </a:rPr>
                        <a:t>RD$ 1,484,292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0B0B0B"/>
                          </a:solidFill>
                        </a:rPr>
                        <a:t>Septiembre (proyectado, mes completo)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B0B0B"/>
                          </a:solidFill>
                        </a:rPr>
                        <a:t>1,062,877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B0B0B"/>
                          </a:solidFill>
                        </a:rPr>
                        <a:t>1,031,153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B0B0B"/>
                          </a:solidFill>
                        </a:rPr>
                        <a:t>31,724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B0B0B"/>
                          </a:solidFill>
                        </a:rPr>
                        <a:t>97.0%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B0B0B"/>
                          </a:solidFill>
                        </a:rPr>
                        <a:t>RD$ 80,431,586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B0B0B"/>
                          </a:solidFill>
                        </a:rPr>
                        <a:t>RD$ 2,120,417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3840480"/>
            <a:ext cx="1106424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1">
                <a:solidFill>
                  <a:srgbClr val="52514E"/>
                </a:solidFill>
                <a:latin typeface="Calibri"/>
              </a:rPr>
              <a:t>Nota: la proyección asume que el ritmo diario de pedidos y el % de cumplimiento del 1-21 de septiembre se mantienen para el resto del mes. Es una extrapolación simple (run-rate), no un pronóstico ajustado por estacionalidad de fin de mes.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F3864"/>
                </a:solidFill>
                <a:latin typeface="Georgia"/>
              </a:rPr>
              <a:t>Suplidores con mayor faltante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1">
                <a:solidFill>
                  <a:srgbClr val="52514E"/>
                </a:solidFill>
                <a:latin typeface="Calibri"/>
              </a:rPr>
              <a:t>Top 8 suplidores por faltante en RD$, Abril-Septiembre (21) 2026</a:t>
            </a:r>
          </a:p>
        </p:txBody>
      </p:sp>
      <p:pic>
        <p:nvPicPr>
          <p:cNvPr id="4" name="Picture 3" descr="03_top_suplido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942" y="1417320"/>
            <a:ext cx="10931635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F3864"/>
                </a:solidFill>
                <a:latin typeface="Georgia"/>
              </a:rPr>
              <a:t>Suplidores críticos: tendencia de cumplimiento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1">
                <a:solidFill>
                  <a:srgbClr val="52514E"/>
                </a:solidFill>
                <a:latin typeface="Calibri"/>
              </a:rPr>
              <a:t>Los 3 suplidores con mayor faltante en RD$ — evolución mes a mes</a:t>
            </a:r>
          </a:p>
        </p:txBody>
      </p:sp>
      <p:pic>
        <p:nvPicPr>
          <p:cNvPr id="4" name="Picture 3" descr="05_criticos_tendenc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3442" y="1417320"/>
            <a:ext cx="8434635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F3864"/>
                </a:solidFill>
                <a:latin typeface="Georgia"/>
              </a:rPr>
              <a:t>Faltante por canal de distribución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1">
                <a:solidFill>
                  <a:srgbClr val="52514E"/>
                </a:solidFill>
                <a:latin typeface="Calibri"/>
              </a:rPr>
              <a:t>Faltante en RD$ y % de cumplimiento por canal, Abril-Septiembre (21) 2026</a:t>
            </a:r>
          </a:p>
        </p:txBody>
      </p:sp>
      <p:pic>
        <p:nvPicPr>
          <p:cNvPr id="4" name="Picture 3" descr="04_por_ca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94248"/>
            <a:ext cx="11064240" cy="476678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Georgia"/>
              </a:rPr>
              <a:t>Top 10 combinaciones suplidor × canal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1">
                <a:solidFill>
                  <a:srgbClr val="52514E"/>
                </a:solidFill>
                <a:latin typeface="Calibri"/>
              </a:rPr>
              <a:t>Mayor faltante en RD$, Abril-Septiembre (21) 2026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00200"/>
          <a:ext cx="1106424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2286000"/>
                <a:gridCol w="2194560"/>
                <a:gridCol w="2103120"/>
                <a:gridCol w="1463040"/>
              </a:tblGrid>
              <a:tr h="432261"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Suplidor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Canal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Monto Pedido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Faltante RD$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% Cumpl.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0B0B0B"/>
                          </a:solidFill>
                        </a:rPr>
                        <a:t>Cesar Iglesias (Unilever)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0B0B0B"/>
                          </a:solidFill>
                        </a:rPr>
                        <a:t>Mayorista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B0B0B"/>
                          </a:solidFill>
                        </a:rPr>
                        <a:t>RD$ 44,615,644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B0B0B"/>
                          </a:solidFill>
                        </a:rPr>
                        <a:t>RD$ 6,448,944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B0B0B"/>
                          </a:solidFill>
                        </a:rPr>
                        <a:t>88.6%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0B0B0B"/>
                          </a:solidFill>
                        </a:rPr>
                        <a:t>Agua Crystal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0B0B0B"/>
                          </a:solidFill>
                        </a:rPr>
                        <a:t>Minorista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B0B0B"/>
                          </a:solidFill>
                        </a:rPr>
                        <a:t>RD$ 18,347,678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B0B0B"/>
                          </a:solidFill>
                        </a:rPr>
                        <a:t>RD$ 3,916,631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B0B0B"/>
                          </a:solidFill>
                        </a:rPr>
                        <a:t>79.1%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0B0B0B"/>
                          </a:solidFill>
                        </a:rPr>
                        <a:t>DIMAR DOMINICANA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0B0B0B"/>
                          </a:solidFill>
                        </a:rPr>
                        <a:t>Minorista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B0B0B"/>
                          </a:solidFill>
                        </a:rPr>
                        <a:t>RD$ 13,024,127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B0B0B"/>
                          </a:solidFill>
                        </a:rPr>
                        <a:t>RD$ 2,038,916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B0B0B"/>
                          </a:solidFill>
                        </a:rPr>
                        <a:t>82.3%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0B0B0B"/>
                          </a:solidFill>
                        </a:rPr>
                        <a:t>MOLINOS MODERNOS, SA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0B0B0B"/>
                          </a:solidFill>
                        </a:rPr>
                        <a:t>Minorista Sur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B0B0B"/>
                          </a:solidFill>
                        </a:rPr>
                        <a:t>RD$ 56,862,568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B0B0B"/>
                          </a:solidFill>
                        </a:rPr>
                        <a:t>RD$ 974,026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B0B0B"/>
                          </a:solidFill>
                        </a:rPr>
                        <a:t>98.3%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0B0B0B"/>
                          </a:solidFill>
                        </a:rPr>
                        <a:t>COLOMBINA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0B0B0B"/>
                          </a:solidFill>
                        </a:rPr>
                        <a:t>Minorista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B0B0B"/>
                          </a:solidFill>
                        </a:rPr>
                        <a:t>RD$ 26,776,455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B0B0B"/>
                          </a:solidFill>
                        </a:rPr>
                        <a:t>RD$ 938,187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B0B0B"/>
                          </a:solidFill>
                        </a:rPr>
                        <a:t>95.4%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0B0B0B"/>
                          </a:solidFill>
                        </a:rPr>
                        <a:t>Continental de Negocios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0B0B0B"/>
                          </a:solidFill>
                        </a:rPr>
                        <a:t>Minorista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B0B0B"/>
                          </a:solidFill>
                        </a:rPr>
                        <a:t>RD$ 67,563,675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B0B0B"/>
                          </a:solidFill>
                        </a:rPr>
                        <a:t>RD$ 847,254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B0B0B"/>
                          </a:solidFill>
                        </a:rPr>
                        <a:t>97.9%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0B0B0B"/>
                          </a:solidFill>
                        </a:rPr>
                        <a:t>Continental de Negocios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0B0B0B"/>
                          </a:solidFill>
                        </a:rPr>
                        <a:t>Mayorista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B0B0B"/>
                          </a:solidFill>
                        </a:rPr>
                        <a:t>RD$ 36,170,202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B0B0B"/>
                          </a:solidFill>
                        </a:rPr>
                        <a:t>RD$ 669,322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B0B0B"/>
                          </a:solidFill>
                        </a:rPr>
                        <a:t>98.0%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0B0B0B"/>
                          </a:solidFill>
                        </a:rPr>
                        <a:t>MOLINOS MODERNOS, SA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0B0B0B"/>
                          </a:solidFill>
                        </a:rPr>
                        <a:t>Minorista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B0B0B"/>
                          </a:solidFill>
                        </a:rPr>
                        <a:t>RD$ 43,326,755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B0B0B"/>
                          </a:solidFill>
                        </a:rPr>
                        <a:t>RD$ 576,745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B0B0B"/>
                          </a:solidFill>
                        </a:rPr>
                        <a:t>98.7%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0B0B0B"/>
                          </a:solidFill>
                        </a:rPr>
                        <a:t>COLOMBINA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0B0B0B"/>
                          </a:solidFill>
                        </a:rPr>
                        <a:t>Minorista Sur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B0B0B"/>
                          </a:solidFill>
                        </a:rPr>
                        <a:t>RD$ 9,296,464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B0B0B"/>
                          </a:solidFill>
                        </a:rPr>
                        <a:t>RD$ 490,708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B0B0B"/>
                          </a:solidFill>
                        </a:rPr>
                        <a:t>92.6%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</a:tr>
              <a:tr h="432270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0B0B0B"/>
                          </a:solidFill>
                        </a:rPr>
                        <a:t>Cesar Iglesias (Unilever)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0B0B0B"/>
                          </a:solidFill>
                        </a:rPr>
                        <a:t>Minorista CDN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B0B0B"/>
                          </a:solidFill>
                        </a:rPr>
                        <a:t>RD$ 3,808,416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B0B0B"/>
                          </a:solidFill>
                        </a:rPr>
                        <a:t>RD$ 474,558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B0B0B"/>
                          </a:solidFill>
                        </a:rPr>
                        <a:t>90.2%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Georgia"/>
              </a:rPr>
              <a:t>Mayores oportunidades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5120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600"/>
              </a:spcAft>
            </a:pPr>
            <a:r>
              <a:rPr sz="1550">
                <a:solidFill>
                  <a:srgbClr val="EAEDF9"/>
                </a:solidFill>
                <a:latin typeface="Calibri"/>
              </a:rPr>
              <a:t>•  Cesar Iglesias (Unilever) — RD$7.1M en faltante (89% cumpl.), concentrado en Mayorista (RD$6.4M). Cayó de 94% en abril a 85% en mayo y no se ha recuperado por completo (91% en sep). Es el mayor impacto en RD$: revisar disponibilidad de inventario y coordinación de abasto con el suplidor para este canal.</a:t>
            </a:r>
          </a:p>
          <a:p>
            <a:pPr>
              <a:spcAft>
                <a:spcPts val="1600"/>
              </a:spcAft>
            </a:pPr>
            <a:r>
              <a:rPr sz="1550">
                <a:solidFill>
                  <a:srgbClr val="EAEDF9"/>
                </a:solidFill>
                <a:latin typeface="Calibri"/>
              </a:rPr>
              <a:t>•  Agua Crystal — RD$4.2M en faltante, el peor % de cumplimiento (79%) y el más volátil: cayó a 53% en agosto tras estar en 93% en mayo. Sugiere un problema puntual de abasto/producción recurrente, no estructural — vale la pena una revisión directa con el suplidor sobre causas de quiebre en jul-ago.</a:t>
            </a:r>
          </a:p>
          <a:p>
            <a:pPr>
              <a:spcAft>
                <a:spcPts val="1600"/>
              </a:spcAft>
            </a:pPr>
            <a:r>
              <a:rPr sz="1550">
                <a:solidFill>
                  <a:srgbClr val="EAEDF9"/>
                </a:solidFill>
                <a:latin typeface="Calibri"/>
              </a:rPr>
              <a:t>•  DIMAR Dominicana — RD$2.9M en faltante (84% cumpl.), concentrado en Minorista. Su peor mes fue junio (75%); posible relación con estacionalidad o promociones sin respaldo de inventario suficiente.</a:t>
            </a:r>
          </a:p>
          <a:p>
            <a:pPr>
              <a:spcAft>
                <a:spcPts val="1600"/>
              </a:spcAft>
            </a:pPr>
            <a:r>
              <a:rPr sz="1550">
                <a:solidFill>
                  <a:srgbClr val="EAEDF9"/>
                </a:solidFill>
                <a:latin typeface="Calibri"/>
              </a:rPr>
              <a:t>•  Canal Mayorista — aunque su faltante absoluto es menor que Minorista, tiene el peor % de cumplimiento (94.2%) y son pedidos de mayor volumen por cliente: cada punto de mejora aquí tiene alto impacto en RD$.</a:t>
            </a:r>
          </a:p>
          <a:p>
            <a:pPr>
              <a:spcAft>
                <a:spcPts val="1600"/>
              </a:spcAft>
            </a:pPr>
            <a:r>
              <a:rPr sz="1550">
                <a:solidFill>
                  <a:srgbClr val="EAEDF9"/>
                </a:solidFill>
                <a:latin typeface="Calibri"/>
              </a:rPr>
              <a:t>•  Tendencia general positiva (93.8% en junio → 97.0% en septiembre) sugiere que las mejoras operativas ya en marcha están funcionando — foco puntual en los 3 suplidores críticos podría llevar el cumplimiento general por encima de 98%.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