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509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203F99"/>
                </a:solidFill>
                <a:latin typeface="Calibri"/>
              </a:rPr>
              <a:t>1. Cartera asignada, cobertura de venta e incidencia por suplidor</a:t>
            </a:r>
          </a:p>
        </p:txBody>
      </p:sp>
      <p:pic>
        <p:nvPicPr>
          <p:cNvPr id="3" name="Picture 2" descr="logo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28" y="292608"/>
            <a:ext cx="765740" cy="4206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841248"/>
            <a:ext cx="11292840" cy="41148"/>
          </a:xfrm>
          <a:prstGeom prst="rect">
            <a:avLst/>
          </a:prstGeom>
          <a:solidFill>
            <a:srgbClr val="203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57200" y="841248"/>
            <a:ext cx="1463040" cy="41148"/>
          </a:xfrm>
          <a:prstGeom prst="rect">
            <a:avLst/>
          </a:prstGeom>
          <a:solidFill>
            <a:srgbClr val="0C9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941832"/>
            <a:ext cx="11338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6E6E6E"/>
                </a:solidFill>
                <a:latin typeface="Calibri"/>
              </a:rPr>
              <a:t>Canal Mayorista – Cristiano Pérez (S12 + S13) · 4 vendedores activos · clientes activos asignados vs. clientes con al menos una factura en los últimos 6 meses.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510528"/>
            <a:ext cx="11292840" cy="10972"/>
          </a:xfrm>
          <a:prstGeom prst="rect">
            <a:avLst/>
          </a:prstGeom>
          <a:solidFill>
            <a:srgbClr val="D5D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6E6E6E"/>
                </a:solidFill>
                <a:latin typeface="Calibri"/>
              </a:rPr>
              <a:t>AM Comercial · Confidencial · Fuente: MovilBusiness · Periodo: marzo–agosto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83680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>
                <a:solidFill>
                  <a:srgbClr val="6E6E6E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2697480" cy="841248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50292" cy="841248"/>
          </a:xfrm>
          <a:prstGeom prst="rect">
            <a:avLst/>
          </a:prstGeom>
          <a:solidFill>
            <a:srgbClr val="203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" y="1417320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03F99"/>
                </a:solidFill>
                <a:latin typeface="Calibri"/>
              </a:rPr>
              <a:t>763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82880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6E6E6E"/>
                </a:solidFill>
                <a:latin typeface="Calibri"/>
              </a:rPr>
              <a:t>Clientes activos asignados a los 4 vendedores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1325880"/>
            <a:ext cx="2697480" cy="841248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310128" y="1325880"/>
            <a:ext cx="50292" cy="841248"/>
          </a:xfrm>
          <a:prstGeom prst="rect">
            <a:avLst/>
          </a:prstGeom>
          <a:solidFill>
            <a:srgbClr val="0C9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93008" y="1417320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0C9444"/>
                </a:solidFill>
                <a:latin typeface="Calibri"/>
              </a:rPr>
              <a:t>540   (71%)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008" y="182880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6E6E6E"/>
                </a:solidFill>
                <a:latin typeface="Calibri"/>
              </a:rPr>
              <a:t>Clientes con compra en 6 meses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63056" y="1325880"/>
            <a:ext cx="2697480" cy="841248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163056" y="1325880"/>
            <a:ext cx="50292" cy="8412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345936" y="1417320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C0392B"/>
                </a:solidFill>
                <a:latin typeface="Calibri"/>
              </a:rPr>
              <a:t>223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182880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6E6E6E"/>
                </a:solidFill>
                <a:latin typeface="Calibri"/>
              </a:rPr>
              <a:t>Clientes SIN una sola compra en 6 meses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15984" y="1325880"/>
            <a:ext cx="2734056" cy="841248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9015984" y="1325880"/>
            <a:ext cx="50292" cy="841248"/>
          </a:xfrm>
          <a:prstGeom prst="rect">
            <a:avLst/>
          </a:prstGeom>
          <a:solidFill>
            <a:srgbClr val="203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98863" y="1417320"/>
            <a:ext cx="24597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03F99"/>
                </a:solidFill>
                <a:latin typeface="Calibri"/>
              </a:rPr>
              <a:t>RD$ 105.5 MM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98863" y="1828800"/>
            <a:ext cx="2459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6E6E6E"/>
                </a:solidFill>
                <a:latin typeface="Calibri"/>
              </a:rPr>
              <a:t>Venta bruta del canal, mar–ago 2026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395728"/>
            <a:ext cx="11292840" cy="493776"/>
          </a:xfrm>
          <a:prstGeom prst="rect">
            <a:avLst/>
          </a:prstGeom>
          <a:solidFill>
            <a:srgbClr val="203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48640" y="2542032"/>
            <a:ext cx="190838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Tipo de negocio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39906" y="2441448"/>
            <a:ext cx="74657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Clientes</a:t>
            </a:r>
          </a:p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cartera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9358" y="2441448"/>
            <a:ext cx="79304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Clientes</a:t>
            </a:r>
          </a:p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con compra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5282" y="2441448"/>
            <a:ext cx="70009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Cobertura</a:t>
            </a:r>
          </a:p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28262" y="2441448"/>
            <a:ext cx="70009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Venta</a:t>
            </a:r>
          </a:p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RD$MM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11241" y="2441448"/>
            <a:ext cx="88598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C. Iglesias</a:t>
            </a:r>
          </a:p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(Unilever)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80111" y="2542032"/>
            <a:ext cx="7930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Continental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6035" y="2542032"/>
            <a:ext cx="65362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Brinsa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92542" y="2542032"/>
            <a:ext cx="74657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Colombina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21994" y="2542032"/>
            <a:ext cx="74657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Com. Fila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51445" y="2542032"/>
            <a:ext cx="60715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Dimar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2948940"/>
            <a:ext cx="190838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Almacenes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39906" y="2948940"/>
            <a:ext cx="74657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286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9358" y="2948940"/>
            <a:ext cx="7930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209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45282" y="2948940"/>
            <a:ext cx="7000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73%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28262" y="2948940"/>
            <a:ext cx="7000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38.0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11241" y="2948940"/>
            <a:ext cx="88598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24%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06959" y="2907792"/>
            <a:ext cx="939348" cy="283464"/>
          </a:xfrm>
          <a:prstGeom prst="rect">
            <a:avLst/>
          </a:prstGeom>
          <a:solidFill>
            <a:srgbClr val="E3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380111" y="2948940"/>
            <a:ext cx="7930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54%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82883" y="2907792"/>
            <a:ext cx="799930" cy="283464"/>
          </a:xfrm>
          <a:prstGeom prst="rect">
            <a:avLst/>
          </a:prstGeom>
          <a:solidFill>
            <a:srgbClr val="E3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356035" y="2948940"/>
            <a:ext cx="65362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45%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92542" y="2948940"/>
            <a:ext cx="74657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25%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21994" y="2948940"/>
            <a:ext cx="74657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21%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978293" y="2907792"/>
            <a:ext cx="753458" cy="283464"/>
          </a:xfrm>
          <a:prstGeom prst="rect">
            <a:avLst/>
          </a:prstGeom>
          <a:solidFill>
            <a:srgbClr val="FDF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11051445" y="2948940"/>
            <a:ext cx="60715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10%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3209544"/>
            <a:ext cx="11292840" cy="7315"/>
          </a:xfrm>
          <a:prstGeom prst="rect">
            <a:avLst/>
          </a:prstGeom>
          <a:solidFill>
            <a:srgbClr val="E6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457200" y="3209544"/>
            <a:ext cx="11292840" cy="32004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548640" y="3268980"/>
            <a:ext cx="190838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Supermercado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39906" y="3268980"/>
            <a:ext cx="74657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128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69358" y="3268980"/>
            <a:ext cx="7930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103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45282" y="3268980"/>
            <a:ext cx="7000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80%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28262" y="3268980"/>
            <a:ext cx="7000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38.5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38089" y="3227832"/>
            <a:ext cx="1032293" cy="283464"/>
          </a:xfrm>
          <a:prstGeom prst="rect">
            <a:avLst/>
          </a:prstGeom>
          <a:solidFill>
            <a:srgbClr val="E3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6311241" y="3268980"/>
            <a:ext cx="88598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52%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80111" y="3268980"/>
            <a:ext cx="7930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33%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56035" y="3268980"/>
            <a:ext cx="65362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25%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92542" y="3268980"/>
            <a:ext cx="74657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30%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21994" y="3268980"/>
            <a:ext cx="74657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20%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978293" y="3227832"/>
            <a:ext cx="753458" cy="283464"/>
          </a:xfrm>
          <a:prstGeom prst="rect">
            <a:avLst/>
          </a:prstGeom>
          <a:solidFill>
            <a:srgbClr val="FDF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11051445" y="3268980"/>
            <a:ext cx="60715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15%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3529584"/>
            <a:ext cx="11292840" cy="7315"/>
          </a:xfrm>
          <a:prstGeom prst="rect">
            <a:avLst/>
          </a:prstGeom>
          <a:solidFill>
            <a:srgbClr val="E6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548640" y="3589020"/>
            <a:ext cx="190838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Colmados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639906" y="3589020"/>
            <a:ext cx="74657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152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569358" y="3589020"/>
            <a:ext cx="7930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104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45282" y="3589020"/>
            <a:ext cx="7000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68%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28262" y="3589020"/>
            <a:ext cx="7000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3.8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38089" y="3547872"/>
            <a:ext cx="1032293" cy="283464"/>
          </a:xfrm>
          <a:prstGeom prst="rect">
            <a:avLst/>
          </a:prstGeom>
          <a:solidFill>
            <a:srgbClr val="FA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6311241" y="3589020"/>
            <a:ext cx="88598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0%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306959" y="3547872"/>
            <a:ext cx="939348" cy="283464"/>
          </a:xfrm>
          <a:prstGeom prst="rect">
            <a:avLst/>
          </a:prstGeom>
          <a:solidFill>
            <a:srgbClr val="E3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7380111" y="3589020"/>
            <a:ext cx="7930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62%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356035" y="3589020"/>
            <a:ext cx="65362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43%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192542" y="3589020"/>
            <a:ext cx="74657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28%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048842" y="3547872"/>
            <a:ext cx="892875" cy="283464"/>
          </a:xfrm>
          <a:prstGeom prst="rect">
            <a:avLst/>
          </a:prstGeom>
          <a:solidFill>
            <a:srgbClr val="FDF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10121994" y="3589020"/>
            <a:ext cx="74657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17%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978293" y="3547872"/>
            <a:ext cx="753458" cy="283464"/>
          </a:xfrm>
          <a:prstGeom prst="rect">
            <a:avLst/>
          </a:prstGeom>
          <a:solidFill>
            <a:srgbClr val="FDF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11051445" y="3589020"/>
            <a:ext cx="60715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19%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3849624"/>
            <a:ext cx="11292840" cy="7315"/>
          </a:xfrm>
          <a:prstGeom prst="rect">
            <a:avLst/>
          </a:prstGeom>
          <a:solidFill>
            <a:srgbClr val="E6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457200" y="3849624"/>
            <a:ext cx="11292840" cy="32004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548640" y="3909060"/>
            <a:ext cx="190838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Surtidoras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639906" y="3909060"/>
            <a:ext cx="74657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53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569358" y="3909060"/>
            <a:ext cx="7930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42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545282" y="3909060"/>
            <a:ext cx="7000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79%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428262" y="3909060"/>
            <a:ext cx="7000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5.1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238089" y="3867911"/>
            <a:ext cx="1032293" cy="283464"/>
          </a:xfrm>
          <a:prstGeom prst="rect">
            <a:avLst/>
          </a:prstGeom>
          <a:solidFill>
            <a:srgbClr val="FA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6311241" y="3909060"/>
            <a:ext cx="88598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0%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306959" y="3867911"/>
            <a:ext cx="939348" cy="283464"/>
          </a:xfrm>
          <a:prstGeom prst="rect">
            <a:avLst/>
          </a:prstGeom>
          <a:solidFill>
            <a:srgbClr val="E3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7380111" y="3909060"/>
            <a:ext cx="7930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70%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282883" y="3867911"/>
            <a:ext cx="799930" cy="283464"/>
          </a:xfrm>
          <a:prstGeom prst="rect">
            <a:avLst/>
          </a:prstGeom>
          <a:solidFill>
            <a:srgbClr val="E3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8356035" y="3909060"/>
            <a:ext cx="65362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58%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192542" y="3909060"/>
            <a:ext cx="74657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38%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121994" y="3909060"/>
            <a:ext cx="74657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21%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978293" y="3867911"/>
            <a:ext cx="753458" cy="283464"/>
          </a:xfrm>
          <a:prstGeom prst="rect">
            <a:avLst/>
          </a:prstGeom>
          <a:solidFill>
            <a:srgbClr val="FDF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11051445" y="3909060"/>
            <a:ext cx="60715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11%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57200" y="4169663"/>
            <a:ext cx="11292840" cy="7315"/>
          </a:xfrm>
          <a:prstGeom prst="rect">
            <a:avLst/>
          </a:prstGeom>
          <a:solidFill>
            <a:srgbClr val="E6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548640" y="4229100"/>
            <a:ext cx="190838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Mini Market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639906" y="4229100"/>
            <a:ext cx="74657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32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569358" y="4229100"/>
            <a:ext cx="7930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22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545282" y="4229100"/>
            <a:ext cx="7000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69%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428262" y="4229100"/>
            <a:ext cx="7000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1.1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238089" y="4187951"/>
            <a:ext cx="1032293" cy="283464"/>
          </a:xfrm>
          <a:prstGeom prst="rect">
            <a:avLst/>
          </a:prstGeom>
          <a:solidFill>
            <a:srgbClr val="FA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6311241" y="4229100"/>
            <a:ext cx="88598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0%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306959" y="4187951"/>
            <a:ext cx="939348" cy="283464"/>
          </a:xfrm>
          <a:prstGeom prst="rect">
            <a:avLst/>
          </a:prstGeom>
          <a:solidFill>
            <a:srgbClr val="E3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TextBox 108"/>
          <p:cNvSpPr txBox="1"/>
          <p:nvPr/>
        </p:nvSpPr>
        <p:spPr>
          <a:xfrm>
            <a:off x="7380111" y="4229100"/>
            <a:ext cx="7930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62%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356035" y="4229100"/>
            <a:ext cx="65362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41%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119390" y="4187951"/>
            <a:ext cx="892875" cy="283464"/>
          </a:xfrm>
          <a:prstGeom prst="rect">
            <a:avLst/>
          </a:prstGeom>
          <a:solidFill>
            <a:srgbClr val="FDF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9192542" y="4229100"/>
            <a:ext cx="74657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19%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121994" y="4229100"/>
            <a:ext cx="74657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34%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978293" y="4187951"/>
            <a:ext cx="753458" cy="283464"/>
          </a:xfrm>
          <a:prstGeom prst="rect">
            <a:avLst/>
          </a:prstGeom>
          <a:solidFill>
            <a:srgbClr val="FDF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TextBox 114"/>
          <p:cNvSpPr txBox="1"/>
          <p:nvPr/>
        </p:nvSpPr>
        <p:spPr>
          <a:xfrm>
            <a:off x="11051445" y="4229100"/>
            <a:ext cx="60715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19%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57200" y="4489703"/>
            <a:ext cx="11292840" cy="7315"/>
          </a:xfrm>
          <a:prstGeom prst="rect">
            <a:avLst/>
          </a:prstGeom>
          <a:solidFill>
            <a:srgbClr val="E6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Rectangle 116"/>
          <p:cNvSpPr/>
          <p:nvPr/>
        </p:nvSpPr>
        <p:spPr>
          <a:xfrm>
            <a:off x="457200" y="4489703"/>
            <a:ext cx="11292840" cy="32004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548640" y="4549140"/>
            <a:ext cx="190838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Tienda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639906" y="4549140"/>
            <a:ext cx="74657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32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569358" y="4549140"/>
            <a:ext cx="7930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18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545282" y="4549140"/>
            <a:ext cx="7000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56%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428262" y="4549140"/>
            <a:ext cx="7000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3.8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238089" y="4507991"/>
            <a:ext cx="1032293" cy="283464"/>
          </a:xfrm>
          <a:prstGeom prst="rect">
            <a:avLst/>
          </a:prstGeom>
          <a:solidFill>
            <a:srgbClr val="E3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TextBox 123"/>
          <p:cNvSpPr txBox="1"/>
          <p:nvPr/>
        </p:nvSpPr>
        <p:spPr>
          <a:xfrm>
            <a:off x="6311241" y="4549140"/>
            <a:ext cx="88598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53%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306959" y="4507991"/>
            <a:ext cx="939348" cy="283464"/>
          </a:xfrm>
          <a:prstGeom prst="rect">
            <a:avLst/>
          </a:prstGeom>
          <a:solidFill>
            <a:srgbClr val="FDF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TextBox 125"/>
          <p:cNvSpPr txBox="1"/>
          <p:nvPr/>
        </p:nvSpPr>
        <p:spPr>
          <a:xfrm>
            <a:off x="7380111" y="4549140"/>
            <a:ext cx="7930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16%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282883" y="4507991"/>
            <a:ext cx="799930" cy="283464"/>
          </a:xfrm>
          <a:prstGeom prst="rect">
            <a:avLst/>
          </a:prstGeom>
          <a:solidFill>
            <a:srgbClr val="FDF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TextBox 127"/>
          <p:cNvSpPr txBox="1"/>
          <p:nvPr/>
        </p:nvSpPr>
        <p:spPr>
          <a:xfrm>
            <a:off x="8356035" y="4549140"/>
            <a:ext cx="65362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9%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119390" y="4507991"/>
            <a:ext cx="892875" cy="283464"/>
          </a:xfrm>
          <a:prstGeom prst="rect">
            <a:avLst/>
          </a:prstGeom>
          <a:solidFill>
            <a:srgbClr val="FDF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TextBox 129"/>
          <p:cNvSpPr txBox="1"/>
          <p:nvPr/>
        </p:nvSpPr>
        <p:spPr>
          <a:xfrm>
            <a:off x="9192542" y="4549140"/>
            <a:ext cx="74657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9%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0048842" y="4507991"/>
            <a:ext cx="892875" cy="283464"/>
          </a:xfrm>
          <a:prstGeom prst="rect">
            <a:avLst/>
          </a:prstGeom>
          <a:solidFill>
            <a:srgbClr val="FDF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TextBox 131"/>
          <p:cNvSpPr txBox="1"/>
          <p:nvPr/>
        </p:nvSpPr>
        <p:spPr>
          <a:xfrm>
            <a:off x="10121994" y="4549140"/>
            <a:ext cx="74657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12%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0978293" y="4507991"/>
            <a:ext cx="753458" cy="283464"/>
          </a:xfrm>
          <a:prstGeom prst="rect">
            <a:avLst/>
          </a:prstGeom>
          <a:solidFill>
            <a:srgbClr val="FA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TextBox 133"/>
          <p:cNvSpPr txBox="1"/>
          <p:nvPr/>
        </p:nvSpPr>
        <p:spPr>
          <a:xfrm>
            <a:off x="11051445" y="4549140"/>
            <a:ext cx="60715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0%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57200" y="4809743"/>
            <a:ext cx="11292840" cy="7315"/>
          </a:xfrm>
          <a:prstGeom prst="rect">
            <a:avLst/>
          </a:prstGeom>
          <a:solidFill>
            <a:srgbClr val="E6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TextBox 135"/>
          <p:cNvSpPr txBox="1"/>
          <p:nvPr/>
        </p:nvSpPr>
        <p:spPr>
          <a:xfrm>
            <a:off x="548640" y="4869179"/>
            <a:ext cx="190838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Otros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639906" y="4869179"/>
            <a:ext cx="74657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80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569358" y="4869179"/>
            <a:ext cx="7930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42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545282" y="4869179"/>
            <a:ext cx="7000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52%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428262" y="4869179"/>
            <a:ext cx="7000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15.2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238089" y="4828031"/>
            <a:ext cx="1032293" cy="283464"/>
          </a:xfrm>
          <a:prstGeom prst="rect">
            <a:avLst/>
          </a:prstGeom>
          <a:solidFill>
            <a:srgbClr val="FDF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TextBox 141"/>
          <p:cNvSpPr txBox="1"/>
          <p:nvPr/>
        </p:nvSpPr>
        <p:spPr>
          <a:xfrm>
            <a:off x="6311241" y="4869179"/>
            <a:ext cx="88598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18%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380111" y="4869179"/>
            <a:ext cx="7930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35%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56035" y="4869179"/>
            <a:ext cx="65362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28%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9119390" y="4828031"/>
            <a:ext cx="892875" cy="283464"/>
          </a:xfrm>
          <a:prstGeom prst="rect">
            <a:avLst/>
          </a:prstGeom>
          <a:solidFill>
            <a:srgbClr val="FDF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TextBox 145"/>
          <p:cNvSpPr txBox="1"/>
          <p:nvPr/>
        </p:nvSpPr>
        <p:spPr>
          <a:xfrm>
            <a:off x="9192542" y="4869179"/>
            <a:ext cx="74657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18%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0048842" y="4828031"/>
            <a:ext cx="892875" cy="283464"/>
          </a:xfrm>
          <a:prstGeom prst="rect">
            <a:avLst/>
          </a:prstGeom>
          <a:solidFill>
            <a:srgbClr val="FDF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TextBox 147"/>
          <p:cNvSpPr txBox="1"/>
          <p:nvPr/>
        </p:nvSpPr>
        <p:spPr>
          <a:xfrm>
            <a:off x="10121994" y="4869179"/>
            <a:ext cx="74657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15%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0978293" y="4828031"/>
            <a:ext cx="753458" cy="283464"/>
          </a:xfrm>
          <a:prstGeom prst="rect">
            <a:avLst/>
          </a:prstGeom>
          <a:solidFill>
            <a:srgbClr val="FDF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TextBox 149"/>
          <p:cNvSpPr txBox="1"/>
          <p:nvPr/>
        </p:nvSpPr>
        <p:spPr>
          <a:xfrm>
            <a:off x="11051445" y="4869179"/>
            <a:ext cx="60715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5%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57200" y="5129783"/>
            <a:ext cx="11292840" cy="7315"/>
          </a:xfrm>
          <a:prstGeom prst="rect">
            <a:avLst/>
          </a:prstGeom>
          <a:solidFill>
            <a:srgbClr val="E6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Rectangle 151"/>
          <p:cNvSpPr/>
          <p:nvPr/>
        </p:nvSpPr>
        <p:spPr>
          <a:xfrm>
            <a:off x="457200" y="5129783"/>
            <a:ext cx="11292840" cy="320040"/>
          </a:xfrm>
          <a:prstGeom prst="rect">
            <a:avLst/>
          </a:prstGeom>
          <a:solidFill>
            <a:srgbClr val="E9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TextBox 152"/>
          <p:cNvSpPr txBox="1"/>
          <p:nvPr/>
        </p:nvSpPr>
        <p:spPr>
          <a:xfrm>
            <a:off x="548640" y="5189219"/>
            <a:ext cx="190838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3A3A3A"/>
                </a:solidFill>
                <a:latin typeface="Calibri"/>
              </a:rPr>
              <a:t>TOTAL CANAL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639906" y="5189219"/>
            <a:ext cx="74657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3A3A3A"/>
                </a:solidFill>
                <a:latin typeface="Calibri"/>
              </a:rPr>
              <a:t>763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569358" y="5189219"/>
            <a:ext cx="7930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3A3A3A"/>
                </a:solidFill>
                <a:latin typeface="Calibri"/>
              </a:rPr>
              <a:t>540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545282" y="5189219"/>
            <a:ext cx="7000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3A3A3A"/>
                </a:solidFill>
                <a:latin typeface="Calibri"/>
              </a:rPr>
              <a:t>71%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428262" y="5189219"/>
            <a:ext cx="7000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i="0">
                <a:solidFill>
                  <a:srgbClr val="3A3A3A"/>
                </a:solidFill>
                <a:latin typeface="Calibri"/>
              </a:rPr>
              <a:t>105.5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311241" y="5189219"/>
            <a:ext cx="88598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3A3A3A"/>
                </a:solidFill>
                <a:latin typeface="Calibri"/>
              </a:rPr>
              <a:t>22%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380111" y="5189219"/>
            <a:ext cx="7930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3A3A3A"/>
                </a:solidFill>
                <a:latin typeface="Calibri"/>
              </a:rPr>
              <a:t>50%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356035" y="5189219"/>
            <a:ext cx="65362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3A3A3A"/>
                </a:solidFill>
                <a:latin typeface="Calibri"/>
              </a:rPr>
              <a:t>39%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192542" y="5189219"/>
            <a:ext cx="74657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3A3A3A"/>
                </a:solidFill>
                <a:latin typeface="Calibri"/>
              </a:rPr>
              <a:t>26%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121994" y="5189219"/>
            <a:ext cx="74657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3A3A3A"/>
                </a:solidFill>
                <a:latin typeface="Calibri"/>
              </a:rPr>
              <a:t>20%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1051445" y="5189219"/>
            <a:ext cx="60715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3A3A3A"/>
                </a:solidFill>
                <a:latin typeface="Calibri"/>
              </a:rPr>
              <a:t>12%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457200" y="5449823"/>
            <a:ext cx="11292840" cy="7315"/>
          </a:xfrm>
          <a:prstGeom prst="rect">
            <a:avLst/>
          </a:prstGeom>
          <a:solidFill>
            <a:srgbClr val="E6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5" name="TextBox 164"/>
          <p:cNvSpPr txBox="1"/>
          <p:nvPr/>
        </p:nvSpPr>
        <p:spPr>
          <a:xfrm>
            <a:off x="457200" y="5559552"/>
            <a:ext cx="11292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1">
                <a:solidFill>
                  <a:srgbClr val="6E6E6E"/>
                </a:solidFill>
                <a:latin typeface="Calibri"/>
              </a:rPr>
              <a:t>Incidencia % = clientes que compraron ese suplidor ÷ clientes de la cartera de ese tipo de negocio.    Verde ≥ 45%   ·   Ámbar &lt; 20%   ·   Rojo = 0%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57200" y="5989320"/>
            <a:ext cx="11292840" cy="438912"/>
          </a:xfrm>
          <a:prstGeom prst="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7" name="Rectangle 166"/>
          <p:cNvSpPr/>
          <p:nvPr/>
        </p:nvSpPr>
        <p:spPr>
          <a:xfrm>
            <a:off x="457200" y="5989320"/>
            <a:ext cx="54864" cy="438912"/>
          </a:xfrm>
          <a:prstGeom prst="rect">
            <a:avLst/>
          </a:prstGeom>
          <a:solidFill>
            <a:srgbClr val="0C9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8" name="TextBox 167"/>
          <p:cNvSpPr txBox="1"/>
          <p:nvPr/>
        </p:nvSpPr>
        <p:spPr>
          <a:xfrm>
            <a:off x="658368" y="606247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3A3A3A"/>
                </a:solidFill>
                <a:latin typeface="Calibri"/>
              </a:rPr>
              <a:t>Almacenes y Supermercados son el 54% de la cartera y el 73% de la venta. El hueco no está en visitar: 223 clientes activos (29%) no compraron nada en 6 meses y ningún suplidor pasa del 50% de incidencia.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509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203F99"/>
                </a:solidFill>
                <a:latin typeface="Calibri"/>
              </a:rPr>
              <a:t>2. Visitas mensuales y toma de inventario en el cliente</a:t>
            </a:r>
          </a:p>
        </p:txBody>
      </p:sp>
      <p:pic>
        <p:nvPicPr>
          <p:cNvPr id="3" name="Picture 2" descr="logo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28" y="292608"/>
            <a:ext cx="765740" cy="4206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841248"/>
            <a:ext cx="11292840" cy="41148"/>
          </a:xfrm>
          <a:prstGeom prst="rect">
            <a:avLst/>
          </a:prstGeom>
          <a:solidFill>
            <a:srgbClr val="203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57200" y="841248"/>
            <a:ext cx="1463040" cy="41148"/>
          </a:xfrm>
          <a:prstGeom prst="rect">
            <a:avLst/>
          </a:prstGeom>
          <a:solidFill>
            <a:srgbClr val="0C9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941832"/>
            <a:ext cx="11338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6E6E6E"/>
                </a:solidFill>
                <a:latin typeface="Calibri"/>
              </a:rPr>
              <a:t>Cobertura = clientes distintos visitados en el mes ÷ cartera asignada.   Efectividad = de los clientes visitados, cuántos terminaron comprando ese mes.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510528"/>
            <a:ext cx="11292840" cy="10972"/>
          </a:xfrm>
          <a:prstGeom prst="rect">
            <a:avLst/>
          </a:prstGeom>
          <a:solidFill>
            <a:srgbClr val="D5D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6E6E6E"/>
                </a:solidFill>
                <a:latin typeface="Calibri"/>
              </a:rPr>
              <a:t>AM Comercial · Confidencial · Fuente: MovilBusiness · Periodo: marzo–agosto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83680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>
                <a:solidFill>
                  <a:srgbClr val="6E6E6E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98448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03F99"/>
                </a:solidFill>
                <a:latin typeface="Calibri"/>
              </a:rPr>
              <a:t>Cobertura de visitas: % de la cartera visitado cada mes</a:t>
            </a:r>
          </a:p>
        </p:txBody>
      </p:sp>
      <p:pic>
        <p:nvPicPr>
          <p:cNvPr id="11" name="Picture 10" descr="cobertura_visit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72768"/>
            <a:ext cx="5623560" cy="235988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63640" y="1298448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03F99"/>
                </a:solidFill>
                <a:latin typeface="Calibri"/>
              </a:rPr>
              <a:t>Efectividad: % de clientes visitados que compran</a:t>
            </a:r>
          </a:p>
        </p:txBody>
      </p:sp>
      <p:pic>
        <p:nvPicPr>
          <p:cNvPr id="13" name="Picture 12" descr="efectivid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572768"/>
            <a:ext cx="5623560" cy="2359887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57200" y="4041648"/>
            <a:ext cx="11292840" cy="420624"/>
          </a:xfrm>
          <a:prstGeom prst="rect">
            <a:avLst/>
          </a:prstGeom>
          <a:solidFill>
            <a:srgbClr val="203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48640" y="4151376"/>
            <a:ext cx="270986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Vendedor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1387" y="4151376"/>
            <a:ext cx="87408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Cartera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352" y="4050791"/>
            <a:ext cx="10966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Visitados</a:t>
            </a:r>
          </a:p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6 meses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77836" y="4050791"/>
            <a:ext cx="87408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Sin</a:t>
            </a:r>
          </a:p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visitar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4802" y="4050791"/>
            <a:ext cx="120786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Visitas/día</a:t>
            </a:r>
          </a:p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promedio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5546" y="4050791"/>
            <a:ext cx="120786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Efectividad</a:t>
            </a:r>
          </a:p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promedio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16289" y="4050791"/>
            <a:ext cx="204231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Clientes con inventario</a:t>
            </a:r>
          </a:p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físico en 6 meses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494276"/>
            <a:ext cx="270986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Wascar Alvarez (106)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41387" y="4494276"/>
            <a:ext cx="87408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277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352" y="4494276"/>
            <a:ext cx="10966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276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77836" y="4494276"/>
            <a:ext cx="87408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4802" y="4494276"/>
            <a:ext cx="12078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20.5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5546" y="4494276"/>
            <a:ext cx="12078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56%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43137" y="4480559"/>
            <a:ext cx="2188614" cy="228599"/>
          </a:xfrm>
          <a:prstGeom prst="rect">
            <a:avLst/>
          </a:prstGeom>
          <a:solidFill>
            <a:srgbClr val="FA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616289" y="4494276"/>
            <a:ext cx="204231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727448"/>
            <a:ext cx="11292840" cy="7315"/>
          </a:xfrm>
          <a:prstGeom prst="rect">
            <a:avLst/>
          </a:prstGeom>
          <a:solidFill>
            <a:srgbClr val="E6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57200" y="4727448"/>
            <a:ext cx="11292840" cy="265176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48640" y="4759452"/>
            <a:ext cx="270986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Hanel Girón (36)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41387" y="4759452"/>
            <a:ext cx="87408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147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8352" y="4759452"/>
            <a:ext cx="10966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147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77836" y="4759452"/>
            <a:ext cx="87408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4802" y="4759452"/>
            <a:ext cx="12078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20.6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5546" y="4759452"/>
            <a:ext cx="12078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51%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543137" y="4745736"/>
            <a:ext cx="2188614" cy="228599"/>
          </a:xfrm>
          <a:prstGeom prst="rect">
            <a:avLst/>
          </a:prstGeom>
          <a:solidFill>
            <a:srgbClr val="FDF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616289" y="4759452"/>
            <a:ext cx="204231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992624"/>
            <a:ext cx="11292840" cy="7315"/>
          </a:xfrm>
          <a:prstGeom prst="rect">
            <a:avLst/>
          </a:prstGeom>
          <a:solidFill>
            <a:srgbClr val="E6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48640" y="5024628"/>
            <a:ext cx="270986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Jhonny Rosario (25)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41387" y="5024628"/>
            <a:ext cx="87408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172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98352" y="5024628"/>
            <a:ext cx="10966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164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77836" y="5024628"/>
            <a:ext cx="87408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34802" y="5024628"/>
            <a:ext cx="12078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15.0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5546" y="5024628"/>
            <a:ext cx="12078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51%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543137" y="5010912"/>
            <a:ext cx="2188614" cy="228599"/>
          </a:xfrm>
          <a:prstGeom prst="rect">
            <a:avLst/>
          </a:prstGeom>
          <a:solidFill>
            <a:srgbClr val="FDF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9616289" y="5024628"/>
            <a:ext cx="204231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257800"/>
            <a:ext cx="11292840" cy="7315"/>
          </a:xfrm>
          <a:prstGeom prst="rect">
            <a:avLst/>
          </a:prstGeom>
          <a:solidFill>
            <a:srgbClr val="E6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457200" y="5257800"/>
            <a:ext cx="11292840" cy="265176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548640" y="5289804"/>
            <a:ext cx="270986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Fernando Martínez (185) *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41387" y="5289804"/>
            <a:ext cx="87408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167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98352" y="5289804"/>
            <a:ext cx="10966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166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77836" y="5289804"/>
            <a:ext cx="87408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34802" y="5289804"/>
            <a:ext cx="12078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18.3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5546" y="5289804"/>
            <a:ext cx="12078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45%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543137" y="5276088"/>
            <a:ext cx="2188614" cy="228599"/>
          </a:xfrm>
          <a:prstGeom prst="rect">
            <a:avLst/>
          </a:prstGeom>
          <a:solidFill>
            <a:srgbClr val="FA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9616289" y="5289804"/>
            <a:ext cx="204231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5522976"/>
            <a:ext cx="11292840" cy="7315"/>
          </a:xfrm>
          <a:prstGeom prst="rect">
            <a:avLst/>
          </a:prstGeom>
          <a:solidFill>
            <a:srgbClr val="E6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457200" y="5522976"/>
            <a:ext cx="11292840" cy="265176"/>
          </a:xfrm>
          <a:prstGeom prst="rect">
            <a:avLst/>
          </a:prstGeom>
          <a:solidFill>
            <a:srgbClr val="E9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548640" y="5554980"/>
            <a:ext cx="270986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3A3A3A"/>
                </a:solidFill>
                <a:latin typeface="Calibri"/>
              </a:rPr>
              <a:t>TOTAL CANAL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41387" y="5554980"/>
            <a:ext cx="87408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3A3A3A"/>
                </a:solidFill>
                <a:latin typeface="Calibri"/>
              </a:rPr>
              <a:t>763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98352" y="5554980"/>
            <a:ext cx="10966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3A3A3A"/>
                </a:solidFill>
                <a:latin typeface="Calibri"/>
              </a:rPr>
              <a:t>753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777836" y="5554980"/>
            <a:ext cx="87408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3A3A3A"/>
                </a:solidFill>
                <a:latin typeface="Calibri"/>
              </a:rPr>
              <a:t>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34802" y="5554980"/>
            <a:ext cx="12078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3A3A3A"/>
                </a:solidFill>
                <a:latin typeface="Calibri"/>
              </a:rPr>
              <a:t>18.6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25546" y="5554980"/>
            <a:ext cx="12078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3A3A3A"/>
                </a:solidFill>
                <a:latin typeface="Calibri"/>
              </a:rPr>
              <a:t>52%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43137" y="5541264"/>
            <a:ext cx="2188614" cy="228599"/>
          </a:xfrm>
          <a:prstGeom prst="rect">
            <a:avLst/>
          </a:prstGeom>
          <a:solidFill>
            <a:srgbClr val="FA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9616289" y="5554980"/>
            <a:ext cx="204231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3A3A3A"/>
                </a:solidFill>
                <a:latin typeface="Calibri"/>
              </a:rPr>
              <a:t>13   de 763 clientes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5788152"/>
            <a:ext cx="11292840" cy="7315"/>
          </a:xfrm>
          <a:prstGeom prst="rect">
            <a:avLst/>
          </a:prstGeom>
          <a:solidFill>
            <a:srgbClr val="E6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457200" y="5760720"/>
            <a:ext cx="11292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1">
                <a:solidFill>
                  <a:srgbClr val="6E6E6E"/>
                </a:solidFill>
                <a:latin typeface="Calibri"/>
              </a:rPr>
              <a:t>* Fernando Martínez inicia ruta en junio 2026 (3 meses de historia).      Referencia: en todo AM Comercial la tabla InventariosFisicos sólo tiene 55 registros en 6 meses, de 8 vendedores.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5989320"/>
            <a:ext cx="11292840" cy="438912"/>
          </a:xfrm>
          <a:prstGeom prst="rect">
            <a:avLst/>
          </a:prstGeom>
          <a:solidFill>
            <a:srgbClr val="FA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ectangle 71"/>
          <p:cNvSpPr/>
          <p:nvPr/>
        </p:nvSpPr>
        <p:spPr>
          <a:xfrm>
            <a:off x="457200" y="5989320"/>
            <a:ext cx="54864" cy="43891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658368" y="606247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3A3A3A"/>
                </a:solidFill>
                <a:latin typeface="Calibri"/>
              </a:rPr>
              <a:t>La visita sí se está haciendo: 753 de 763 clientes visitados y 80–100% de cobertura mensual. Lo que no se hace es la toma de inventario — 13 clientes en 6 meses entre los 4. Sin inventario no hay pedido sugerido y la venta se vuelve reactiva.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509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203F99"/>
                </a:solidFill>
                <a:latin typeface="Calibri"/>
              </a:rPr>
              <a:t>3. Clientes Pareto con mayor desviación en la venta</a:t>
            </a:r>
          </a:p>
        </p:txBody>
      </p:sp>
      <p:pic>
        <p:nvPicPr>
          <p:cNvPr id="3" name="Picture 2" descr="logo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28" y="292608"/>
            <a:ext cx="765740" cy="4206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841248"/>
            <a:ext cx="11292840" cy="41148"/>
          </a:xfrm>
          <a:prstGeom prst="rect">
            <a:avLst/>
          </a:prstGeom>
          <a:solidFill>
            <a:srgbClr val="203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57200" y="841248"/>
            <a:ext cx="1463040" cy="41148"/>
          </a:xfrm>
          <a:prstGeom prst="rect">
            <a:avLst/>
          </a:prstGeom>
          <a:solidFill>
            <a:srgbClr val="0C9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941832"/>
            <a:ext cx="11338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6E6E6E"/>
                </a:solidFill>
                <a:latin typeface="Calibri"/>
              </a:rPr>
              <a:t>Pareto = clientes que acumulan el 80% de la venta de cada vendedor.   Desviación = venta jun–ago contra mar–may, y en cuántos de los 6 meses el cliente compró.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510528"/>
            <a:ext cx="11292840" cy="10972"/>
          </a:xfrm>
          <a:prstGeom prst="rect">
            <a:avLst/>
          </a:prstGeom>
          <a:solidFill>
            <a:srgbClr val="D5D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6E6E6E"/>
                </a:solidFill>
                <a:latin typeface="Calibri"/>
              </a:rPr>
              <a:t>AM Comercial · Confidencial · Fuente: MovilBusiness · Periodo: marzo–agosto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83680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>
                <a:solidFill>
                  <a:srgbClr val="6E6E6E"/>
                </a:solidFill>
                <a:latin typeface="Calibri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94960" cy="502920"/>
          </a:xfrm>
          <a:prstGeom prst="rect">
            <a:avLst/>
          </a:prstGeom>
          <a:solidFill>
            <a:srgbClr val="203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1476756"/>
            <a:ext cx="136962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Calibri"/>
              </a:rPr>
              <a:t>Vendedor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1146" y="1476756"/>
            <a:ext cx="43812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Calibri"/>
              </a:rPr>
              <a:t>Cartera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22149" y="1376172"/>
            <a:ext cx="63218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Calibri"/>
              </a:rPr>
              <a:t>Clientes</a:t>
            </a:r>
          </a:p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Calibri"/>
              </a:rPr>
              <a:t>que compran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7214" y="1376172"/>
            <a:ext cx="82624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Calibri"/>
              </a:rPr>
              <a:t>Clientes Pareto</a:t>
            </a:r>
          </a:p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Calibri"/>
              </a:rPr>
              <a:t>(80% de la venta)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344" y="1376172"/>
            <a:ext cx="47693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Calibri"/>
              </a:rPr>
              <a:t>% de la</a:t>
            </a:r>
          </a:p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Calibri"/>
              </a:rPr>
              <a:t>cartera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6159" y="1376172"/>
            <a:ext cx="554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Calibri"/>
              </a:rPr>
              <a:t>Venta 6M</a:t>
            </a:r>
          </a:p>
          <a:p>
            <a:pPr algn="r"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Calibri"/>
              </a:rPr>
              <a:t>RD$MM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874519"/>
            <a:ext cx="136962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Jhonny Rosario (25)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1146" y="1874519"/>
            <a:ext cx="43812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172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22149" y="1874519"/>
            <a:ext cx="63218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113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7214" y="1874519"/>
            <a:ext cx="82624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39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6344" y="1874519"/>
            <a:ext cx="4769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23%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06159" y="1874519"/>
            <a:ext cx="55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35.8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121408"/>
            <a:ext cx="5394960" cy="7315"/>
          </a:xfrm>
          <a:prstGeom prst="rect">
            <a:avLst/>
          </a:prstGeom>
          <a:solidFill>
            <a:srgbClr val="E6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457200" y="2121408"/>
            <a:ext cx="5394960" cy="292608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48640" y="2167127"/>
            <a:ext cx="136962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Hanel Girón (36)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1146" y="2167127"/>
            <a:ext cx="43812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147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22149" y="2167127"/>
            <a:ext cx="63218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103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37214" y="2167127"/>
            <a:ext cx="82624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46344" y="2167127"/>
            <a:ext cx="4769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20%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06159" y="2167127"/>
            <a:ext cx="55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33.5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414015"/>
            <a:ext cx="5394960" cy="7315"/>
          </a:xfrm>
          <a:prstGeom prst="rect">
            <a:avLst/>
          </a:prstGeom>
          <a:solidFill>
            <a:srgbClr val="E6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48640" y="2459735"/>
            <a:ext cx="136962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Wascar Alvarez (106)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1146" y="2459735"/>
            <a:ext cx="43812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277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22149" y="2459735"/>
            <a:ext cx="63218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225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37214" y="2459735"/>
            <a:ext cx="82624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94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46344" y="2459735"/>
            <a:ext cx="4769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34%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06159" y="2459735"/>
            <a:ext cx="55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35.3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2706623"/>
            <a:ext cx="5394960" cy="7315"/>
          </a:xfrm>
          <a:prstGeom prst="rect">
            <a:avLst/>
          </a:prstGeom>
          <a:solidFill>
            <a:srgbClr val="E6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457200" y="2706623"/>
            <a:ext cx="5394960" cy="292608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48640" y="2752343"/>
            <a:ext cx="136962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Fernando Martínez (185)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1146" y="2752343"/>
            <a:ext cx="43812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167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22149" y="2752343"/>
            <a:ext cx="63218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99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37214" y="2752343"/>
            <a:ext cx="82624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44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46344" y="2752343"/>
            <a:ext cx="4769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26%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06159" y="2752343"/>
            <a:ext cx="55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0.9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2999231"/>
            <a:ext cx="5394960" cy="7315"/>
          </a:xfrm>
          <a:prstGeom prst="rect">
            <a:avLst/>
          </a:prstGeom>
          <a:solidFill>
            <a:srgbClr val="E6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263640" y="1298448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203F99"/>
                </a:solidFill>
                <a:latin typeface="Calibri"/>
              </a:rPr>
              <a:t>Venta mensual del canal por vendedor (RD$ MM)</a:t>
            </a:r>
          </a:p>
        </p:txBody>
      </p:sp>
      <p:pic>
        <p:nvPicPr>
          <p:cNvPr id="48" name="Picture 47" descr="venta_mens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36192"/>
            <a:ext cx="5440680" cy="198682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57200" y="3419856"/>
            <a:ext cx="11292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203F99"/>
                </a:solidFill>
                <a:latin typeface="Calibri"/>
              </a:rPr>
              <a:t>Los 3 clientes Pareto de cada vendedor con la mayor caída de jun–ago frente a mar–may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3712463"/>
            <a:ext cx="11292840" cy="402336"/>
          </a:xfrm>
          <a:prstGeom prst="rect">
            <a:avLst/>
          </a:prstGeom>
          <a:solidFill>
            <a:srgbClr val="203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548640" y="3813048"/>
            <a:ext cx="164972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Calibri"/>
              </a:rPr>
              <a:t>Vendedor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81250" y="3813048"/>
            <a:ext cx="30860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Calibri"/>
              </a:rPr>
              <a:t>Cliente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50229" y="3712463"/>
            <a:ext cx="115443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Calibri"/>
              </a:rPr>
              <a:t>Venta 6M</a:t>
            </a:r>
          </a:p>
          <a:p>
            <a:pPr algn="r"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Calibri"/>
              </a:rPr>
              <a:t>RD$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87539" y="3712463"/>
            <a:ext cx="115443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Calibri"/>
              </a:rPr>
              <a:t>Promedio</a:t>
            </a:r>
          </a:p>
          <a:p>
            <a:pPr algn="r"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Calibri"/>
              </a:rPr>
              <a:t>mes RD$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4849" y="3712463"/>
            <a:ext cx="12039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Calibri"/>
              </a:rPr>
              <a:t>Meses con</a:t>
            </a:r>
          </a:p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Calibri"/>
              </a:rPr>
              <a:t>compra (de 6)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11689" y="3712463"/>
            <a:ext cx="115443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Calibri"/>
              </a:rPr>
              <a:t>Variación</a:t>
            </a:r>
          </a:p>
          <a:p>
            <a:pPr algn="r"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Calibri"/>
              </a:rPr>
              <a:t>RD$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48999" y="3712463"/>
            <a:ext cx="609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Calibri"/>
              </a:rPr>
              <a:t>Var.</a:t>
            </a:r>
          </a:p>
          <a:p>
            <a:pPr algn="r"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Calibri"/>
              </a:rPr>
              <a:t>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4121658"/>
            <a:ext cx="164972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Jhonny Rosario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81250" y="4121658"/>
            <a:ext cx="30860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Grupo Fortiz Srl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50229" y="4121658"/>
            <a:ext cx="11544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1,733,752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87539" y="4121658"/>
            <a:ext cx="11544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288,959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24849" y="4121658"/>
            <a:ext cx="1203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638537" y="4133087"/>
            <a:ext cx="1300734" cy="178307"/>
          </a:xfrm>
          <a:prstGeom prst="rect">
            <a:avLst/>
          </a:prstGeom>
          <a:solidFill>
            <a:srgbClr val="FA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9711689" y="4121658"/>
            <a:ext cx="11544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-742,272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975847" y="4133087"/>
            <a:ext cx="755904" cy="178307"/>
          </a:xfrm>
          <a:prstGeom prst="rect">
            <a:avLst/>
          </a:prstGeom>
          <a:solidFill>
            <a:srgbClr val="FA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11048999" y="4121658"/>
            <a:ext cx="60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-60%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4329684"/>
            <a:ext cx="11292840" cy="7315"/>
          </a:xfrm>
          <a:prstGeom prst="rect">
            <a:avLst/>
          </a:prstGeom>
          <a:solidFill>
            <a:srgbClr val="E6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457200" y="4329684"/>
            <a:ext cx="11292840" cy="214884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548640" y="4336542"/>
            <a:ext cx="164972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Jhonny Rosario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381250" y="4336542"/>
            <a:ext cx="30860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Comercializadora Tejeda &amp; Feliz T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50229" y="4336542"/>
            <a:ext cx="11544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2,233,439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87539" y="4336542"/>
            <a:ext cx="11544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372,240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24849" y="4336542"/>
            <a:ext cx="1203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638537" y="4347972"/>
            <a:ext cx="1300734" cy="178307"/>
          </a:xfrm>
          <a:prstGeom prst="rect">
            <a:avLst/>
          </a:prstGeom>
          <a:solidFill>
            <a:srgbClr val="FA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9711689" y="4336542"/>
            <a:ext cx="11544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-677,718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975847" y="4347972"/>
            <a:ext cx="755904" cy="178307"/>
          </a:xfrm>
          <a:prstGeom prst="rect">
            <a:avLst/>
          </a:prstGeom>
          <a:solidFill>
            <a:srgbClr val="FA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11048999" y="4336542"/>
            <a:ext cx="60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-47%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4544568"/>
            <a:ext cx="11292840" cy="7315"/>
          </a:xfrm>
          <a:prstGeom prst="rect">
            <a:avLst/>
          </a:prstGeom>
          <a:solidFill>
            <a:srgbClr val="E6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548640" y="4551426"/>
            <a:ext cx="164972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Jhonny Rosario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381250" y="4551426"/>
            <a:ext cx="30860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Casa  Yenny Srl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50229" y="4551426"/>
            <a:ext cx="11544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1,003,993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987539" y="4551426"/>
            <a:ext cx="11544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167,332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324849" y="4551426"/>
            <a:ext cx="1203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638537" y="4562856"/>
            <a:ext cx="1300734" cy="178307"/>
          </a:xfrm>
          <a:prstGeom prst="rect">
            <a:avLst/>
          </a:prstGeom>
          <a:solidFill>
            <a:srgbClr val="FA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9711689" y="4551426"/>
            <a:ext cx="11544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-504,351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975847" y="4562856"/>
            <a:ext cx="755904" cy="178307"/>
          </a:xfrm>
          <a:prstGeom prst="rect">
            <a:avLst/>
          </a:prstGeom>
          <a:solidFill>
            <a:srgbClr val="FA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11048999" y="4551426"/>
            <a:ext cx="60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-67%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57200" y="4759452"/>
            <a:ext cx="11292840" cy="7315"/>
          </a:xfrm>
          <a:prstGeom prst="rect">
            <a:avLst/>
          </a:prstGeom>
          <a:solidFill>
            <a:srgbClr val="E6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457200" y="4759452"/>
            <a:ext cx="11292840" cy="214884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548640" y="4766310"/>
            <a:ext cx="164972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Hanel Giron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381250" y="4766310"/>
            <a:ext cx="30860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Tienda Comercial La Clave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50229" y="4766310"/>
            <a:ext cx="11544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2,089,332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987539" y="4766310"/>
            <a:ext cx="11544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348,222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324849" y="4766310"/>
            <a:ext cx="1203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6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638537" y="4777740"/>
            <a:ext cx="1300734" cy="178307"/>
          </a:xfrm>
          <a:prstGeom prst="rect">
            <a:avLst/>
          </a:prstGeom>
          <a:solidFill>
            <a:srgbClr val="FA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9711689" y="4766310"/>
            <a:ext cx="11544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-524,883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975847" y="4777740"/>
            <a:ext cx="755904" cy="178307"/>
          </a:xfrm>
          <a:prstGeom prst="rect">
            <a:avLst/>
          </a:prstGeom>
          <a:solidFill>
            <a:srgbClr val="FA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11048999" y="4766310"/>
            <a:ext cx="60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-40%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57200" y="4974336"/>
            <a:ext cx="11292840" cy="7315"/>
          </a:xfrm>
          <a:prstGeom prst="rect">
            <a:avLst/>
          </a:prstGeom>
          <a:solidFill>
            <a:srgbClr val="E6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548640" y="4981194"/>
            <a:ext cx="164972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Hanel Giron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381250" y="4981194"/>
            <a:ext cx="30860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Super Mercado Hasan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650229" y="4981194"/>
            <a:ext cx="11544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714,160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987539" y="4981194"/>
            <a:ext cx="11544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119,027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324849" y="4981194"/>
            <a:ext cx="1203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4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638537" y="4992624"/>
            <a:ext cx="1300734" cy="178307"/>
          </a:xfrm>
          <a:prstGeom prst="rect">
            <a:avLst/>
          </a:prstGeom>
          <a:solidFill>
            <a:srgbClr val="FA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TextBox 105"/>
          <p:cNvSpPr txBox="1"/>
          <p:nvPr/>
        </p:nvSpPr>
        <p:spPr>
          <a:xfrm>
            <a:off x="9711689" y="4981194"/>
            <a:ext cx="11544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-278,445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975847" y="4992624"/>
            <a:ext cx="755904" cy="178307"/>
          </a:xfrm>
          <a:prstGeom prst="rect">
            <a:avLst/>
          </a:prstGeom>
          <a:solidFill>
            <a:srgbClr val="FA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11048999" y="4981194"/>
            <a:ext cx="60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-56%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57200" y="5189220"/>
            <a:ext cx="11292840" cy="7315"/>
          </a:xfrm>
          <a:prstGeom prst="rect">
            <a:avLst/>
          </a:prstGeom>
          <a:solidFill>
            <a:srgbClr val="E6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Rectangle 109"/>
          <p:cNvSpPr/>
          <p:nvPr/>
        </p:nvSpPr>
        <p:spPr>
          <a:xfrm>
            <a:off x="457200" y="5189220"/>
            <a:ext cx="11292840" cy="214884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TextBox 110"/>
          <p:cNvSpPr txBox="1"/>
          <p:nvPr/>
        </p:nvSpPr>
        <p:spPr>
          <a:xfrm>
            <a:off x="548640" y="5196078"/>
            <a:ext cx="164972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Hanel Giron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381250" y="5196078"/>
            <a:ext cx="30860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Marru Comercial Srl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650229" y="5196078"/>
            <a:ext cx="11544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260,636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987539" y="5196078"/>
            <a:ext cx="11544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43,439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324849" y="5196078"/>
            <a:ext cx="1203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6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638537" y="5207508"/>
            <a:ext cx="1300734" cy="178307"/>
          </a:xfrm>
          <a:prstGeom prst="rect">
            <a:avLst/>
          </a:prstGeom>
          <a:solidFill>
            <a:srgbClr val="FA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TextBox 116"/>
          <p:cNvSpPr txBox="1"/>
          <p:nvPr/>
        </p:nvSpPr>
        <p:spPr>
          <a:xfrm>
            <a:off x="9711689" y="5196078"/>
            <a:ext cx="11544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-165,153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975847" y="5207508"/>
            <a:ext cx="755904" cy="178307"/>
          </a:xfrm>
          <a:prstGeom prst="rect">
            <a:avLst/>
          </a:prstGeom>
          <a:solidFill>
            <a:srgbClr val="FA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11048999" y="5196078"/>
            <a:ext cx="60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-78%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57200" y="5404104"/>
            <a:ext cx="11292840" cy="7315"/>
          </a:xfrm>
          <a:prstGeom prst="rect">
            <a:avLst/>
          </a:prstGeom>
          <a:solidFill>
            <a:srgbClr val="E6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TextBox 120"/>
          <p:cNvSpPr txBox="1"/>
          <p:nvPr/>
        </p:nvSpPr>
        <p:spPr>
          <a:xfrm>
            <a:off x="548640" y="5410962"/>
            <a:ext cx="164972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Wascar Alvarez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381250" y="5410962"/>
            <a:ext cx="30860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Cristo Vive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650229" y="5410962"/>
            <a:ext cx="11544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461,910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987539" y="5410962"/>
            <a:ext cx="11544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76,985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251697" y="5422392"/>
            <a:ext cx="1350264" cy="178307"/>
          </a:xfrm>
          <a:prstGeom prst="rect">
            <a:avLst/>
          </a:prstGeom>
          <a:solidFill>
            <a:srgbClr val="FDF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TextBox 125"/>
          <p:cNvSpPr txBox="1"/>
          <p:nvPr/>
        </p:nvSpPr>
        <p:spPr>
          <a:xfrm>
            <a:off x="8324849" y="5410962"/>
            <a:ext cx="1203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3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638537" y="5422392"/>
            <a:ext cx="1300734" cy="178307"/>
          </a:xfrm>
          <a:prstGeom prst="rect">
            <a:avLst/>
          </a:prstGeom>
          <a:solidFill>
            <a:srgbClr val="FA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TextBox 127"/>
          <p:cNvSpPr txBox="1"/>
          <p:nvPr/>
        </p:nvSpPr>
        <p:spPr>
          <a:xfrm>
            <a:off x="9711689" y="5410962"/>
            <a:ext cx="11544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-461,910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0975847" y="5422392"/>
            <a:ext cx="755904" cy="178307"/>
          </a:xfrm>
          <a:prstGeom prst="rect">
            <a:avLst/>
          </a:prstGeom>
          <a:solidFill>
            <a:srgbClr val="FA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TextBox 129"/>
          <p:cNvSpPr txBox="1"/>
          <p:nvPr/>
        </p:nvSpPr>
        <p:spPr>
          <a:xfrm>
            <a:off x="11048999" y="5410962"/>
            <a:ext cx="60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-100%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57200" y="5618988"/>
            <a:ext cx="11292840" cy="7315"/>
          </a:xfrm>
          <a:prstGeom prst="rect">
            <a:avLst/>
          </a:prstGeom>
          <a:solidFill>
            <a:srgbClr val="E6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Rectangle 131"/>
          <p:cNvSpPr/>
          <p:nvPr/>
        </p:nvSpPr>
        <p:spPr>
          <a:xfrm>
            <a:off x="457200" y="5618988"/>
            <a:ext cx="11292840" cy="214884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TextBox 132"/>
          <p:cNvSpPr txBox="1"/>
          <p:nvPr/>
        </p:nvSpPr>
        <p:spPr>
          <a:xfrm>
            <a:off x="548640" y="5625846"/>
            <a:ext cx="164972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Wascar Alvarez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381250" y="5625846"/>
            <a:ext cx="30860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Comercial Lm Berroa Eirl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650229" y="5625846"/>
            <a:ext cx="11544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223,056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987539" y="5625846"/>
            <a:ext cx="11544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37,176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251697" y="5637276"/>
            <a:ext cx="1350264" cy="178307"/>
          </a:xfrm>
          <a:prstGeom prst="rect">
            <a:avLst/>
          </a:prstGeom>
          <a:solidFill>
            <a:srgbClr val="FDF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TextBox 137"/>
          <p:cNvSpPr txBox="1"/>
          <p:nvPr/>
        </p:nvSpPr>
        <p:spPr>
          <a:xfrm>
            <a:off x="8324849" y="5625846"/>
            <a:ext cx="1203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2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638537" y="5637276"/>
            <a:ext cx="1300734" cy="178307"/>
          </a:xfrm>
          <a:prstGeom prst="rect">
            <a:avLst/>
          </a:prstGeom>
          <a:solidFill>
            <a:srgbClr val="FA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TextBox 139"/>
          <p:cNvSpPr txBox="1"/>
          <p:nvPr/>
        </p:nvSpPr>
        <p:spPr>
          <a:xfrm>
            <a:off x="9711689" y="5625846"/>
            <a:ext cx="11544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-223,056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0975847" y="5637276"/>
            <a:ext cx="755904" cy="178307"/>
          </a:xfrm>
          <a:prstGeom prst="rect">
            <a:avLst/>
          </a:prstGeom>
          <a:solidFill>
            <a:srgbClr val="FA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TextBox 141"/>
          <p:cNvSpPr txBox="1"/>
          <p:nvPr/>
        </p:nvSpPr>
        <p:spPr>
          <a:xfrm>
            <a:off x="11048999" y="5625846"/>
            <a:ext cx="60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-100%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457200" y="5833872"/>
            <a:ext cx="11292840" cy="7315"/>
          </a:xfrm>
          <a:prstGeom prst="rect">
            <a:avLst/>
          </a:prstGeom>
          <a:solidFill>
            <a:srgbClr val="E6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TextBox 143"/>
          <p:cNvSpPr txBox="1"/>
          <p:nvPr/>
        </p:nvSpPr>
        <p:spPr>
          <a:xfrm>
            <a:off x="548640" y="5840730"/>
            <a:ext cx="164972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Wascar Alvarez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381250" y="5840730"/>
            <a:ext cx="30860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Guzman Comercial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650229" y="5840730"/>
            <a:ext cx="11544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273,031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987539" y="5840730"/>
            <a:ext cx="11544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45,505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8251697" y="5852160"/>
            <a:ext cx="1350264" cy="178307"/>
          </a:xfrm>
          <a:prstGeom prst="rect">
            <a:avLst/>
          </a:prstGeom>
          <a:solidFill>
            <a:srgbClr val="FDF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TextBox 148"/>
          <p:cNvSpPr txBox="1"/>
          <p:nvPr/>
        </p:nvSpPr>
        <p:spPr>
          <a:xfrm>
            <a:off x="8324849" y="5840730"/>
            <a:ext cx="1203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3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9638537" y="5852160"/>
            <a:ext cx="1300734" cy="178307"/>
          </a:xfrm>
          <a:prstGeom prst="rect">
            <a:avLst/>
          </a:prstGeom>
          <a:solidFill>
            <a:srgbClr val="FA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1" name="TextBox 150"/>
          <p:cNvSpPr txBox="1"/>
          <p:nvPr/>
        </p:nvSpPr>
        <p:spPr>
          <a:xfrm>
            <a:off x="9711689" y="5840730"/>
            <a:ext cx="11544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-183,352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0975847" y="5852160"/>
            <a:ext cx="755904" cy="178307"/>
          </a:xfrm>
          <a:prstGeom prst="rect">
            <a:avLst/>
          </a:prstGeom>
          <a:solidFill>
            <a:srgbClr val="FA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TextBox 152"/>
          <p:cNvSpPr txBox="1"/>
          <p:nvPr/>
        </p:nvSpPr>
        <p:spPr>
          <a:xfrm>
            <a:off x="11048999" y="5840730"/>
            <a:ext cx="60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3A3A3A"/>
                </a:solidFill>
                <a:latin typeface="Calibri"/>
              </a:rPr>
              <a:t>-80%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57200" y="6048756"/>
            <a:ext cx="11292840" cy="7315"/>
          </a:xfrm>
          <a:prstGeom prst="rect">
            <a:avLst/>
          </a:prstGeom>
          <a:solidFill>
            <a:srgbClr val="E6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Rectangle 154"/>
          <p:cNvSpPr/>
          <p:nvPr/>
        </p:nvSpPr>
        <p:spPr>
          <a:xfrm>
            <a:off x="457200" y="5989320"/>
            <a:ext cx="11292840" cy="438912"/>
          </a:xfrm>
          <a:prstGeom prst="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6" name="Rectangle 155"/>
          <p:cNvSpPr/>
          <p:nvPr/>
        </p:nvSpPr>
        <p:spPr>
          <a:xfrm>
            <a:off x="457200" y="5989320"/>
            <a:ext cx="54864" cy="438912"/>
          </a:xfrm>
          <a:prstGeom prst="rect">
            <a:avLst/>
          </a:prstGeom>
          <a:solidFill>
            <a:srgbClr val="0C9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TextBox 156"/>
          <p:cNvSpPr txBox="1"/>
          <p:nvPr/>
        </p:nvSpPr>
        <p:spPr>
          <a:xfrm>
            <a:off x="658368" y="606247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3A3A3A"/>
                </a:solidFill>
                <a:latin typeface="Calibri"/>
              </a:rPr>
              <a:t>Estos 9 clientes solos explican RD$ 3.8 MM menos de venta en el último trimestre. Jhonny concentra el 80% de RD$ 35.8 MM en 39 clientes: cada caída pesa. Wascar tiene el patrón contrario — clientes que compran 2 o 3 meses de 6 y desaparecen.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509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203F99"/>
                </a:solidFill>
                <a:latin typeface="Calibri"/>
              </a:rPr>
              <a:t>4. Las cinco oportunidades para trabajar hoy con Cristiano</a:t>
            </a:r>
          </a:p>
        </p:txBody>
      </p:sp>
      <p:pic>
        <p:nvPicPr>
          <p:cNvPr id="3" name="Picture 2" descr="logo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28" y="292608"/>
            <a:ext cx="765740" cy="4206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841248"/>
            <a:ext cx="11292840" cy="41148"/>
          </a:xfrm>
          <a:prstGeom prst="rect">
            <a:avLst/>
          </a:prstGeom>
          <a:solidFill>
            <a:srgbClr val="203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57200" y="841248"/>
            <a:ext cx="1463040" cy="41148"/>
          </a:xfrm>
          <a:prstGeom prst="rect">
            <a:avLst/>
          </a:prstGeom>
          <a:solidFill>
            <a:srgbClr val="0C9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941832"/>
            <a:ext cx="11338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6E6E6E"/>
                </a:solidFill>
                <a:latin typeface="Calibri"/>
              </a:rPr>
              <a:t>Ordenadas por tamaño del premio. Cada una con número de clientes, valor estimado y una acción medible en la próxima reunión.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510528"/>
            <a:ext cx="11292840" cy="10972"/>
          </a:xfrm>
          <a:prstGeom prst="rect">
            <a:avLst/>
          </a:prstGeom>
          <a:solidFill>
            <a:srgbClr val="D5D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6E6E6E"/>
                </a:solidFill>
                <a:latin typeface="Calibri"/>
              </a:rPr>
              <a:t>AM Comercial · Confidencial · Fuente: MovilBusiness · Periodo: marzo–agosto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83680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>
                <a:solidFill>
                  <a:srgbClr val="6E6E6E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203F99"/>
                </a:solidFill>
                <a:latin typeface="Calibri"/>
              </a:rPr>
              <a:t>La venta sigue concentrada en la última semana del mes</a:t>
            </a:r>
          </a:p>
        </p:txBody>
      </p:sp>
      <p:pic>
        <p:nvPicPr>
          <p:cNvPr id="11" name="Picture 10" descr="seman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5257800" cy="248009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57200" y="4187952"/>
            <a:ext cx="5394960" cy="173736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57200" y="4187952"/>
            <a:ext cx="50292" cy="17373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85800" y="4334256"/>
            <a:ext cx="49834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51% de la venta entra del 22 al fin de mes y sólo 8% en la primera semana.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A 5 días del cierre todavía falta la mitad del mes: por eso no se sabe si se llega.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Semana 1 + 2 = 29% de la venta del canal.   Meta propuesta: 45%.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Es el problema de fondo detrás de las otras cuatro oportunidades: sin inventario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tomado en el cliente no hay pedido sugerido temprano, y sin pedido temprano la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reactivación y la venta cruzada no caben en la agenda de la última semana.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298448"/>
            <a:ext cx="5486400" cy="877824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263640" y="1298448"/>
            <a:ext cx="50292" cy="877824"/>
          </a:xfrm>
          <a:prstGeom prst="rect">
            <a:avLst/>
          </a:prstGeom>
          <a:solidFill>
            <a:srgbClr val="0C9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6419088" y="142646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C9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19088" y="1490472"/>
            <a:ext cx="310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9712" y="1380744"/>
            <a:ext cx="4818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0C9444"/>
                </a:solidFill>
                <a:latin typeface="Calibri"/>
              </a:rPr>
              <a:t>Reactivar los 223 clientes activos sin compra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1636776"/>
            <a:ext cx="481888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3A3A3A"/>
                </a:solidFill>
                <a:latin typeface="Calibri"/>
              </a:rPr>
              <a:t>Visitados durante 6 meses y nunca facturaron: 77 almacenes, 48 colmados, 25 supermercados. Convertir 1 de cada 4 a la venta mediana = RD$ 4.4 MM.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231136"/>
            <a:ext cx="5486400" cy="877824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263640" y="2231136"/>
            <a:ext cx="50292" cy="877824"/>
          </a:xfrm>
          <a:prstGeom prst="rect">
            <a:avLst/>
          </a:prstGeom>
          <a:solidFill>
            <a:srgbClr val="0C9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6419088" y="235915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C9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19088" y="2423160"/>
            <a:ext cx="310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9712" y="2313432"/>
            <a:ext cx="4818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0C9444"/>
                </a:solidFill>
                <a:latin typeface="Calibri"/>
              </a:rPr>
              <a:t>Venta cruzada Continental y Brinsa en la cartera Unilever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2569464"/>
            <a:ext cx="481888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3A3A3A"/>
                </a:solidFill>
                <a:latin typeface="Calibri"/>
              </a:rPr>
              <a:t>De los 163 clientes que compran César Iglesias con Jhonny y Hanel, 97 no compran Continental y 127 no compran Brinsa. Potencial: RD$ 9.8 MM y RD$ 6.9 MM.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163824"/>
            <a:ext cx="5486400" cy="877824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263640" y="3163824"/>
            <a:ext cx="50292" cy="87782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19088" y="329184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19088" y="3355848"/>
            <a:ext cx="310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3246120"/>
            <a:ext cx="4818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E67E22"/>
                </a:solidFill>
                <a:latin typeface="Calibri"/>
              </a:rPr>
              <a:t>Adelantar la venta a la 1ª y 2ª semana del mes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9712" y="3502152"/>
            <a:ext cx="481888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3A3A3A"/>
                </a:solidFill>
                <a:latin typeface="Calibri"/>
              </a:rPr>
              <a:t>Meta: llevar Sem 1+2 de 29% a 45% de la venta. Requiere pedido sugerido con inventario en el cliente y foco de cobranza temprana.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4096512"/>
            <a:ext cx="5486400" cy="877824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6263640" y="4096512"/>
            <a:ext cx="50292" cy="87782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6419088" y="422452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19088" y="4288536"/>
            <a:ext cx="310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39712" y="4178808"/>
            <a:ext cx="4818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E67E22"/>
                </a:solidFill>
                <a:latin typeface="Calibri"/>
              </a:rPr>
              <a:t>Recuperar los clientes Pareto que se están cayendo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9712" y="4434840"/>
            <a:ext cx="481888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3A3A3A"/>
                </a:solidFill>
                <a:latin typeface="Calibri"/>
              </a:rPr>
              <a:t>9 clientes = RD$ 3.8 MM menos en el trimestre. Visita del supervisor junto al vendedor a los 3 de cada ruta antes de cerrar septiembre.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5029200"/>
            <a:ext cx="5486400" cy="877824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6263640" y="5029200"/>
            <a:ext cx="50292" cy="877824"/>
          </a:xfrm>
          <a:prstGeom prst="rect">
            <a:avLst/>
          </a:prstGeom>
          <a:solidFill>
            <a:srgbClr val="203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6419088" y="515721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03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419088" y="5221224"/>
            <a:ext cx="310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9712" y="5111496"/>
            <a:ext cx="4818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203F99"/>
                </a:solidFill>
                <a:latin typeface="Calibri"/>
              </a:rPr>
              <a:t>Colombina en la cartera de Wascar y Fernando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9712" y="5367528"/>
            <a:ext cx="481888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3A3A3A"/>
                </a:solidFill>
                <a:latin typeface="Calibri"/>
              </a:rPr>
              <a:t>166 clientes del centro 01 compran Continental pero no Colombina. Es el suplidor con más recorrido en almacenes y colmados: RD$ 3.5 MM potenciales.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989320"/>
            <a:ext cx="11292840" cy="438912"/>
          </a:xfrm>
          <a:prstGeom prst="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457200" y="5989320"/>
            <a:ext cx="54864" cy="438912"/>
          </a:xfrm>
          <a:prstGeom prst="rect">
            <a:avLst/>
          </a:prstGeom>
          <a:solidFill>
            <a:srgbClr val="0C9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58368" y="606247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3A3A3A"/>
                </a:solidFill>
                <a:latin typeface="Calibri"/>
              </a:rPr>
              <a:t>Compromiso de la reunión: cerrar septiembre con Sem 1+2 ≥ 40% de la venta, 60 clientes reactivados de los 223 y toma de inventario en los 30 clientes Pareto de cada ruta.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