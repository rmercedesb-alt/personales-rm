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9DB65-7E17-46AB-94FE-86727663CA7F}" v="2" dt="2026-06-18T23:51:18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y Mercedes" userId="0002f573-7c95-4ace-b876-97296f6b7a87" providerId="ADAL" clId="{AF80936C-1C5B-4879-B83E-BACF5C4FB5D6}"/>
    <pc:docChg chg="addSld modSld">
      <pc:chgData name="Rudy Mercedes" userId="0002f573-7c95-4ace-b876-97296f6b7a87" providerId="ADAL" clId="{AF80936C-1C5B-4879-B83E-BACF5C4FB5D6}" dt="2026-06-18T23:49:40.624" v="0"/>
      <pc:docMkLst>
        <pc:docMk/>
      </pc:docMkLst>
      <pc:sldChg chg="add setBg">
        <pc:chgData name="Rudy Mercedes" userId="0002f573-7c95-4ace-b876-97296f6b7a87" providerId="ADAL" clId="{AF80936C-1C5B-4879-B83E-BACF5C4FB5D6}" dt="2026-06-18T23:49:40.624" v="0"/>
        <pc:sldMkLst>
          <pc:docMk/>
          <pc:sldMk cId="3943539785" sldId="26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8100" cap="flat">
              <a:solidFill>
                <a:srgbClr val="1A5C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5CA8"/>
              </a:solidFill>
              <a:ln w="9525" cap="flat">
                <a:solidFill>
                  <a:srgbClr val="1A5CA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endParaRPr lang="es-D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9367135</c:v>
                </c:pt>
                <c:pt idx="1">
                  <c:v>8095318</c:v>
                </c:pt>
                <c:pt idx="2">
                  <c:v>8362293</c:v>
                </c:pt>
                <c:pt idx="3">
                  <c:v>7285664</c:v>
                </c:pt>
                <c:pt idx="4">
                  <c:v>7236209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01-4B1A-8C1E-10D17631B1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38100" cap="flat">
              <a:solidFill>
                <a:srgbClr val="E8A0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endParaRPr lang="es-D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7495020</c:v>
                </c:pt>
                <c:pt idx="1">
                  <c:v>7084851</c:v>
                </c:pt>
                <c:pt idx="2">
                  <c:v>7211892</c:v>
                </c:pt>
                <c:pt idx="3">
                  <c:v>6880151</c:v>
                </c:pt>
                <c:pt idx="4">
                  <c:v>7921745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01-4B1A-8C1E-10D17631B1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A5C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endParaRPr lang="es-D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10324</c:v>
                </c:pt>
                <c:pt idx="1">
                  <c:v>9614</c:v>
                </c:pt>
                <c:pt idx="2">
                  <c:v>9909</c:v>
                </c:pt>
                <c:pt idx="3">
                  <c:v>8395</c:v>
                </c:pt>
                <c:pt idx="4">
                  <c:v>8094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33-4FEB-B42A-86275B566D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endParaRPr lang="es-D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9738</c:v>
                </c:pt>
                <c:pt idx="1">
                  <c:v>9990</c:v>
                </c:pt>
                <c:pt idx="2">
                  <c:v>10171</c:v>
                </c:pt>
                <c:pt idx="3">
                  <c:v>10228</c:v>
                </c:pt>
                <c:pt idx="4">
                  <c:v>10628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33-4FEB-B42A-86275B566D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A5C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endParaRPr lang="es-D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Bolones</c:v>
                </c:pt>
                <c:pt idx="1">
                  <c:v>Car. Duros</c:v>
                </c:pt>
                <c:pt idx="2">
                  <c:v>Grissly Snack</c:v>
                </c:pt>
                <c:pt idx="3">
                  <c:v>Paletas</c:v>
                </c:pt>
                <c:pt idx="4">
                  <c:v>Cichlet</c:v>
                </c:pt>
                <c:pt idx="5">
                  <c:v>Gomas</c:v>
                </c:pt>
                <c:pt idx="6">
                  <c:v>Chocolatería</c:v>
                </c:pt>
                <c:pt idx="7">
                  <c:v>Car. Blandos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17464928</c:v>
                </c:pt>
                <c:pt idx="1">
                  <c:v>8321834</c:v>
                </c:pt>
                <c:pt idx="2">
                  <c:v>4714153</c:v>
                </c:pt>
                <c:pt idx="3">
                  <c:v>3970918</c:v>
                </c:pt>
                <c:pt idx="4">
                  <c:v>3150587</c:v>
                </c:pt>
                <c:pt idx="5">
                  <c:v>1434556</c:v>
                </c:pt>
                <c:pt idx="6">
                  <c:v>1126040</c:v>
                </c:pt>
                <c:pt idx="7">
                  <c:v>163602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48-4888-8BD8-BB1E21D727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endParaRPr lang="es-D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Bolones</c:v>
                </c:pt>
                <c:pt idx="1">
                  <c:v>Car. Duros</c:v>
                </c:pt>
                <c:pt idx="2">
                  <c:v>Grissly Snack</c:v>
                </c:pt>
                <c:pt idx="3">
                  <c:v>Paletas</c:v>
                </c:pt>
                <c:pt idx="4">
                  <c:v>Cichlet</c:v>
                </c:pt>
                <c:pt idx="5">
                  <c:v>Gomas</c:v>
                </c:pt>
                <c:pt idx="6">
                  <c:v>Chocolatería</c:v>
                </c:pt>
                <c:pt idx="7">
                  <c:v>Car. Blandos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16628825</c:v>
                </c:pt>
                <c:pt idx="1">
                  <c:v>8967234</c:v>
                </c:pt>
                <c:pt idx="2">
                  <c:v>1474685</c:v>
                </c:pt>
                <c:pt idx="3">
                  <c:v>4087560</c:v>
                </c:pt>
                <c:pt idx="4">
                  <c:v>2425681</c:v>
                </c:pt>
                <c:pt idx="5">
                  <c:v>1820510</c:v>
                </c:pt>
                <c:pt idx="6">
                  <c:v>1180953</c:v>
                </c:pt>
                <c:pt idx="7">
                  <c:v>8210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48-4888-8BD8-BB1E21D72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Bolones 2026</c:v>
                </c:pt>
              </c:strCache>
            </c:strRef>
          </c:tx>
          <c:spPr>
            <a:ln w="31750" cap="flat">
              <a:solidFill>
                <a:srgbClr val="1A5C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5CA8"/>
              </a:solidFill>
              <a:ln w="9525" cap="flat">
                <a:solidFill>
                  <a:srgbClr val="1A5CA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3957729</c:v>
                </c:pt>
                <c:pt idx="1">
                  <c:v>3009633</c:v>
                </c:pt>
                <c:pt idx="2">
                  <c:v>3759955</c:v>
                </c:pt>
                <c:pt idx="3">
                  <c:v>3304323</c:v>
                </c:pt>
                <c:pt idx="4">
                  <c:v>3433289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DB-43A1-B5A5-484F4BE3E8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Car. Duros 2026</c:v>
                </c:pt>
              </c:strCache>
            </c:strRef>
          </c:tx>
          <c:spPr>
            <a:ln w="31750" cap="flat">
              <a:solidFill>
                <a:srgbClr val="1A7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4A"/>
              </a:solidFill>
              <a:ln w="9525" cap="flat">
                <a:solidFill>
                  <a:srgbClr val="1A7A4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1855281</c:v>
                </c:pt>
                <c:pt idx="1">
                  <c:v>1565409</c:v>
                </c:pt>
                <c:pt idx="2">
                  <c:v>1775724</c:v>
                </c:pt>
                <c:pt idx="3">
                  <c:v>1502633</c:v>
                </c:pt>
                <c:pt idx="4">
                  <c:v>1622786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DB-43A1-B5A5-484F4BE3E8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Grissly 2026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1208261</c:v>
                </c:pt>
                <c:pt idx="1">
                  <c:v>1080974</c:v>
                </c:pt>
                <c:pt idx="2">
                  <c:v>868936</c:v>
                </c:pt>
                <c:pt idx="3">
                  <c:v>806661</c:v>
                </c:pt>
                <c:pt idx="4">
                  <c:v>749321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EDB-43A1-B5A5-484F4BE3E8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Paletas 2026</c:v>
                </c:pt>
              </c:strCache>
            </c:strRef>
          </c:tx>
          <c:spPr>
            <a:ln w="31750" cap="flat">
              <a:solidFill>
                <a:srgbClr val="E8A0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843205</c:v>
                </c:pt>
                <c:pt idx="1">
                  <c:v>1076769</c:v>
                </c:pt>
                <c:pt idx="2">
                  <c:v>759218</c:v>
                </c:pt>
                <c:pt idx="3">
                  <c:v>718455</c:v>
                </c:pt>
                <c:pt idx="4">
                  <c:v>573271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EDB-43A1-B5A5-484F4BE3E8E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Cichlet 2026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736296</c:v>
                </c:pt>
                <c:pt idx="1">
                  <c:v>727835</c:v>
                </c:pt>
                <c:pt idx="2">
                  <c:v>686380</c:v>
                </c:pt>
                <c:pt idx="3">
                  <c:v>534914</c:v>
                </c:pt>
                <c:pt idx="4">
                  <c:v>465162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EDB-43A1-B5A5-484F4BE3E8E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Bolones 2025</c:v>
                </c:pt>
              </c:strCache>
            </c:strRef>
          </c:tx>
          <c:spPr>
            <a:ln w="31750" cap="flat">
              <a:solidFill>
                <a:srgbClr val="88B0D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8B0DC"/>
              </a:solidFill>
              <a:ln w="9525" cap="flat">
                <a:solidFill>
                  <a:srgbClr val="88B0D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3524240</c:v>
                </c:pt>
                <c:pt idx="1">
                  <c:v>3123008</c:v>
                </c:pt>
                <c:pt idx="2">
                  <c:v>3536287</c:v>
                </c:pt>
                <c:pt idx="3">
                  <c:v>3078864</c:v>
                </c:pt>
                <c:pt idx="4">
                  <c:v>3366425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EDB-43A1-B5A5-484F4BE3E8E5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Car. Duros 2025</c:v>
                </c:pt>
              </c:strCache>
            </c:strRef>
          </c:tx>
          <c:spPr>
            <a:ln w="31750" cap="flat">
              <a:solidFill>
                <a:srgbClr val="6DB89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DB892"/>
              </a:solidFill>
              <a:ln w="9525" cap="flat">
                <a:solidFill>
                  <a:srgbClr val="6DB89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1890029</c:v>
                </c:pt>
                <c:pt idx="1">
                  <c:v>1699827</c:v>
                </c:pt>
                <c:pt idx="2">
                  <c:v>1685469</c:v>
                </c:pt>
                <c:pt idx="3">
                  <c:v>1641994</c:v>
                </c:pt>
                <c:pt idx="4">
                  <c:v>2049915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EDB-43A1-B5A5-484F4BE3E8E5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Grissly 2025</c:v>
                </c:pt>
              </c:strCache>
            </c:strRef>
          </c:tx>
          <c:spPr>
            <a:ln w="31750" cap="flat">
              <a:solidFill>
                <a:srgbClr val="88D0D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8D0DE"/>
              </a:solidFill>
              <a:ln w="9525" cap="flat">
                <a:solidFill>
                  <a:srgbClr val="88D0DE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240966</c:v>
                </c:pt>
                <c:pt idx="1">
                  <c:v>248284</c:v>
                </c:pt>
                <c:pt idx="2">
                  <c:v>246442</c:v>
                </c:pt>
                <c:pt idx="3">
                  <c:v>368976</c:v>
                </c:pt>
                <c:pt idx="4">
                  <c:v>370017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EDB-43A1-B5A5-484F4BE3E8E5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Paletas 2025</c:v>
                </c:pt>
              </c:strCache>
            </c:strRef>
          </c:tx>
          <c:spPr>
            <a:ln w="31750" cap="flat">
              <a:solidFill>
                <a:srgbClr val="F5CA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CA80"/>
              </a:solidFill>
              <a:ln w="9525" cap="flat">
                <a:solidFill>
                  <a:srgbClr val="F5CA8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Sheet1!$J$2:$J$6</c:f>
              <c:numCache>
                <c:formatCode>General</c:formatCode>
                <c:ptCount val="5"/>
                <c:pt idx="0">
                  <c:v>857307</c:v>
                </c:pt>
                <c:pt idx="1">
                  <c:v>1016962</c:v>
                </c:pt>
                <c:pt idx="2">
                  <c:v>727810</c:v>
                </c:pt>
                <c:pt idx="3">
                  <c:v>645566</c:v>
                </c:pt>
                <c:pt idx="4">
                  <c:v>839915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DEDB-43A1-B5A5-484F4BE3E8E5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Cichlet 2025</c:v>
                </c:pt>
              </c:strCache>
            </c:strRef>
          </c:tx>
          <c:spPr>
            <a:ln w="31750" cap="flat">
              <a:solidFill>
                <a:srgbClr val="C4A8F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A8F5"/>
              </a:solidFill>
              <a:ln w="9525" cap="flat">
                <a:solidFill>
                  <a:srgbClr val="C4A8F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Sheet1!$K$2:$K$6</c:f>
              <c:numCache>
                <c:formatCode>General</c:formatCode>
                <c:ptCount val="5"/>
                <c:pt idx="0">
                  <c:v>565094</c:v>
                </c:pt>
                <c:pt idx="1">
                  <c:v>384836</c:v>
                </c:pt>
                <c:pt idx="2">
                  <c:v>409323</c:v>
                </c:pt>
                <c:pt idx="3">
                  <c:v>431332</c:v>
                </c:pt>
                <c:pt idx="4">
                  <c:v>635096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DEDB-43A1-B5A5-484F4BE3E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 L. Piña Bello ▲</c:v>
                </c:pt>
              </c:strCache>
            </c:strRef>
          </c:tx>
          <c:spPr>
            <a:ln w="31750" cap="flat">
              <a:solidFill>
                <a:srgbClr val="1A5C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5CA8"/>
              </a:solidFill>
              <a:ln w="9525" cap="flat">
                <a:solidFill>
                  <a:srgbClr val="1A5CA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2956787</c:v>
                </c:pt>
                <c:pt idx="1">
                  <c:v>2577484</c:v>
                </c:pt>
                <c:pt idx="2">
                  <c:v>2585346</c:v>
                </c:pt>
                <c:pt idx="3">
                  <c:v>2364581</c:v>
                </c:pt>
                <c:pt idx="4">
                  <c:v>2315097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01-4EEA-BD8C-C8F591AEE9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SDE Pimentel ▲</c:v>
                </c:pt>
              </c:strCache>
            </c:strRef>
          </c:tx>
          <c:spPr>
            <a:ln w="3175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1415385</c:v>
                </c:pt>
                <c:pt idx="1">
                  <c:v>1168600</c:v>
                </c:pt>
                <c:pt idx="2">
                  <c:v>1199981</c:v>
                </c:pt>
                <c:pt idx="3">
                  <c:v>1134895</c:v>
                </c:pt>
                <c:pt idx="4">
                  <c:v>975516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01-4EEA-BD8C-C8F591AEE9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Sur Corto (SC) ▲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1064249</c:v>
                </c:pt>
                <c:pt idx="1">
                  <c:v>1072689</c:v>
                </c:pt>
                <c:pt idx="2">
                  <c:v>1265277</c:v>
                </c:pt>
                <c:pt idx="3">
                  <c:v>1120302</c:v>
                </c:pt>
                <c:pt idx="4">
                  <c:v>1201360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E01-4EEA-BD8C-C8F591AEE9A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SDN Valenzuela →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1107834</c:v>
                </c:pt>
                <c:pt idx="1">
                  <c:v>962723</c:v>
                </c:pt>
                <c:pt idx="2">
                  <c:v>999395</c:v>
                </c:pt>
                <c:pt idx="3">
                  <c:v>902874</c:v>
                </c:pt>
                <c:pt idx="4">
                  <c:v>900878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E01-4EEA-BD8C-C8F591AEE9A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SDO F.Martínez ↘</c:v>
                </c:pt>
              </c:strCache>
            </c:strRef>
          </c:tx>
          <c:spPr>
            <a:ln w="31750" cap="flat">
              <a:solidFill>
                <a:srgbClr val="E8A0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1221518</c:v>
                </c:pt>
                <c:pt idx="1">
                  <c:v>994981</c:v>
                </c:pt>
                <c:pt idx="2">
                  <c:v>1007879</c:v>
                </c:pt>
                <c:pt idx="3">
                  <c:v>684964</c:v>
                </c:pt>
                <c:pt idx="4">
                  <c:v>702529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E01-4EEA-BD8C-C8F591AEE9A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DN F.Martínez ↘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859832</c:v>
                </c:pt>
                <c:pt idx="1">
                  <c:v>729691</c:v>
                </c:pt>
                <c:pt idx="2">
                  <c:v>741407</c:v>
                </c:pt>
                <c:pt idx="3">
                  <c:v>609175</c:v>
                </c:pt>
                <c:pt idx="4">
                  <c:v>580691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E01-4EEA-BD8C-C8F591AEE9A3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BC Pimentel ↘↘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339440</c:v>
                </c:pt>
                <c:pt idx="1">
                  <c:v>307547</c:v>
                </c:pt>
                <c:pt idx="2">
                  <c:v>324475</c:v>
                </c:pt>
                <c:pt idx="3">
                  <c:v>302755</c:v>
                </c:pt>
                <c:pt idx="4">
                  <c:v>284433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E01-4EEA-BD8C-C8F591AEE9A3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Cristiano (Trad) ↘</c:v>
                </c:pt>
              </c:strCache>
            </c:strRef>
          </c:tx>
          <c:spPr>
            <a:ln w="31750" cap="flat">
              <a:solidFill>
                <a:srgbClr val="F871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87171"/>
              </a:solidFill>
              <a:ln w="9525" cap="flat">
                <a:solidFill>
                  <a:srgbClr val="F8717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401895</c:v>
                </c:pt>
                <c:pt idx="1">
                  <c:v>281509</c:v>
                </c:pt>
                <c:pt idx="2">
                  <c:v>238161</c:v>
                </c:pt>
                <c:pt idx="3">
                  <c:v>165922</c:v>
                </c:pt>
                <c:pt idx="4">
                  <c:v>275054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3E01-4EEA-BD8C-C8F591AEE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A5C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endParaRPr lang="es-D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 Grande</c:v>
                </c:pt>
                <c:pt idx="1">
                  <c:v>B Mediano</c:v>
                </c:pt>
                <c:pt idx="2">
                  <c:v>C Pequeño</c:v>
                </c:pt>
                <c:pt idx="3">
                  <c:v>D1</c:v>
                </c:pt>
                <c:pt idx="4">
                  <c:v>D2</c:v>
                </c:pt>
                <c:pt idx="5">
                  <c:v>D4</c:v>
                </c:pt>
                <c:pt idx="6">
                  <c:v>D3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17246501</c:v>
                </c:pt>
                <c:pt idx="1">
                  <c:v>12750237</c:v>
                </c:pt>
                <c:pt idx="2">
                  <c:v>4942025</c:v>
                </c:pt>
                <c:pt idx="3">
                  <c:v>2732139</c:v>
                </c:pt>
                <c:pt idx="4">
                  <c:v>1497492</c:v>
                </c:pt>
                <c:pt idx="5">
                  <c:v>702205</c:v>
                </c:pt>
                <c:pt idx="6">
                  <c:v>401155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76-4D49-97A5-00F5109101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endParaRPr lang="es-D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 Grande</c:v>
                </c:pt>
                <c:pt idx="1">
                  <c:v>B Mediano</c:v>
                </c:pt>
                <c:pt idx="2">
                  <c:v>C Pequeño</c:v>
                </c:pt>
                <c:pt idx="3">
                  <c:v>D1</c:v>
                </c:pt>
                <c:pt idx="4">
                  <c:v>D2</c:v>
                </c:pt>
                <c:pt idx="5">
                  <c:v>D4</c:v>
                </c:pt>
                <c:pt idx="6">
                  <c:v>D3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15633073</c:v>
                </c:pt>
                <c:pt idx="1">
                  <c:v>11879560</c:v>
                </c:pt>
                <c:pt idx="2">
                  <c:v>4496373</c:v>
                </c:pt>
                <c:pt idx="3">
                  <c:v>2554658</c:v>
                </c:pt>
                <c:pt idx="4">
                  <c:v>1223597</c:v>
                </c:pt>
                <c:pt idx="5">
                  <c:v>614096</c:v>
                </c:pt>
                <c:pt idx="6">
                  <c:v>182002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76-4D49-97A5-00F5109101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83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2738F-A7D0-4EAB-495F-4FB2990C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98A78-1746-3734-64BC-ADFDFD105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EFC39-9DDC-2AD9-D23D-B377F68E5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47EBF-707D-A312-396C-48D5342471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48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Ventas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Colombina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9260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A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Ene–May 2026 vs 2025  |  Revisión Comercial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4572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  —  Confidencial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49440" y="1005840"/>
            <a:ext cx="1874520" cy="2926080"/>
          </a:xfrm>
          <a:prstGeom prst="rect">
            <a:avLst/>
          </a:prstGeom>
          <a:solidFill>
            <a:srgbClr val="253D6A"/>
          </a:solidFill>
          <a:ln w="12700">
            <a:solidFill>
              <a:srgbClr val="253D6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Text 5"/>
          <p:cNvSpPr/>
          <p:nvPr/>
        </p:nvSpPr>
        <p:spPr>
          <a:xfrm>
            <a:off x="6995160" y="12801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RD$40.3M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95160" y="1874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0" y="2212848"/>
            <a:ext cx="1554480" cy="0"/>
          </a:xfrm>
          <a:prstGeom prst="line">
            <a:avLst/>
          </a:prstGeom>
          <a:noFill/>
          <a:ln w="6350">
            <a:solidFill>
              <a:srgbClr val="3D5A8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6995160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RD$36.6M
2025  (+10.3%)
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0" y="2898648"/>
            <a:ext cx="1554480" cy="0"/>
          </a:xfrm>
          <a:prstGeom prst="line">
            <a:avLst/>
          </a:prstGeom>
          <a:noFill/>
          <a:ln w="6350">
            <a:solidFill>
              <a:srgbClr val="3D5A8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2" name="Text 10"/>
          <p:cNvSpPr/>
          <p:nvPr/>
        </p:nvSpPr>
        <p:spPr>
          <a:xfrm>
            <a:off x="6995160" y="294436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Activ. 2026: ↘ 8,094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10,628 (may 2025)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Galletería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250F1-4759-CF8E-5DFC-6208430A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08AC25-4EEA-C7AF-F404-45934BDE6C6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E7E95C-AB34-AB80-FEF0-CEE587F4CBF1}"/>
              </a:ext>
            </a:extLst>
          </p:cNvPr>
          <p:cNvSpPr/>
          <p:nvPr/>
        </p:nvSpPr>
        <p:spPr>
          <a:xfrm>
            <a:off x="411480" y="77724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Ventas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Colombina</a:t>
            </a:r>
            <a:endParaRPr lang="en-US" sz="4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99F711-683E-9E26-4C96-A0B7E5E2223D}"/>
              </a:ext>
            </a:extLst>
          </p:cNvPr>
          <p:cNvSpPr/>
          <p:nvPr/>
        </p:nvSpPr>
        <p:spPr>
          <a:xfrm>
            <a:off x="411480" y="29260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A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Ene–May 2026 vs 2025  |  Revisión Comercial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0561D4-727E-3F03-C6C3-054D84A2379A}"/>
              </a:ext>
            </a:extLst>
          </p:cNvPr>
          <p:cNvSpPr/>
          <p:nvPr/>
        </p:nvSpPr>
        <p:spPr>
          <a:xfrm>
            <a:off x="411480" y="4572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  —  Confidencial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C17F12C-2436-0658-E253-ED18A5B11EEA}"/>
              </a:ext>
            </a:extLst>
          </p:cNvPr>
          <p:cNvSpPr/>
          <p:nvPr/>
        </p:nvSpPr>
        <p:spPr>
          <a:xfrm>
            <a:off x="6949440" y="1005840"/>
            <a:ext cx="1874520" cy="2926080"/>
          </a:xfrm>
          <a:prstGeom prst="rect">
            <a:avLst/>
          </a:prstGeom>
          <a:solidFill>
            <a:srgbClr val="253D6A"/>
          </a:solidFill>
          <a:ln w="12700">
            <a:solidFill>
              <a:srgbClr val="253D6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62210D-227D-602A-785A-D2C3D48E6022}"/>
              </a:ext>
            </a:extLst>
          </p:cNvPr>
          <p:cNvSpPr/>
          <p:nvPr/>
        </p:nvSpPr>
        <p:spPr>
          <a:xfrm>
            <a:off x="6995160" y="12801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RD$40.3M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A15897F-CB54-C354-EBE1-EFEE89CA2610}"/>
              </a:ext>
            </a:extLst>
          </p:cNvPr>
          <p:cNvSpPr/>
          <p:nvPr/>
        </p:nvSpPr>
        <p:spPr>
          <a:xfrm>
            <a:off x="6995160" y="1874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2026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8584A00-DF1E-084D-31FF-B4E349077C8B}"/>
              </a:ext>
            </a:extLst>
          </p:cNvPr>
          <p:cNvSpPr/>
          <p:nvPr/>
        </p:nvSpPr>
        <p:spPr>
          <a:xfrm>
            <a:off x="7132320" y="2212848"/>
            <a:ext cx="1554480" cy="0"/>
          </a:xfrm>
          <a:prstGeom prst="line">
            <a:avLst/>
          </a:prstGeom>
          <a:noFill/>
          <a:ln w="6350">
            <a:solidFill>
              <a:srgbClr val="3D5A8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A044AB-C381-007B-DEFB-6BCAFB6D1BCC}"/>
              </a:ext>
            </a:extLst>
          </p:cNvPr>
          <p:cNvSpPr/>
          <p:nvPr/>
        </p:nvSpPr>
        <p:spPr>
          <a:xfrm>
            <a:off x="6995160" y="2286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RD$36.6M
2025  (+10.3%)
</a:t>
            </a:r>
            <a:endParaRPr lang="en-US" sz="9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864F388-1C3F-86C9-568D-4908F8116287}"/>
              </a:ext>
            </a:extLst>
          </p:cNvPr>
          <p:cNvSpPr/>
          <p:nvPr/>
        </p:nvSpPr>
        <p:spPr>
          <a:xfrm>
            <a:off x="7132320" y="2898648"/>
            <a:ext cx="1554480" cy="0"/>
          </a:xfrm>
          <a:prstGeom prst="line">
            <a:avLst/>
          </a:prstGeom>
          <a:noFill/>
          <a:ln w="6350">
            <a:solidFill>
              <a:srgbClr val="3D5A8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D9FDBD0-9849-B561-2871-F263DE9D0510}"/>
              </a:ext>
            </a:extLst>
          </p:cNvPr>
          <p:cNvSpPr/>
          <p:nvPr/>
        </p:nvSpPr>
        <p:spPr>
          <a:xfrm>
            <a:off x="6995160" y="294436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Activ. 2026: ↘ 8,094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10,628 (may 2025)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Galletería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4353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— Ene–May 2026 vs 2025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64008" cy="1170432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521208" y="969264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RD$40.3M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157276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brutas 2026  (+10.3% vs 2025)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36392" y="8412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9" name="Shape 7"/>
          <p:cNvSpPr/>
          <p:nvPr/>
        </p:nvSpPr>
        <p:spPr>
          <a:xfrm>
            <a:off x="3136392" y="841248"/>
            <a:ext cx="64008" cy="1170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3291840" y="969264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RD$36.6M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brutas 2025  (base comparación)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07024" y="8412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3" name="Shape 11"/>
          <p:cNvSpPr/>
          <p:nvPr/>
        </p:nvSpPr>
        <p:spPr>
          <a:xfrm>
            <a:off x="5907024" y="841248"/>
            <a:ext cx="6400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4" name="Text 12"/>
          <p:cNvSpPr/>
          <p:nvPr/>
        </p:nvSpPr>
        <p:spPr>
          <a:xfrm>
            <a:off x="6062472" y="969264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8,094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62472" y="157276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Activaciones may 2026  (vs 10,628 may 2025)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128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64008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8" name="Text 16"/>
          <p:cNvSpPr/>
          <p:nvPr/>
        </p:nvSpPr>
        <p:spPr>
          <a:xfrm>
            <a:off x="521208" y="2340864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RD$894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21208" y="294436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size may 2026  (vs RD$745 may 2025)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36392" y="22128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1" name="Shape 19"/>
          <p:cNvSpPr/>
          <p:nvPr/>
        </p:nvSpPr>
        <p:spPr>
          <a:xfrm>
            <a:off x="3136392" y="2212848"/>
            <a:ext cx="6400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2" name="Text 20"/>
          <p:cNvSpPr/>
          <p:nvPr/>
        </p:nvSpPr>
        <p:spPr>
          <a:xfrm>
            <a:off x="3291840" y="2340864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-24%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91840" y="294436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activaciones ene→may 2026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07024" y="22128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5" name="Shape 23"/>
          <p:cNvSpPr/>
          <p:nvPr/>
        </p:nvSpPr>
        <p:spPr>
          <a:xfrm>
            <a:off x="5907024" y="2212848"/>
            <a:ext cx="64008" cy="1170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6" name="Text 24"/>
          <p:cNvSpPr/>
          <p:nvPr/>
        </p:nvSpPr>
        <p:spPr>
          <a:xfrm>
            <a:off x="6062472" y="2340864"/>
            <a:ext cx="2386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+10.3%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062472" y="294436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ventas brutas totales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456432"/>
            <a:ext cx="8412480" cy="13716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9" name="Shape 27"/>
          <p:cNvSpPr/>
          <p:nvPr/>
        </p:nvSpPr>
        <p:spPr>
          <a:xfrm>
            <a:off x="365760" y="3456432"/>
            <a:ext cx="64008" cy="137160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0" name="Text 28"/>
          <p:cNvSpPr/>
          <p:nvPr/>
        </p:nvSpPr>
        <p:spPr>
          <a:xfrm>
            <a:off x="530352" y="3566160"/>
            <a:ext cx="8138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clave: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ventas brutas crecieron +10.3% vs 2025, impulsadas por el alza en drop size (RD$745→894/cliente). Sin embargo, las activaciones cayeron de 10,628 (may 2025) a 8,094 (may 2026) — se vende más por cliente pero a menos clientes. El riesgo: si el drop size se normaliza, el volumen cae. Además, Sur Corto y Sur L. crecen, mientras BC (-38%), SDO (-4%) y DN (-9%) retroceden.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ventas mensual — 2025 vs 2026 (ValorBruto RD$)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49808"/>
          <a:ext cx="65836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822960"/>
            <a:ext cx="16916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6" name="Shape 3"/>
          <p:cNvSpPr/>
          <p:nvPr/>
        </p:nvSpPr>
        <p:spPr>
          <a:xfrm>
            <a:off x="7132320" y="822960"/>
            <a:ext cx="54864" cy="640080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Text 4"/>
          <p:cNvSpPr/>
          <p:nvPr/>
        </p:nvSpPr>
        <p:spPr>
          <a:xfrm>
            <a:off x="7242048" y="85953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RD$40.3M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42048" y="11612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acumulado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132320" y="1581912"/>
            <a:ext cx="16916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0" name="Shape 7"/>
          <p:cNvSpPr/>
          <p:nvPr/>
        </p:nvSpPr>
        <p:spPr>
          <a:xfrm>
            <a:off x="7132320" y="1581912"/>
            <a:ext cx="54864" cy="6400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1" name="Text 8"/>
          <p:cNvSpPr/>
          <p:nvPr/>
        </p:nvSpPr>
        <p:spPr>
          <a:xfrm>
            <a:off x="7242048" y="1618488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RD$36.6M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42048" y="1920240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acumulado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132320" y="2340864"/>
            <a:ext cx="16916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4" name="Shape 11"/>
          <p:cNvSpPr/>
          <p:nvPr/>
        </p:nvSpPr>
        <p:spPr>
          <a:xfrm>
            <a:off x="7132320" y="2340864"/>
            <a:ext cx="54864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5" name="Text 12"/>
          <p:cNvSpPr/>
          <p:nvPr/>
        </p:nvSpPr>
        <p:spPr>
          <a:xfrm>
            <a:off x="7242048" y="2377440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+10.3%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42048" y="2679192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total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132320" y="3099816"/>
            <a:ext cx="16916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8" name="Shape 15"/>
          <p:cNvSpPr/>
          <p:nvPr/>
        </p:nvSpPr>
        <p:spPr>
          <a:xfrm>
            <a:off x="7132320" y="3099816"/>
            <a:ext cx="54864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9" name="Text 16"/>
          <p:cNvSpPr/>
          <p:nvPr/>
        </p:nvSpPr>
        <p:spPr>
          <a:xfrm>
            <a:off x="7242048" y="313639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RD$7.2M (May)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242048" y="3438144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mes 2026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132320" y="3858768"/>
            <a:ext cx="1691640" cy="6400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2" name="Shape 19"/>
          <p:cNvSpPr/>
          <p:nvPr/>
        </p:nvSpPr>
        <p:spPr>
          <a:xfrm>
            <a:off x="7132320" y="3858768"/>
            <a:ext cx="54864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3" name="Text 20"/>
          <p:cNvSpPr/>
          <p:nvPr/>
        </p:nvSpPr>
        <p:spPr>
          <a:xfrm>
            <a:off x="7242048" y="3895344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RD$9.4M (Ene)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242048" y="4197096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mes 2026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6" name="Shape 23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7" name="Text 24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supera a 2025 en Ene y Mar, pero la brecha se cierra en May. La caída de activaciones explica por qué el volumen converge a pesar del drop size más alto.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Activaciones mensuales — clientes únicos que compraron Colombina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49808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914400"/>
          <a:ext cx="214884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629400" y="3493008"/>
            <a:ext cx="2148840" cy="123444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Shape 3"/>
          <p:cNvSpPr/>
          <p:nvPr/>
        </p:nvSpPr>
        <p:spPr>
          <a:xfrm>
            <a:off x="6629400" y="3493008"/>
            <a:ext cx="54864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8" name="Text 4"/>
          <p:cNvSpPr/>
          <p:nvPr/>
        </p:nvSpPr>
        <p:spPr>
          <a:xfrm>
            <a:off x="6739128" y="3566160"/>
            <a:ext cx="19842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2026 arrancó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que 2025.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cayó -23.8%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mayo.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0" name="Shape 6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1" name="Text 7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tendencia 2026 es preocupante: mientras 2025 crecía (9,738→10,628), 2026 cae (10,324→8,094). Menos clientes activos cada mes — diagnóstico urgente por zona.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categoría — Ene–May 2026 vs 2025 (sin Galletería)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49808"/>
          <a:ext cx="58521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749808"/>
          <a:ext cx="237744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Car. Duros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Grissly Snack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219.7%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2.9%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Cichlet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29.9%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Gomas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21.2%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Chocolatería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Car. Blandos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1892.7%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Shape 3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8" name="Text 4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Grissly Snack explotó: +220% (RD$1.5M→4.7M). Cichlet +30%. Bolones +5%. En cambio, Gomas -21%, Car. Duros -7%, Chocolatería -5% y Paletas -3% retroceden.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mensual por categoría — 2025 (punteado) vs 2026 (sólido)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49808"/>
          <a:ext cx="84124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343400"/>
            <a:ext cx="4023360" cy="56692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6" name="Shape 3"/>
          <p:cNvSpPr/>
          <p:nvPr/>
        </p:nvSpPr>
        <p:spPr>
          <a:xfrm>
            <a:off x="365760" y="4343400"/>
            <a:ext cx="64008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Text 4"/>
          <p:cNvSpPr/>
          <p:nvPr/>
        </p:nvSpPr>
        <p:spPr>
          <a:xfrm>
            <a:off x="502920" y="43891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Grissly Snack 2026 inició en RD$1.2M (vs RD$241K en 2025), pero cae mes a mes hacia RD$749K. Nuevo SKU que pierde impulso.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0" y="4343400"/>
            <a:ext cx="4206240" cy="566928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9" name="Shape 6"/>
          <p:cNvSpPr/>
          <p:nvPr/>
        </p:nvSpPr>
        <p:spPr>
          <a:xfrm>
            <a:off x="4572000" y="4343400"/>
            <a:ext cx="64008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0" name="Text 7"/>
          <p:cNvSpPr/>
          <p:nvPr/>
        </p:nvSpPr>
        <p:spPr>
          <a:xfrm>
            <a:off x="4709160" y="438912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Paletas 2026 debajo de 2025 en todo el período. Car. Duros 2026 pierde la recuperación que tuvo 2025 en mayo. Señales de presión en categorías clave.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zona supervisada — 2025 vs 2026 (mensual)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49808"/>
          <a:ext cx="8412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343400"/>
            <a:ext cx="4114800" cy="566928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6" name="Shape 3"/>
          <p:cNvSpPr/>
          <p:nvPr/>
        </p:nvSpPr>
        <p:spPr>
          <a:xfrm>
            <a:off x="365760" y="4343400"/>
            <a:ext cx="6400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Text 4"/>
          <p:cNvSpPr/>
          <p:nvPr/>
        </p:nvSpPr>
        <p:spPr>
          <a:xfrm>
            <a:off x="502920" y="4389120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(Pimentel) -38%, SDO -4%, DN -9%, Cristiano -14%. Estas zonas pierden volumen mes a mes desde enero 2026.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4343400"/>
            <a:ext cx="4114800" cy="566928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9" name="Shape 6"/>
          <p:cNvSpPr/>
          <p:nvPr/>
        </p:nvSpPr>
        <p:spPr>
          <a:xfrm>
            <a:off x="4663440" y="4343400"/>
            <a:ext cx="64008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0" name="Text 7"/>
          <p:cNvSpPr/>
          <p:nvPr/>
        </p:nvSpPr>
        <p:spPr>
          <a:xfrm>
            <a:off x="4800600" y="4389120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L. +31%, SDE +88%, Sur Corto +22%. El crecimiento está concentrado en 3 zonas. Replicar sus métodos a las zonas en declive.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por zona — Ene–May 2026 vs 2025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804672"/>
          <a:ext cx="795528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 / Supervisor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Ene-May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Ene-May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 L. (Piña Bello)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RD$9.7M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RD$12.8M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+31.3%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SDE (Pimentel)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RD$3.1M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RD$5.9M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+88.4%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 Corto (SC)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RD$4.7M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RD$5.7M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+22.2%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SDN (Valenzuela)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RD$4.4M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RD$4.9M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+10.3%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SDO (F. Martínez)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RD$4.8M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RD$4.6M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 -4.1%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 (F. Martínez)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RD$3.9M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RD$3.5M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 -8.8%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Cristiano (Trad.)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RD$1.6M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RD$1.4M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-13.6%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 (Pimentel)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RD$2.5M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A5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RD$1.6M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↘ -38.4%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6" name="Shape 3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Text 4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perdió RD$970K entre 2025 y 2026. Las zonas rojas (BC, DN, SDO, Cristiano) totalizan RD$1.9M menos vs 2025. Hay que diagnosticar causa y activar un plan focal.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canal y tamaño de cliente — 2026 vs 2025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49808"/>
          <a:ext cx="58521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749808"/>
          <a:ext cx="233172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Grande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RD$4386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Mediano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RD$2066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RD$2314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Pequeño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RD$1480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RD$1650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RD$1267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RD$1511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RD$778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RD$1127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RD$536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RD$939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RD$578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RD$1156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Shape 3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8" name="Text 4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size subió en todos los segmentos 2026 vs 2025. El crecimiento de ventas se debe a mayor gasto por cliente activo, no a más clientes — el riesgo es la dependencia en clientes grandes.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— rutas con ventas Colombina vs. total asignados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011680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01168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457200" y="886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~60–88%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289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promedio rutas activas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2011680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9" name="Shape 7"/>
          <p:cNvSpPr/>
          <p:nvPr/>
        </p:nvSpPr>
        <p:spPr>
          <a:xfrm>
            <a:off x="2514600" y="804672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2606040" y="886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rutas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1289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0% penetración Colombina (400–570 clientes c/u)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2011680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3" name="Shape 11"/>
          <p:cNvSpPr/>
          <p:nvPr/>
        </p:nvSpPr>
        <p:spPr>
          <a:xfrm>
            <a:off x="4663440" y="804672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4" name="Text 12"/>
          <p:cNvSpPr/>
          <p:nvPr/>
        </p:nvSpPr>
        <p:spPr>
          <a:xfrm>
            <a:off x="4754880" y="886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~5,200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1289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asignados con 0% Colombina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804672"/>
            <a:ext cx="2011680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7" name="Shape 15"/>
          <p:cNvSpPr/>
          <p:nvPr/>
        </p:nvSpPr>
        <p:spPr>
          <a:xfrm>
            <a:off x="6812280" y="804672"/>
            <a:ext cx="2011680" cy="6400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8" name="Text 16"/>
          <p:cNvSpPr/>
          <p:nvPr/>
        </p:nvSpPr>
        <p:spPr>
          <a:xfrm>
            <a:off x="6903720" y="886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03720" y="1289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efectividad ↔ ventas por ruta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18288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efectividad 2026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 / Zona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Ef.%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 – Sur 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– Sur 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– F.Mtz DN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– F.Mtz DN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– F.Mtz SDO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663440" y="1828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con 0% Colombina 2026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103120"/>
          <a:ext cx="41148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 / Zona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Ef.%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 – Sur 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 – Sur 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 – Sur 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– Sur Corto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– Sur Corto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5" name="Shape 21"/>
          <p:cNvSpPr/>
          <p:nvPr/>
        </p:nvSpPr>
        <p:spPr>
          <a:xfrm>
            <a:off x="365760" y="4645152"/>
            <a:ext cx="640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6" name="Text 22"/>
          <p:cNvSpPr/>
          <p:nvPr/>
        </p:nvSpPr>
        <p:spPr>
          <a:xfrm>
            <a:off x="530352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12 rutas con 0% representan ~5,200 clientes sin ni una sola venta de Colombina. Hay que determinar si es falta de portafolio, capacitación o son rutas nuevas sin historico.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focal — Colombina 2026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02920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429768" y="120700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8961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Detener caída de activaciones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10,324 (ene) a 8,094 (may 2026). Diagnóstico por ruta: ¿clientes perdidos? ¿rutas sin visitar? Meta: recuperar 1,500 activaciones para Q3.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502920" cy="1261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1" name="Text 9"/>
          <p:cNvSpPr/>
          <p:nvPr/>
        </p:nvSpPr>
        <p:spPr>
          <a:xfrm>
            <a:off x="4773168" y="120700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8961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Reactivar BC / SDO / DN / Cristiano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0" y="129844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perdió RD$970K vs 2025. Necesita plan focal. SDO y DN bajan mes a mes. Visita de campo + revisión de portafolio disponible.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502920" cy="12618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429768" y="259689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2860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Capitalizar Grissly Snack antes que caiga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88336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Arrancó en RD$1.2M/mes y ya cayó a RD$749K. Pedir soporte de POP y ejecución al suplidor antes de que el impulso inicial se agote.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212848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0" name="Shape 18"/>
          <p:cNvSpPr/>
          <p:nvPr/>
        </p:nvSpPr>
        <p:spPr>
          <a:xfrm>
            <a:off x="4709160" y="2212848"/>
            <a:ext cx="502920" cy="12618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1" name="Text 19"/>
          <p:cNvSpPr/>
          <p:nvPr/>
        </p:nvSpPr>
        <p:spPr>
          <a:xfrm>
            <a:off x="4773168" y="259689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y expandir Sur L. / SDE / Sur C.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0" y="2688336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zonas crecientes concentran &gt;60% del volumen. Reforzar cobertura, no modificar rutas exitosas. Replicar prácticas a las zonas en declive.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602736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502920" cy="1261872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6" name="Text 24"/>
          <p:cNvSpPr/>
          <p:nvPr/>
        </p:nvSpPr>
        <p:spPr>
          <a:xfrm>
            <a:off x="429768" y="398678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0120" y="36758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12 rutas con 0% penetración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4078224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~5,200 clientes asignados sin venta. ¿Falta portafolio? ¿capacitación? ¿rutas nuevas? Plan de ataque con Colombina para activar estos clientes.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602736"/>
            <a:ext cx="41148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0" name="Shape 28"/>
          <p:cNvSpPr/>
          <p:nvPr/>
        </p:nvSpPr>
        <p:spPr>
          <a:xfrm>
            <a:off x="4709160" y="3602736"/>
            <a:ext cx="502920" cy="1261872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1" name="Text 29"/>
          <p:cNvSpPr/>
          <p:nvPr/>
        </p:nvSpPr>
        <p:spPr>
          <a:xfrm>
            <a:off x="4773168" y="398678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03520" y="36758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drop size B Mediano y C Pequeño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03520" y="4078224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segmentos masivos subieron drop size en 2026, pero tienen la mayor caída en activaciones. Combos y cross-sell para mantener el ticket y recuperar volumen.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90472"/>
            <a:ext cx="320040" cy="320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causa raíz de la caída de activaciones en BC, SDO, DN y Cristiano — visita de campo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756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datos a Colombina: pedir soporte de POP, exhibidores y activaciones para Grissly Snack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07208"/>
            <a:ext cx="320040" cy="320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3405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Acordar metas de efectividad por zona y plan de activación para 12 rutas con 0% penetración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320040" cy="320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4" name="Text 12"/>
          <p:cNvSpPr/>
          <p:nvPr/>
        </p:nvSpPr>
        <p:spPr>
          <a:xfrm>
            <a:off x="457200" y="3465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392424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semanal Jun–Ago: vacaciones escolares — categorías en riesgo son Bolones y Paletas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23944"/>
            <a:ext cx="320040" cy="320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7" name="Text 15"/>
          <p:cNvSpPr/>
          <p:nvPr/>
        </p:nvSpPr>
        <p:spPr>
          <a:xfrm>
            <a:off x="457200" y="4123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507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portafolio Car. Duros, Gomas y Paletas — diagnosticar precio vs competencia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321040" cy="0"/>
          </a:xfrm>
          <a:prstGeom prst="line">
            <a:avLst/>
          </a:prstGeom>
          <a:noFill/>
          <a:ln w="635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  —  Análisis Colombina Ene–May 2026 vs 2025  —  Confidencial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34F3A44-0932-42E8-9957-3CF285090FDF}">
  <we:reference id="wa200010725" version="1.0.0.1" store="es-MX" storeType="OMEX"/>
  <we:alternateReferences>
    <we:reference id="wa200010725" version="1.0.0.1" store="wa200010725" storeType="OMEX"/>
  </we:alternateReferences>
  <we:properties>
    <we:property name="claude.fileId" value="&quot;372e32a2-0af7-4422-ae9f-f3b4963e7a2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1515</Words>
  <Application>Microsoft Office PowerPoint</Application>
  <PresentationFormat>Presentación en pantalla (16:9)</PresentationFormat>
  <Paragraphs>270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Colombina Ene-May 2026 vs 2025</dc:title>
  <dc:subject>PptxGenJS Presentation</dc:subject>
  <dc:creator>AM Comercial</dc:creator>
  <cp:lastModifiedBy>Rudy Mercedes Beltre</cp:lastModifiedBy>
  <cp:revision>1</cp:revision>
  <dcterms:created xsi:type="dcterms:W3CDTF">2026-06-18T18:38:39Z</dcterms:created>
  <dcterms:modified xsi:type="dcterms:W3CDTF">2026-06-18T23:51:24Z</dcterms:modified>
</cp:coreProperties>
</file>