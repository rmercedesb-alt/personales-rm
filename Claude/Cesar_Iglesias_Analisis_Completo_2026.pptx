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6002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Georgia"/>
              </a:rPr>
              <a:t>Cesar Iglesias (Unilever)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2316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C9D4EE"/>
                </a:solidFill>
                <a:latin typeface="Calibri"/>
              </a:rPr>
              <a:t>Análisis completo: prevendido, facturado, devoluciones, eliminados y repetición de pedidos
Enero a Septiembre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3949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AA6D6"/>
                </a:solidFill>
                <a:latin typeface="Calibri"/>
              </a:rPr>
              <a:t>AM Comercial  ·  Fuentes: VwPedidosResumen2026 + VWVentasResumen2026 + PedidosDetallesEliminados_RM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Georgia"/>
              </a:rPr>
              <a:t>Qué se está midiendo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0B0B0B"/>
                </a:solidFill>
                <a:latin typeface="Calibri"/>
              </a:rPr>
              <a:t>•  Prevendido / Facturado / No Facturado: de la vista VwPedidosResumen2026, que a diferencia del informe anterior SÍ cubre todo el año (Ene-Sep). No Facturado = Prevendido - Facturado (roturas de inventario al momento de facturar).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0B0B0B"/>
                </a:solidFill>
                <a:latin typeface="Calibri"/>
              </a:rPr>
              <a:t>•  Devuelto Sin Inventario: de VWVentasResumen2026, ventas ya facturadas que el cliente devolvió por "PROD. FACTURADO SIN EXISTENCIA FISICA EN ALMACEN".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0B0B0B"/>
                </a:solidFill>
                <a:latin typeface="Calibri"/>
              </a:rPr>
              <a:t>•  Eliminado de Pedidos: de PedidosDetallesEliminados_RM, líneas quitadas del pedido antes de facturar. Se suma como si fuera devolución (mismo criterio del análisis anterior). Solo tiene datos desde el 17-sep-2026.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0B0B0B"/>
                </a:solidFill>
                <a:latin typeface="Calibri"/>
              </a:rPr>
              <a:t>•  Incidencia Total = No Facturado + Devuelto Sin Inventario + Eliminado de Pedidos — el total de lo que este suplidor prevendió pero, por una causa u otra ligada a inventario, no se convirtió en venta neta real.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0B0B0B"/>
                </a:solidFill>
                <a:latin typeface="Calibri"/>
              </a:rPr>
              <a:t>•  Repetición de pedidos: por cada cliente+producto con un problema (no facturado o devuelto sin inventario) en un mes, se cuenta cuántos pedidos DISTINTOS tuvo ese mismo cliente+producto ese mes. "Regenerado" = 2 o más pedidos — es decir, el vendedor o el cliente volvió a intentar la compra tras el primer fallo.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Georgia"/>
              </a:rPr>
              <a:t>Resumen ejecutivo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2697480" cy="1417320"/>
          </a:xfrm>
          <a:prstGeom prst="roundRect">
            <a:avLst/>
          </a:prstGeom>
          <a:solidFill>
            <a:srgbClr val="F2F4FB"/>
          </a:solidFill>
          <a:ln w="9525">
            <a:solidFill>
              <a:srgbClr val="E0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24231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1F3864"/>
                </a:solidFill>
                <a:latin typeface="Georgia"/>
              </a:rPr>
              <a:t>RD$ 77.6M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65960"/>
            <a:ext cx="2423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2514E"/>
                </a:solidFill>
                <a:latin typeface="Calibri"/>
              </a:rPr>
              <a:t>Prevendido total
(Ene-Sep)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10712" y="1234440"/>
            <a:ext cx="2697480" cy="1417320"/>
          </a:xfrm>
          <a:prstGeom prst="roundRect">
            <a:avLst/>
          </a:prstGeom>
          <a:solidFill>
            <a:srgbClr val="F2F4FB"/>
          </a:solidFill>
          <a:ln w="9525">
            <a:solidFill>
              <a:srgbClr val="E0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47872" y="1463040"/>
            <a:ext cx="24231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2A78D6"/>
                </a:solidFill>
                <a:latin typeface="Georgia"/>
              </a:rPr>
              <a:t>RD$ 6.4M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1965960"/>
            <a:ext cx="2423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2514E"/>
                </a:solidFill>
                <a:latin typeface="Calibri"/>
              </a:rPr>
              <a:t>No Facturado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234440"/>
            <a:ext cx="2697480" cy="1417320"/>
          </a:xfrm>
          <a:prstGeom prst="roundRect">
            <a:avLst/>
          </a:prstGeom>
          <a:solidFill>
            <a:srgbClr val="F2F4FB"/>
          </a:solidFill>
          <a:ln w="9525">
            <a:solidFill>
              <a:srgbClr val="E0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9944" y="1463040"/>
            <a:ext cx="24231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EB6834"/>
                </a:solidFill>
                <a:latin typeface="Georgia"/>
              </a:rPr>
              <a:t>RD$ 10.9M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9944" y="1965960"/>
            <a:ext cx="2423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2514E"/>
                </a:solidFill>
                <a:latin typeface="Calibri"/>
              </a:rPr>
              <a:t>Incidencia Total
(No Fact.+Dev.+Elim.)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34856" y="1234440"/>
            <a:ext cx="2697480" cy="1417320"/>
          </a:xfrm>
          <a:prstGeom prst="roundRect">
            <a:avLst/>
          </a:prstGeom>
          <a:solidFill>
            <a:srgbClr val="F2F4FB"/>
          </a:solidFill>
          <a:ln w="9525">
            <a:solidFill>
              <a:srgbClr val="E0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72016" y="1463040"/>
            <a:ext cx="24231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2A78D6"/>
                </a:solidFill>
                <a:latin typeface="Georgia"/>
              </a:rPr>
              <a:t>14.0%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72016" y="1965960"/>
            <a:ext cx="2423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2514E"/>
                </a:solidFill>
                <a:latin typeface="Calibri"/>
              </a:rPr>
              <a:t>Incidencia vs.
Prevendido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880360"/>
            <a:ext cx="3520440" cy="1280160"/>
          </a:xfrm>
          <a:prstGeom prst="roundRect">
            <a:avLst/>
          </a:prstGeom>
          <a:solidFill>
            <a:srgbClr val="F2F4FB"/>
          </a:solidFill>
          <a:ln w="9525">
            <a:solidFill>
              <a:srgbClr val="E0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108960"/>
            <a:ext cx="3246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1F3864"/>
                </a:solidFill>
                <a:latin typeface="Georgia"/>
              </a:rPr>
              <a:t>3,105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474720"/>
            <a:ext cx="3246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2514E"/>
                </a:solidFill>
                <a:latin typeface="Calibri"/>
              </a:rPr>
              <a:t>Combinaciones cliente-
producto con problema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33672" y="2880360"/>
            <a:ext cx="3520440" cy="1280160"/>
          </a:xfrm>
          <a:prstGeom prst="roundRect">
            <a:avLst/>
          </a:prstGeom>
          <a:solidFill>
            <a:srgbClr val="F2F4FB"/>
          </a:solidFill>
          <a:ln w="9525">
            <a:solidFill>
              <a:srgbClr val="E0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0832" y="3108960"/>
            <a:ext cx="3246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1BAF7A"/>
                </a:solidFill>
                <a:latin typeface="Georgia"/>
              </a:rPr>
              <a:t>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3474720"/>
            <a:ext cx="3246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2514E"/>
                </a:solidFill>
                <a:latin typeface="Calibri"/>
              </a:rPr>
              <a:t>Se regeneraron
(2+ pedidos)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18704" y="2880360"/>
            <a:ext cx="3520440" cy="1280160"/>
          </a:xfrm>
          <a:prstGeom prst="roundRect">
            <a:avLst/>
          </a:prstGeom>
          <a:solidFill>
            <a:srgbClr val="F2F4FB"/>
          </a:solidFill>
          <a:ln w="9525">
            <a:solidFill>
              <a:srgbClr val="E0E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55864" y="3108960"/>
            <a:ext cx="3246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1BAF7A"/>
                </a:solidFill>
                <a:latin typeface="Georgia"/>
              </a:rPr>
              <a:t>16.1%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55864" y="3474720"/>
            <a:ext cx="3246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2514E"/>
                </a:solidFill>
                <a:latin typeface="Calibri"/>
              </a:rPr>
              <a:t>% que se
vuelve a intentar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Georgia"/>
              </a:rPr>
              <a:t>Hallazgos principales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892040"/>
            <a:ext cx="108813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•  De cada RD$100 prevendidos de Cesar Iglesias, cerca de RD$14 terminan en no-facturado, devolución por falta de inventario, o eliminación del pedido — 14.0% en 9 meses.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B0B0B"/>
                </a:solidFill>
                <a:latin typeface="Calibri"/>
              </a:rPr>
              <a:t>•  16.1% de los casos problema se vuelven a pedir en el mismo mes — el cliente/vendedor no se rinde, pero eso implica trabajo duplicado de digitación y visita sin garantía de que la 2da vez sí se facture.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F3864"/>
                </a:solidFill>
                <a:latin typeface="Georgia"/>
              </a:rPr>
              <a:t>Prevendido vs. Facturado por 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52514E"/>
                </a:solidFill>
                <a:latin typeface="Calibri"/>
              </a:rPr>
              <a:t>Todo el año, vista VwPedidosResumen2026 — Estatus Facturado y Enviado al ERP</a:t>
            </a:r>
          </a:p>
        </p:txBody>
      </p:sp>
      <p:pic>
        <p:nvPicPr>
          <p:cNvPr id="4" name="Picture 3" descr="01_prevendido_vs_factur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91" y="1417320"/>
            <a:ext cx="10915737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F3864"/>
                </a:solidFill>
                <a:latin typeface="Georgia"/>
              </a:rPr>
              <a:t>Incidencia total desglosada por causa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52514E"/>
                </a:solidFill>
                <a:latin typeface="Calibri"/>
              </a:rPr>
              <a:t>No Facturado + Devuelto Sin Inventario + Eliminado de Pedidos (RD$) — Septiembre incluye eliminados solo desde el 17-sep</a:t>
            </a:r>
          </a:p>
        </p:txBody>
      </p:sp>
      <p:pic>
        <p:nvPicPr>
          <p:cNvPr id="4" name="Picture 3" descr="02_incidencia_desglos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28366"/>
            <a:ext cx="11064240" cy="50985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F3864"/>
                </a:solidFill>
                <a:latin typeface="Georgia"/>
              </a:rPr>
              <a:t>% de incidencia sobre lo prevendido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52514E"/>
                </a:solidFill>
                <a:latin typeface="Calibri"/>
              </a:rPr>
              <a:t>Incidencia Total como % de lo prevendido cada mes</a:t>
            </a:r>
          </a:p>
        </p:txBody>
      </p:sp>
      <p:pic>
        <p:nvPicPr>
          <p:cNvPr id="4" name="Picture 3" descr="03_pct_incid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24098"/>
            <a:ext cx="11064240" cy="51070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Georgia"/>
              </a:rPr>
              <a:t>Detalle mensual completo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005840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508760"/>
                <a:gridCol w="1508760"/>
                <a:gridCol w="1371600"/>
                <a:gridCol w="1417320"/>
                <a:gridCol w="1371600"/>
                <a:gridCol w="1463040"/>
                <a:gridCol w="1325880"/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Mes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Prevendido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Facturado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No Fact.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Dev. S/Inv.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Eliminado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Incidencia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% vs Prev.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</a:rPr>
                        <a:t>Enero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10,560,545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9,788,920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771,624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338,821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1,110,446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10.5%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</a:rPr>
                        <a:t>Febrero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6,959,882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6,496,993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462,889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192,767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655,656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</a:rPr>
                        <a:t>Marzo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10,133,638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9,198,486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935,152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135,416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1,070,568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10.6%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</a:rPr>
                        <a:t>Abril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8,080,190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7,129,222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950,967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113,190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1,064,158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13.2%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</a:rPr>
                        <a:t>Mayo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9,056,349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8,259,505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796,844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535,418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1,332,262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14.7%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</a:rPr>
                        <a:t>Junio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8,279,283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7,718,685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560,598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174,050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734,648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</a:rPr>
                        <a:t>Julio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10,742,531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9,695,439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1,047,092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553,789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1,600,881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14.9%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</a:rPr>
                        <a:t>Agosto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8,774,477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8,125,229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649,249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488,695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1,137,943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13.0%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</a:rPr>
                        <a:t>Septiembre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5,059,277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4,827,004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232,274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606,354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1,361,697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2,200,324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43.5%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F3864"/>
                </a:solidFill>
                <a:latin typeface="Georgia"/>
              </a:rPr>
              <a:t>¿Se vuelven a pedir los productos perdidos?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52514E"/>
                </a:solidFill>
                <a:latin typeface="Calibri"/>
              </a:rPr>
              <a:t>% de combinaciones cliente-producto con problema que tuvieron 2 o más pedidos distintos en el mismo mes</a:t>
            </a:r>
          </a:p>
        </p:txBody>
      </p:sp>
      <p:pic>
        <p:nvPicPr>
          <p:cNvPr id="4" name="Picture 3" descr="04_pct_regener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65" y="1417320"/>
            <a:ext cx="1097939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F3864"/>
                </a:solidFill>
                <a:latin typeface="Georgia"/>
              </a:rPr>
              <a:t>Resumen general mes a mes — repetición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51206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280160"/>
                <a:gridCol w="1371600"/>
                <a:gridCol w="1005840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Mes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Con Problema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Regenerados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% Regenerado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B0B0B"/>
                          </a:solidFill>
                        </a:rPr>
                        <a:t>Enero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</a:rPr>
                        <a:t>451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</a:rPr>
                        <a:t>94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</a:rPr>
                        <a:t>20.8%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B0B0B"/>
                          </a:solidFill>
                        </a:rPr>
                        <a:t>Febrero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</a:rPr>
                        <a:t>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</a:rPr>
                        <a:t>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B0B0B"/>
                          </a:solidFill>
                        </a:rPr>
                        <a:t>Marzo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</a:rPr>
                        <a:t>352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</a:rPr>
                        <a:t>2.0%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B0B0B"/>
                          </a:solidFill>
                        </a:rPr>
                        <a:t>Abril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</a:rPr>
                        <a:t>364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</a:rPr>
                        <a:t>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B0B0B"/>
                          </a:solidFill>
                        </a:rPr>
                        <a:t>Mayo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</a:rPr>
                        <a:t>423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</a:rPr>
                        <a:t>87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</a:rPr>
                        <a:t>20.6%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B0B0B"/>
                          </a:solidFill>
                        </a:rPr>
                        <a:t>Junio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</a:rPr>
                        <a:t>281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</a:rPr>
                        <a:t>10.3%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B0B0B"/>
                          </a:solidFill>
                        </a:rPr>
                        <a:t>Julio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</a:rPr>
                        <a:t>497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</a:rPr>
                        <a:t>155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</a:rPr>
                        <a:t>31.2%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B0B0B"/>
                          </a:solidFill>
                        </a:rPr>
                        <a:t>Agosto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</a:rPr>
                        <a:t>296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</a:rPr>
                        <a:t>13.2%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B0B0B"/>
                          </a:solidFill>
                        </a:rPr>
                        <a:t>Septiembre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</a:rPr>
                        <a:t>231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0B0B0B"/>
                          </a:solidFill>
                        </a:rPr>
                        <a:t>22.1%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1005840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Georgia"/>
              </a:rPr>
              <a:t>Top clientes que más re-piden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0" y="1508760"/>
          <a:ext cx="57607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554480"/>
              </a:tblGrid>
              <a:tr h="40640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Cliente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Productos Regenerados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</a:rPr>
                        <a:t>Grupo Fortiz Srl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74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</a:rPr>
                        <a:t>Centro Comercial El Detallista 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</a:rPr>
                        <a:t>Tienda Comercial LA CLAVE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</a:rPr>
                        <a:t>Super Mercado  Ana Isabel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</a:rPr>
                        <a:t>Supermercado INES 2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</a:rPr>
                        <a:t>TIENDA LA GRAN MARAVILLA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</a:rPr>
                        <a:t>SUPER CADENA OCOA SRL.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7F8FC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0B0B"/>
                          </a:solidFill>
                        </a:rPr>
                        <a:t>Super Mercado Hasan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B0B0B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Conclusiones e impacto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550">
                <a:solidFill>
                  <a:srgbClr val="EAEDF9"/>
                </a:solidFill>
                <a:latin typeface="Calibri"/>
              </a:rPr>
              <a:t>•  En 9 meses, Cesar Iglesias/Unilever dejó de convertirse en venta neta real RD$10.9M de los RD$77.6M prevendidos (14.0%) — julio y mayo son los peores meses "normales" (14.9% y 14.7%), y septiembre se dispara por la acumulación de eliminados recientes.</a:t>
            </a:r>
          </a:p>
          <a:p>
            <a:pPr>
              <a:spcAft>
                <a:spcPts val="1600"/>
              </a:spcAft>
            </a:pPr>
            <a:r>
              <a:rPr sz="1550">
                <a:solidFill>
                  <a:srgbClr val="EAEDF9"/>
                </a:solidFill>
                <a:latin typeface="Calibri"/>
              </a:rPr>
              <a:t>•  16.1% de los casos con problema se vuelven a pedir el mismo mes — esto confirma que la demanda del cliente sigue ahí (no se pierde la venta potencial), pero el reintento no siempre logra facturarse, y cada reintento cuesta tiempo de vendedor y del sistema sin garantía de éxito.</a:t>
            </a:r>
          </a:p>
          <a:p>
            <a:pPr>
              <a:spcAft>
                <a:spcPts val="1600"/>
              </a:spcAft>
            </a:pPr>
            <a:r>
              <a:rPr sz="1550">
                <a:solidFill>
                  <a:srgbClr val="EAEDF9"/>
                </a:solidFill>
                <a:latin typeface="Calibri"/>
              </a:rPr>
              <a:t>•  Un grupo reducido de clientes (Grupo Fortiz, El Detallista, La Clave, Ana Isabel, entre otros) concentra la mayoría de los productos que se vuelven a pedir — son los clientes donde una mejora de abasto de Unilever tendría el impacto más inmediato y visible.</a:t>
            </a:r>
          </a:p>
          <a:p>
            <a:pPr>
              <a:spcAft>
                <a:spcPts val="1600"/>
              </a:spcAft>
            </a:pPr>
            <a:r>
              <a:rPr sz="1550">
                <a:solidFill>
                  <a:srgbClr val="EAEDF9"/>
                </a:solidFill>
                <a:latin typeface="Calibri"/>
              </a:rPr>
              <a:t>•  Recomendación: dado que el problema es de abasto/inventario (no de demanda), la palanca de mejora está del lado del suplidor/almacén, no del equipo comercial — vale la pena llevar estas cifras directamente a la negociación con Cesar Iglesias/Unilever como evidencia cuantificada del costo de sus roturas de stock.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